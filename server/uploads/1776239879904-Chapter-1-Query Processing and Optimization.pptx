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56" r:id="rId3"/>
    <p:sldId id="363" r:id="rId4"/>
    <p:sldId id="364" r:id="rId5"/>
    <p:sldId id="365" r:id="rId6"/>
    <p:sldId id="366" r:id="rId7"/>
    <p:sldId id="357" r:id="rId8"/>
    <p:sldId id="358" r:id="rId9"/>
    <p:sldId id="359" r:id="rId10"/>
    <p:sldId id="360" r:id="rId11"/>
    <p:sldId id="361" r:id="rId12"/>
    <p:sldId id="362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389" r:id="rId33"/>
    <p:sldId id="390" r:id="rId34"/>
    <p:sldId id="391" r:id="rId35"/>
    <p:sldId id="392" r:id="rId36"/>
    <p:sldId id="393" r:id="rId37"/>
    <p:sldId id="394" r:id="rId38"/>
    <p:sldId id="399" r:id="rId39"/>
    <p:sldId id="395" r:id="rId40"/>
    <p:sldId id="30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33CCFF"/>
    <a:srgbClr val="0099CC"/>
    <a:srgbClr val="62FE80"/>
    <a:srgbClr val="97C9A6"/>
    <a:srgbClr val="75E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19" autoAdjust="0"/>
    <p:restoredTop sz="95928" autoAdjust="0"/>
  </p:normalViewPr>
  <p:slideViewPr>
    <p:cSldViewPr snapToGrid="0">
      <p:cViewPr varScale="1">
        <p:scale>
          <a:sx n="75" d="100"/>
          <a:sy n="75" d="100"/>
        </p:scale>
        <p:origin x="7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FF468-C44E-3F49-9945-1ADBF9F213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61724-19A4-D140-91C4-2CD686084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CCA0E-6F1F-4EEE-8BB6-A7581DDC4D56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39659-4191-431B-8A08-66C58FDA4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70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4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3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9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1064246"/>
          </a:xfrm>
          <a:solidFill>
            <a:srgbClr val="00B0F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462351"/>
            <a:ext cx="10515600" cy="797684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rgbClr val="00B0F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rgbClr val="00B0F0"/>
          </a:solidFill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708C52F-886E-4D6E-900C-373A77358025}" type="datetime1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3358" y="6356350"/>
            <a:ext cx="6904379" cy="365125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Query Processing and Optimization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00B0F0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53930811-34CB-47CF-8264-0DC5C660161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47" y="3422477"/>
            <a:ext cx="1285714" cy="923810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3261817" y="4573309"/>
            <a:ext cx="6013174" cy="127045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Sirage Z.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Department of Computer Science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Debre Berhan University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179570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463550" indent="-463550">
              <a:buClr>
                <a:srgbClr val="00B0F0"/>
              </a:buClr>
              <a:buFont typeface="Wingdings" panose="05000000000000000000" pitchFamily="2" charset="2"/>
              <a:buChar char="Ø"/>
              <a:defRPr sz="3200"/>
            </a:lvl1pPr>
            <a:lvl2pPr marL="795338" indent="-338138">
              <a:buClr>
                <a:srgbClr val="00B0F0"/>
              </a:buClr>
              <a:buFont typeface="Wingdings" panose="05000000000000000000" pitchFamily="2" charset="2"/>
              <a:buChar char="ü"/>
              <a:defRPr sz="2800"/>
            </a:lvl2pPr>
            <a:lvl3pPr marL="1258888" indent="-344488">
              <a:buClr>
                <a:srgbClr val="00B0F0"/>
              </a:buClr>
              <a:buFont typeface="Calibri" panose="020F0502020204030204" pitchFamily="34" charset="0"/>
              <a:buChar char="&gt;"/>
              <a:defRPr sz="2400"/>
            </a:lvl3pPr>
            <a:lvl4pPr marL="1484313" indent="-219075">
              <a:buClr>
                <a:srgbClr val="00B0F0"/>
              </a:buClr>
              <a:buFont typeface="Wingdings" panose="05000000000000000000" pitchFamily="2" charset="2"/>
              <a:buChar char="§"/>
              <a:defRPr sz="2000"/>
            </a:lvl4pPr>
            <a:lvl5pPr marL="1709738" indent="-173038">
              <a:buClr>
                <a:srgbClr val="00B0F0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7A54B-E7CB-4082-BF7E-33E93537DC1E}" type="datetime1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6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03346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9920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96C1-1FD6-4485-B2E5-6CCE6112198F}" type="datetime1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1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01022"/>
            <a:ext cx="5181600" cy="5175941"/>
          </a:xfrm>
        </p:spPr>
        <p:txBody>
          <a:bodyPr>
            <a:normAutofit/>
          </a:bodyPr>
          <a:lstStyle>
            <a:lvl1pPr marL="457200" indent="-4572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800100" indent="-342900">
              <a:buClr>
                <a:srgbClr val="0099CC"/>
              </a:buClr>
              <a:buFont typeface="Wingdings" panose="05000000000000000000" pitchFamily="2" charset="2"/>
              <a:buChar char="ü"/>
              <a:defRPr sz="2800"/>
            </a:lvl2pPr>
            <a:lvl3pPr marL="1257300" indent="-342900">
              <a:buClr>
                <a:srgbClr val="0099CC"/>
              </a:buClr>
              <a:buFont typeface="Calibri" panose="020F0502020204030204" pitchFamily="34" charset="0"/>
              <a:buChar char="&gt;"/>
              <a:defRPr sz="2400"/>
            </a:lvl3pPr>
            <a:lvl4pPr marL="1657350" indent="-285750">
              <a:buClr>
                <a:srgbClr val="0099CC"/>
              </a:buClr>
              <a:buFont typeface="Wingdings" panose="05000000000000000000" pitchFamily="2" charset="2"/>
              <a:buChar char="§"/>
              <a:defRPr sz="2000"/>
            </a:lvl4pPr>
            <a:lvl5pPr marL="2114550" indent="-285750">
              <a:buClr>
                <a:srgbClr val="0099CC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01023"/>
            <a:ext cx="5181600" cy="4034804"/>
          </a:xfrm>
        </p:spPr>
        <p:txBody>
          <a:bodyPr>
            <a:normAutofit/>
          </a:bodyPr>
          <a:lstStyle>
            <a:lvl1pPr marL="2286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4C08B-CDA6-4B5B-AB0C-F9BEB8174889}" type="datetime1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6172200" y="5215214"/>
            <a:ext cx="5181600" cy="808384"/>
          </a:xfrm>
        </p:spPr>
        <p:txBody>
          <a:bodyPr>
            <a:normAutofit/>
          </a:bodyPr>
          <a:lstStyle>
            <a:lvl1pPr marL="0" indent="0">
              <a:buClr>
                <a:srgbClr val="0099CC"/>
              </a:buClr>
              <a:buFont typeface="Wingdings" panose="05000000000000000000" pitchFamily="2" charset="2"/>
              <a:buNone/>
              <a:defRPr sz="2400" i="1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914400" indent="0">
              <a:buClr>
                <a:srgbClr val="0099CC"/>
              </a:buClr>
              <a:buFont typeface="Wingdings" panose="05000000000000000000" pitchFamily="2" charset="2"/>
              <a:buNone/>
              <a:defRPr sz="2400"/>
            </a:lvl3pPr>
            <a:lvl4pPr marL="1371600" indent="0">
              <a:buClr>
                <a:srgbClr val="0099CC"/>
              </a:buClr>
              <a:buFont typeface="Wingdings" panose="05000000000000000000" pitchFamily="2" charset="2"/>
              <a:buNone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9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234056"/>
            <a:ext cx="11463129" cy="6670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007582"/>
            <a:ext cx="5157787" cy="5520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666050"/>
            <a:ext cx="5157787" cy="4523613"/>
          </a:xfrm>
        </p:spPr>
        <p:txBody>
          <a:bodyPr>
            <a:normAutofit/>
          </a:bodyPr>
          <a:lstStyle>
            <a:lvl1pPr marL="2286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07582"/>
            <a:ext cx="5183188" cy="5520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66050"/>
            <a:ext cx="5183188" cy="4523613"/>
          </a:xfrm>
        </p:spPr>
        <p:txBody>
          <a:bodyPr>
            <a:normAutofit/>
          </a:bodyPr>
          <a:lstStyle>
            <a:lvl1pPr marL="2286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99CC"/>
              </a:buClr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E365-D5B1-473E-BB44-0845F0CD4232}" type="datetime1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95DF-4E6F-4082-A594-0496A9E1F955}" type="datetime1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4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576A-50A3-4BAA-9238-B90C55D92466}" type="datetime1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7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77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2817" y="457201"/>
            <a:ext cx="6372571" cy="5403850"/>
          </a:xfrm>
        </p:spPr>
        <p:txBody>
          <a:bodyPr/>
          <a:lstStyle>
            <a:lvl1pPr marL="2286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3200"/>
            </a:lvl1pPr>
            <a:lvl2pPr marL="6858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800"/>
            </a:lvl2pPr>
            <a:lvl3pPr marL="11430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400"/>
            </a:lvl3pPr>
            <a:lvl4pPr marL="16002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000"/>
            </a:lvl4pPr>
            <a:lvl5pPr marL="2057400" indent="-228600">
              <a:buClr>
                <a:srgbClr val="00B0F0"/>
              </a:buClr>
              <a:buFont typeface="Wingdings" panose="05000000000000000000" pitchFamily="2" charset="2"/>
              <a:buChar char="Ø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70991"/>
            <a:ext cx="3932237" cy="43979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2324-CE71-4EA1-8993-318653ECD4D6}" type="datetime1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4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274638"/>
            <a:ext cx="11463129" cy="70899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16557" y="1126435"/>
            <a:ext cx="6438831" cy="49695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126435"/>
            <a:ext cx="3932237" cy="49695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6246-6789-411A-9A3E-BE2ED1495005}" type="datetime1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4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1pPr>
            <a:lvl2pPr marL="6858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2pPr>
            <a:lvl3pPr marL="11430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3pPr>
            <a:lvl4pPr marL="16002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C709-C399-47A5-A88F-0D4C20B8129A}" type="datetime1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10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 marL="2286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1pPr>
            <a:lvl2pPr marL="6858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2pPr>
            <a:lvl3pPr marL="11430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3pPr>
            <a:lvl4pPr marL="16002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00B0F0"/>
              </a:buClr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FF853-A6EB-4830-A73B-A29C16832066}" type="datetime1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30811-34CB-47CF-8264-0DC5C660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52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FAB2-C0AB-488B-B426-2BAB293894A4}" type="datetime1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3352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fld id="{6128C053-6191-426C-99D9-C357614ACB78}" type="datetime1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Query Processing and Optimization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53930811-34CB-47CF-8264-0DC5C66016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6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Clr>
          <a:srgbClr val="33CCFF"/>
        </a:buClr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Calibri" panose="020F0502020204030204" pitchFamily="34" charset="0"/>
        <a:buChar char="&gt;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3CC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1252" y="418979"/>
            <a:ext cx="10515600" cy="1064246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Systems</a:t>
            </a:r>
            <a:endParaRPr lang="en-US" sz="199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A08961E-036D-4B85-A51D-47E924C187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7200" dirty="0">
                <a:solidFill>
                  <a:srgbClr val="0000FF"/>
                </a:solidFill>
              </a:rPr>
              <a:t>Chapter </a:t>
            </a:r>
            <a:r>
              <a:rPr lang="en-US" sz="7200" dirty="0" smtClean="0">
                <a:solidFill>
                  <a:srgbClr val="0000FF"/>
                </a:solidFill>
              </a:rPr>
              <a:t>1 </a:t>
            </a:r>
            <a:r>
              <a:rPr lang="en-US" sz="7200" dirty="0">
                <a:solidFill>
                  <a:srgbClr val="0000FF"/>
                </a:solidFill>
              </a:rPr>
              <a:t>Query Processing and Optimization</a:t>
            </a:r>
          </a:p>
          <a:p>
            <a:endParaRPr lang="en-US" sz="7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81445-0A29-A165-6698-4DCD6BA4B837}"/>
              </a:ext>
            </a:extLst>
          </p:cNvPr>
          <p:cNvSpPr txBox="1"/>
          <p:nvPr/>
        </p:nvSpPr>
        <p:spPr>
          <a:xfrm>
            <a:off x="6192456" y="50928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ET" dirty="0"/>
          </a:p>
        </p:txBody>
      </p:sp>
    </p:spTree>
    <p:extLst>
      <p:ext uri="{BB962C8B-B14F-4D97-AF65-F5344CB8AC3E}">
        <p14:creationId xmlns:p14="http://schemas.microsoft.com/office/powerpoint/2010/main" val="374193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02677"/>
          </a:xfrm>
        </p:spPr>
        <p:txBody>
          <a:bodyPr/>
          <a:lstStyle/>
          <a:p>
            <a:pPr>
              <a:defRPr/>
            </a:pPr>
            <a:r>
              <a:rPr lang="en-US" b="1" dirty="0"/>
              <a:t>Query Processing </a:t>
            </a:r>
            <a:endParaRPr lang="en-US" dirty="0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1139483" y="1209823"/>
            <a:ext cx="10818055" cy="509250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Query</a:t>
            </a:r>
            <a:r>
              <a:rPr lang="en-US" dirty="0"/>
              <a:t> is a request for data or information from a database table.</a:t>
            </a:r>
          </a:p>
          <a:p>
            <a:r>
              <a:rPr lang="en-US" dirty="0">
                <a:solidFill>
                  <a:srgbClr val="FF0000"/>
                </a:solidFill>
              </a:rPr>
              <a:t>QP</a:t>
            </a:r>
            <a:r>
              <a:rPr lang="en-US" dirty="0"/>
              <a:t> Is find information in one or more databases and deliver it to the user quickly and efficiently.</a:t>
            </a:r>
          </a:p>
          <a:p>
            <a:r>
              <a:rPr lang="en-US"/>
              <a:t>Databases </a:t>
            </a:r>
            <a:r>
              <a:rPr lang="en-US" dirty="0"/>
              <a:t>containing more complex and diverse types of data demand new </a:t>
            </a:r>
            <a:r>
              <a:rPr lang="en-US" b="1" dirty="0"/>
              <a:t>query processing and optimization techniques</a:t>
            </a:r>
            <a:r>
              <a:rPr lang="en-US" dirty="0"/>
              <a:t>.  </a:t>
            </a:r>
          </a:p>
          <a:p>
            <a:r>
              <a:rPr lang="en-US" dirty="0"/>
              <a:t>Query Processing can be divided into four main phases: </a:t>
            </a:r>
          </a:p>
          <a:p>
            <a:pPr lvl="4"/>
            <a:r>
              <a:rPr lang="en-US" sz="2400" dirty="0"/>
              <a:t>Decomposition:  </a:t>
            </a:r>
          </a:p>
          <a:p>
            <a:pPr lvl="4"/>
            <a:r>
              <a:rPr lang="en-US" sz="2400" dirty="0"/>
              <a:t>Optimization </a:t>
            </a:r>
          </a:p>
          <a:p>
            <a:pPr lvl="4"/>
            <a:r>
              <a:rPr lang="en-US" sz="2400" dirty="0"/>
              <a:t>Code generation, and </a:t>
            </a:r>
          </a:p>
          <a:p>
            <a:pPr lvl="4"/>
            <a:r>
              <a:rPr lang="en-US" sz="2400" dirty="0"/>
              <a:t>Execution </a:t>
            </a:r>
          </a:p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DAC54E0D-2C3E-4D64-A13E-2C7578BB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4BF6E6B-D49F-4CA3-A2B6-D2EB4913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2FCF4E-C1FE-44DE-9AB5-27572183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2841-7298-4CD6-A31A-08100374DDD6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7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5" y="152400"/>
            <a:ext cx="11769969" cy="838200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 </a:t>
            </a:r>
            <a:r>
              <a:rPr lang="en-US" sz="3600" dirty="0"/>
              <a:t>Query Processing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1015" y="1143000"/>
            <a:ext cx="11437034" cy="5562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Parser and Translator</a:t>
            </a:r>
            <a:r>
              <a:rPr lang="en-US" sz="2400" dirty="0"/>
              <a:t>:-check correct query </a:t>
            </a:r>
            <a:r>
              <a:rPr lang="en-US" sz="2400" i="1" dirty="0"/>
              <a:t>syntax</a:t>
            </a:r>
            <a:r>
              <a:rPr lang="en-US" sz="2400" dirty="0"/>
              <a:t> and </a:t>
            </a:r>
            <a:r>
              <a:rPr lang="en-US" sz="2400" i="1" dirty="0"/>
              <a:t>Schema elements</a:t>
            </a:r>
            <a:r>
              <a:rPr lang="en-US" i="1" dirty="0"/>
              <a:t>.</a:t>
            </a:r>
          </a:p>
          <a:p>
            <a:pPr lvl="1">
              <a:defRPr/>
            </a:pPr>
            <a:r>
              <a:rPr lang="en-US" sz="1700" b="1" i="1" dirty="0" err="1"/>
              <a:t>Eg</a:t>
            </a:r>
            <a:r>
              <a:rPr lang="en-US" sz="1700" i="1" dirty="0"/>
              <a:t>. SELECT </a:t>
            </a:r>
            <a:r>
              <a:rPr lang="en-US" sz="1700" i="1" dirty="0" err="1"/>
              <a:t>empName</a:t>
            </a:r>
            <a:r>
              <a:rPr lang="en-US" sz="1700" i="1" dirty="0"/>
              <a:t> from employee having name=‘”</a:t>
            </a:r>
            <a:r>
              <a:rPr lang="en-US" sz="1700" i="1" dirty="0" err="1"/>
              <a:t>abc</a:t>
            </a:r>
            <a:r>
              <a:rPr lang="en-US" sz="1700" i="1" dirty="0"/>
              <a:t>”</a:t>
            </a:r>
            <a:endParaRPr lang="en-US" sz="1700" dirty="0"/>
          </a:p>
          <a:p>
            <a:pPr lvl="2">
              <a:defRPr/>
            </a:pPr>
            <a:r>
              <a:rPr lang="en-US" dirty="0"/>
              <a:t>Having is invalid(where is correct )</a:t>
            </a:r>
            <a:r>
              <a:rPr lang="en-US" dirty="0">
                <a:sym typeface="Wingdings" panose="05000000000000000000" pitchFamily="2" charset="2"/>
              </a:rPr>
              <a:t>syntax error</a:t>
            </a:r>
          </a:p>
          <a:p>
            <a:pPr lvl="1">
              <a:defRPr/>
            </a:pPr>
            <a:r>
              <a:rPr lang="en-US" dirty="0">
                <a:sym typeface="Wingdings" panose="05000000000000000000" pitchFamily="2" charset="2"/>
              </a:rPr>
              <a:t>Assume </a:t>
            </a:r>
            <a:r>
              <a:rPr lang="en-US" dirty="0" err="1">
                <a:sym typeface="Wingdings" panose="05000000000000000000" pitchFamily="2" charset="2"/>
              </a:rPr>
              <a:t>emp.gmail</a:t>
            </a:r>
            <a:r>
              <a:rPr lang="en-US" dirty="0">
                <a:sym typeface="Wingdings" panose="05000000000000000000" pitchFamily="2" charset="2"/>
              </a:rPr>
              <a:t> is not available in the table; </a:t>
            </a:r>
          </a:p>
          <a:p>
            <a:pPr lvl="2">
              <a:defRPr/>
            </a:pPr>
            <a:r>
              <a:rPr lang="en-US" dirty="0">
                <a:sym typeface="Wingdings" panose="05000000000000000000" pitchFamily="2" charset="2"/>
              </a:rPr>
              <a:t>Select </a:t>
            </a:r>
            <a:r>
              <a:rPr lang="en-US" dirty="0" err="1">
                <a:sym typeface="Wingdings" panose="05000000000000000000" pitchFamily="2" charset="2"/>
              </a:rPr>
              <a:t>emp.gmail</a:t>
            </a:r>
            <a:r>
              <a:rPr lang="en-US" dirty="0">
                <a:sym typeface="Wingdings" panose="05000000000000000000" pitchFamily="2" charset="2"/>
              </a:rPr>
              <a:t> from </a:t>
            </a:r>
            <a:r>
              <a:rPr lang="en-US" dirty="0" err="1">
                <a:sym typeface="Wingdings" panose="05000000000000000000" pitchFamily="2" charset="2"/>
              </a:rPr>
              <a:t>employee.schema</a:t>
            </a:r>
            <a:r>
              <a:rPr lang="en-US" dirty="0">
                <a:sym typeface="Wingdings" panose="05000000000000000000" pitchFamily="2" charset="2"/>
              </a:rPr>
              <a:t> element error</a:t>
            </a:r>
            <a:endParaRPr lang="en-US" dirty="0"/>
          </a:p>
        </p:txBody>
      </p:sp>
      <p:pic>
        <p:nvPicPr>
          <p:cNvPr id="19461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03318"/>
            <a:ext cx="5943600" cy="2759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0D563-13F4-473C-A395-83193481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20D0474-6FE4-4A36-9475-4B966E60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0F037-226D-4B90-A749-937ACEA2F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90576-34A5-4347-99D5-291CA82D6A56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6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773723" y="1143001"/>
            <a:ext cx="9284677" cy="5330825"/>
          </a:xfrm>
        </p:spPr>
        <p:txBody>
          <a:bodyPr/>
          <a:lstStyle/>
          <a:p>
            <a:r>
              <a:rPr lang="en-US" b="1" dirty="0"/>
              <a:t>Optimizer:</a:t>
            </a:r>
          </a:p>
          <a:p>
            <a:pPr lvl="1"/>
            <a:r>
              <a:rPr lang="en-US" dirty="0"/>
              <a:t>Find best plan to relational algebra</a:t>
            </a:r>
          </a:p>
          <a:p>
            <a:pPr lvl="1"/>
            <a:r>
              <a:rPr lang="en-US" dirty="0"/>
              <a:t>Finds all equivalent relational algebra</a:t>
            </a:r>
          </a:p>
          <a:p>
            <a:pPr lvl="1"/>
            <a:r>
              <a:rPr lang="en-US" dirty="0"/>
              <a:t>Find the expression with least cost</a:t>
            </a:r>
          </a:p>
          <a:p>
            <a:r>
              <a:rPr lang="en-US" b="1" dirty="0"/>
              <a:t>Statistics about data</a:t>
            </a:r>
            <a:r>
              <a:rPr lang="en-US" dirty="0"/>
              <a:t>: is the size of relation</a:t>
            </a:r>
          </a:p>
          <a:p>
            <a:pPr lvl="1"/>
            <a:r>
              <a:rPr lang="en-US" dirty="0"/>
              <a:t>Number of blocks been used to store the relation</a:t>
            </a:r>
          </a:p>
          <a:p>
            <a:pPr lvl="1"/>
            <a:r>
              <a:rPr lang="en-US" dirty="0"/>
              <a:t>Number of records in the relation.</a:t>
            </a:r>
          </a:p>
          <a:p>
            <a:pPr lvl="1"/>
            <a:r>
              <a:rPr lang="en-US" dirty="0"/>
              <a:t>Number of index</a:t>
            </a:r>
          </a:p>
          <a:p>
            <a:r>
              <a:rPr lang="en-US" b="1" dirty="0"/>
              <a:t>Query Evaluation engine:</a:t>
            </a:r>
          </a:p>
          <a:p>
            <a:pPr lvl="1"/>
            <a:r>
              <a:rPr lang="en-US" dirty="0"/>
              <a:t>Evaluates the above plan and gets the results.</a:t>
            </a:r>
          </a:p>
          <a:p>
            <a:pPr lvl="1"/>
            <a:r>
              <a:rPr lang="en-US" dirty="0"/>
              <a:t>Is directly accessing data warehouse.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4745" y="152400"/>
            <a:ext cx="12037255" cy="60642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CC48D-5FF5-46F7-90D9-B9614C3D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D4C1BB-82BB-4AD4-8A0E-3053EE75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B5B93-9EB4-41ED-B344-2C4065BEF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B23F-8964-4867-98E6-DE7B480D5808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7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1820938" cy="9144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Phases of Query processing</a:t>
            </a:r>
            <a:endParaRPr 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520505" y="1295400"/>
            <a:ext cx="11127544" cy="5029200"/>
          </a:xfrm>
        </p:spPr>
        <p:txBody>
          <a:bodyPr>
            <a:normAutofit/>
          </a:bodyPr>
          <a:lstStyle/>
          <a:p>
            <a:r>
              <a:rPr lang="en-US" sz="2000" dirty="0"/>
              <a:t>Processing can be divided into :</a:t>
            </a:r>
            <a:r>
              <a:rPr lang="en-US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Decomposition, Optimization , and Execution ,Code generation</a:t>
            </a:r>
            <a:endParaRPr lang="en-US" sz="2000" b="1" dirty="0"/>
          </a:p>
          <a:p>
            <a:r>
              <a:rPr lang="en-US" b="1" dirty="0"/>
              <a:t>Query Decomposition</a:t>
            </a:r>
          </a:p>
          <a:p>
            <a:pPr lvl="1"/>
            <a:r>
              <a:rPr lang="en-US" sz="2600" dirty="0"/>
              <a:t>is the process of transforming a high level query into a relational algebra query, and to check that the query is </a:t>
            </a:r>
            <a:r>
              <a:rPr lang="en-US" sz="2600" dirty="0">
                <a:solidFill>
                  <a:srgbClr val="00B0F0"/>
                </a:solidFill>
              </a:rPr>
              <a:t>syntactically</a:t>
            </a:r>
            <a:r>
              <a:rPr lang="en-US" sz="2600" dirty="0"/>
              <a:t> and </a:t>
            </a:r>
            <a:r>
              <a:rPr lang="en-US" sz="2600" dirty="0">
                <a:solidFill>
                  <a:srgbClr val="00B0F0"/>
                </a:solidFill>
              </a:rPr>
              <a:t>semantically</a:t>
            </a:r>
            <a:r>
              <a:rPr lang="en-US" sz="2600" dirty="0"/>
              <a:t> correct.</a:t>
            </a:r>
          </a:p>
          <a:p>
            <a:pPr lvl="1"/>
            <a:r>
              <a:rPr lang="en-US" sz="2600" dirty="0"/>
              <a:t>Consists of parsing and validation </a:t>
            </a:r>
          </a:p>
          <a:p>
            <a:r>
              <a:rPr lang="en-US" sz="2200" dirty="0"/>
              <a:t>Typical stages in query decomposition are: </a:t>
            </a:r>
          </a:p>
          <a:p>
            <a:pPr lvl="1"/>
            <a:r>
              <a:rPr lang="en-US" sz="2600" b="1" dirty="0"/>
              <a:t>1) Analysis</a:t>
            </a:r>
            <a:r>
              <a:rPr lang="en-US" sz="2600" dirty="0"/>
              <a:t>: </a:t>
            </a:r>
            <a:r>
              <a:rPr lang="en-US" sz="2600" dirty="0">
                <a:solidFill>
                  <a:srgbClr val="00B0F0"/>
                </a:solidFill>
              </a:rPr>
              <a:t>lexical</a:t>
            </a:r>
            <a:r>
              <a:rPr lang="en-US" sz="2600" dirty="0"/>
              <a:t> and syntactical analysis of the query (correctness). </a:t>
            </a:r>
          </a:p>
          <a:p>
            <a:pPr lvl="2"/>
            <a:r>
              <a:rPr lang="en-US" sz="2200" dirty="0"/>
              <a:t>Query tree will be built for the query containing leaf node for base relations, one or many non-leaf nodes for relations produced by relational algebra operations and root node for the result of the query.</a:t>
            </a:r>
          </a:p>
          <a:p>
            <a:pPr lvl="2"/>
            <a:r>
              <a:rPr lang="en-US" sz="2200" dirty="0"/>
              <a:t> Sequence of operation is from the leaves to the root. 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95AD0F8-6571-4B0D-82FA-8D9EEE62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F1809D2-B730-4AE0-8C6B-458F75D2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8BDEE-3B67-4AAC-8984-0952528E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6BB9-D497-4D41-B47D-B485AD675490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2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534572" y="1143000"/>
            <a:ext cx="10733650" cy="5791200"/>
          </a:xfrm>
        </p:spPr>
        <p:txBody>
          <a:bodyPr>
            <a:normAutofit/>
          </a:bodyPr>
          <a:lstStyle/>
          <a:p>
            <a:pPr lvl="1"/>
            <a:r>
              <a:rPr lang="en-US" sz="2000" b="1" dirty="0"/>
              <a:t>2)Normalization</a:t>
            </a:r>
            <a:r>
              <a:rPr lang="en-US" sz="2000" dirty="0"/>
              <a:t>: convert the query into a normalized form. </a:t>
            </a:r>
          </a:p>
          <a:p>
            <a:pPr lvl="2"/>
            <a:r>
              <a:rPr lang="en-US" dirty="0"/>
              <a:t>The predicate WHERE will be converted to </a:t>
            </a:r>
            <a:r>
              <a:rPr lang="en-US" dirty="0">
                <a:solidFill>
                  <a:srgbClr val="00B0F0"/>
                </a:solidFill>
              </a:rPr>
              <a:t>Conjunctive</a:t>
            </a:r>
            <a:r>
              <a:rPr lang="en-US" dirty="0"/>
              <a:t> </a:t>
            </a:r>
            <a:r>
              <a:rPr lang="en-US" sz="3200" dirty="0"/>
              <a:t>(</a:t>
            </a:r>
            <a:r>
              <a:rPr lang="en-US" sz="3200" b="1" i="1" baseline="-25000" dirty="0"/>
              <a:t>^</a:t>
            </a:r>
            <a:r>
              <a:rPr lang="en-US" sz="3200" dirty="0"/>
              <a:t>)</a:t>
            </a:r>
            <a:r>
              <a:rPr lang="en-US" dirty="0"/>
              <a:t> or </a:t>
            </a:r>
            <a:r>
              <a:rPr lang="en-US" dirty="0">
                <a:solidFill>
                  <a:srgbClr val="00B0F0"/>
                </a:solidFill>
              </a:rPr>
              <a:t>Disjunctive</a:t>
            </a:r>
            <a:r>
              <a:rPr lang="en-US" dirty="0"/>
              <a:t> (∨) Normal form. </a:t>
            </a:r>
          </a:p>
          <a:p>
            <a:pPr lvl="1"/>
            <a:r>
              <a:rPr lang="en-US" sz="2000" b="1" dirty="0"/>
              <a:t>3) Semantic Analysis</a:t>
            </a:r>
            <a:r>
              <a:rPr lang="en-US" sz="2000" dirty="0"/>
              <a:t>: to reject normalized queries that are not correctly formulated or contradictory. </a:t>
            </a:r>
          </a:p>
          <a:p>
            <a:pPr lvl="2"/>
            <a:r>
              <a:rPr lang="en-US" dirty="0"/>
              <a:t>Incorrect if components do not contribute to generate result. </a:t>
            </a:r>
          </a:p>
          <a:p>
            <a:pPr lvl="2"/>
            <a:r>
              <a:rPr lang="en-US" dirty="0"/>
              <a:t>Contradictory if the predicate cannot be satisfied by any tuple.</a:t>
            </a:r>
          </a:p>
          <a:p>
            <a:pPr lvl="2"/>
            <a:r>
              <a:rPr lang="en-US" b="1" dirty="0"/>
              <a:t>Algorithms</a:t>
            </a:r>
            <a:r>
              <a:rPr lang="en-US" dirty="0"/>
              <a:t>: </a:t>
            </a:r>
            <a:r>
              <a:rPr lang="en-US" i="1" dirty="0"/>
              <a:t>relation connection graph</a:t>
            </a:r>
            <a:r>
              <a:rPr lang="en-US" dirty="0"/>
              <a:t> and </a:t>
            </a:r>
            <a:r>
              <a:rPr lang="en-US" i="1" dirty="0"/>
              <a:t>normalized attribute connection graph</a:t>
            </a:r>
            <a:r>
              <a:rPr lang="en-US" dirty="0"/>
              <a:t>. </a:t>
            </a:r>
          </a:p>
          <a:p>
            <a:pPr lvl="1"/>
            <a:r>
              <a:rPr lang="en-US" sz="2000" b="1" dirty="0"/>
              <a:t>4) Simplification</a:t>
            </a:r>
            <a:r>
              <a:rPr lang="en-US" sz="2000" dirty="0"/>
              <a:t>: to detect redundant qualifications, eliminate common sub-expressions, and transform the query to a semantically equivalent but more easily and effectively computed form. </a:t>
            </a:r>
          </a:p>
          <a:p>
            <a:pPr lvl="1"/>
            <a:r>
              <a:rPr lang="en-US" sz="2000" b="1" dirty="0"/>
              <a:t>5) Query Restructuring</a:t>
            </a:r>
            <a:r>
              <a:rPr lang="en-US" sz="2000" dirty="0"/>
              <a:t> More than one translation is possible Use transformation rules. </a:t>
            </a:r>
          </a:p>
          <a:p>
            <a:pPr lvl="2"/>
            <a:r>
              <a:rPr lang="en-US" dirty="0"/>
              <a:t>Re arranging nodes so that the most restrictive condition will be executed first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54691-AC80-432F-90AB-210DFC69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954572E-6594-4E35-85F0-D58391C9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B07E7-C4CA-40DA-BFD4-4E2BB6F4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D723E-1CB6-4DAE-BDA1-22216640DC04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7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0842" y="1295401"/>
            <a:ext cx="11230096" cy="5257800"/>
          </a:xfrm>
        </p:spPr>
        <p:txBody>
          <a:bodyPr/>
          <a:lstStyle/>
          <a:p>
            <a:pPr>
              <a:defRPr/>
            </a:pPr>
            <a:r>
              <a:rPr lang="en-US" dirty="0"/>
              <a:t>Consider the following query from two relations; staff and branch </a:t>
            </a:r>
          </a:p>
          <a:p>
            <a:pPr lvl="1">
              <a:defRPr/>
            </a:pPr>
            <a:r>
              <a:rPr lang="en-US" sz="2400" dirty="0"/>
              <a:t>Staff ( </a:t>
            </a:r>
            <a:r>
              <a:rPr lang="en-US" sz="2400" dirty="0" err="1"/>
              <a:t>StaffNo</a:t>
            </a:r>
            <a:r>
              <a:rPr lang="en-US" sz="2400" dirty="0"/>
              <a:t>,  </a:t>
            </a:r>
            <a:r>
              <a:rPr lang="en-US" sz="2400" dirty="0" err="1"/>
              <a:t>name,position</a:t>
            </a:r>
            <a:r>
              <a:rPr lang="en-US" sz="2400" dirty="0"/>
              <a:t>, salary, sex, </a:t>
            </a:r>
            <a:r>
              <a:rPr lang="en-US" sz="2400" dirty="0" err="1"/>
              <a:t>BranchNo</a:t>
            </a:r>
            <a:r>
              <a:rPr lang="en-US" sz="2400" dirty="0"/>
              <a:t>) </a:t>
            </a:r>
          </a:p>
          <a:p>
            <a:pPr lvl="1">
              <a:defRPr/>
            </a:pPr>
            <a:r>
              <a:rPr lang="en-US" sz="2400" dirty="0"/>
              <a:t>Branch (</a:t>
            </a:r>
            <a:r>
              <a:rPr lang="en-US" sz="2400" dirty="0" err="1"/>
              <a:t>BranchNo,name</a:t>
            </a:r>
            <a:r>
              <a:rPr lang="en-US" sz="2400" dirty="0"/>
              <a:t>, city) </a:t>
            </a:r>
          </a:p>
          <a:p>
            <a:pPr>
              <a:defRPr/>
            </a:pPr>
            <a:r>
              <a:rPr lang="en-US" b="1" dirty="0" err="1"/>
              <a:t>Eg</a:t>
            </a:r>
            <a:r>
              <a:rPr lang="en-US" dirty="0"/>
              <a:t>. Find all managers who manage a branch at Addis.  </a:t>
            </a:r>
          </a:p>
          <a:p>
            <a:pPr>
              <a:defRPr/>
            </a:pPr>
            <a:r>
              <a:rPr lang="en-US" dirty="0"/>
              <a:t>We can write this query in a SQL as follows </a:t>
            </a:r>
          </a:p>
          <a:p>
            <a:pPr marL="366713" lvl="1" indent="0">
              <a:buNone/>
              <a:defRPr/>
            </a:pPr>
            <a:r>
              <a:rPr lang="en-US" sz="2400" i="1" dirty="0">
                <a:solidFill>
                  <a:srgbClr val="FF0000"/>
                </a:solidFill>
              </a:rPr>
              <a:t>Select  S.*  </a:t>
            </a:r>
            <a:endParaRPr lang="en-US" sz="2400" dirty="0">
              <a:solidFill>
                <a:srgbClr val="FF0000"/>
              </a:solidFill>
            </a:endParaRPr>
          </a:p>
          <a:p>
            <a:pPr marL="366713" lvl="1" indent="0">
              <a:buNone/>
              <a:defRPr/>
            </a:pPr>
            <a:r>
              <a:rPr lang="en-US" sz="2400" i="1" dirty="0">
                <a:solidFill>
                  <a:srgbClr val="FF0000"/>
                </a:solidFill>
              </a:rPr>
              <a:t> from  staff </a:t>
            </a:r>
            <a:r>
              <a:rPr lang="en-US" sz="3200" i="1" dirty="0">
                <a:solidFill>
                  <a:srgbClr val="FF0000"/>
                </a:solidFill>
              </a:rPr>
              <a:t>s</a:t>
            </a:r>
            <a:r>
              <a:rPr lang="en-US" sz="2400" i="1" dirty="0">
                <a:solidFill>
                  <a:srgbClr val="FF0000"/>
                </a:solidFill>
              </a:rPr>
              <a:t>, branch </a:t>
            </a:r>
            <a:r>
              <a:rPr lang="en-US" sz="3200" i="1" dirty="0">
                <a:solidFill>
                  <a:srgbClr val="FF0000"/>
                </a:solidFill>
              </a:rPr>
              <a:t>b </a:t>
            </a:r>
            <a:endParaRPr lang="en-US" sz="3200" dirty="0">
              <a:solidFill>
                <a:srgbClr val="FF0000"/>
              </a:solidFill>
            </a:endParaRPr>
          </a:p>
          <a:p>
            <a:pPr marL="914400" lvl="3" indent="0">
              <a:buNone/>
              <a:defRPr/>
            </a:pPr>
            <a:r>
              <a:rPr lang="en-US" sz="2400" i="1" dirty="0">
                <a:solidFill>
                  <a:srgbClr val="FF0000"/>
                </a:solidFill>
              </a:rPr>
              <a:t>where </a:t>
            </a:r>
            <a:r>
              <a:rPr lang="en-US" sz="2400" i="1" dirty="0" err="1">
                <a:solidFill>
                  <a:srgbClr val="FF0000"/>
                </a:solidFill>
              </a:rPr>
              <a:t>branchNo</a:t>
            </a:r>
            <a:r>
              <a:rPr lang="en-US" sz="2400" i="1" dirty="0">
                <a:solidFill>
                  <a:srgbClr val="FF0000"/>
                </a:solidFill>
              </a:rPr>
              <a:t>=</a:t>
            </a:r>
            <a:r>
              <a:rPr lang="en-US" sz="4000" i="1" dirty="0" err="1">
                <a:solidFill>
                  <a:srgbClr val="FF0000"/>
                </a:solidFill>
              </a:rPr>
              <a:t>s</a:t>
            </a:r>
            <a:r>
              <a:rPr lang="en-US" sz="2400" i="1" dirty="0" err="1">
                <a:solidFill>
                  <a:srgbClr val="FF0000"/>
                </a:solidFill>
              </a:rPr>
              <a:t>.branchNo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AND</a:t>
            </a:r>
            <a:r>
              <a:rPr lang="en-US" sz="2400" i="1" dirty="0">
                <a:solidFill>
                  <a:srgbClr val="FF0000"/>
                </a:solidFill>
              </a:rPr>
              <a:t>            </a:t>
            </a:r>
          </a:p>
          <a:p>
            <a:pPr marL="914400" lvl="3" indent="0">
              <a:buNone/>
              <a:defRPr/>
            </a:pPr>
            <a:r>
              <a:rPr lang="en-US" sz="2400" i="1" dirty="0">
                <a:solidFill>
                  <a:srgbClr val="FF0000"/>
                </a:solidFill>
              </a:rPr>
              <a:t>(</a:t>
            </a:r>
            <a:r>
              <a:rPr lang="en-US" sz="2400" i="1" dirty="0" err="1">
                <a:solidFill>
                  <a:srgbClr val="FF0000"/>
                </a:solidFill>
              </a:rPr>
              <a:t>S.position</a:t>
            </a:r>
            <a:r>
              <a:rPr lang="en-US" sz="2400" i="1" dirty="0">
                <a:solidFill>
                  <a:srgbClr val="FF0000"/>
                </a:solidFill>
              </a:rPr>
              <a:t>=’Manager’ </a:t>
            </a:r>
            <a:r>
              <a:rPr lang="en-US" sz="2400" b="1" i="1" dirty="0">
                <a:solidFill>
                  <a:srgbClr val="FF0000"/>
                </a:solidFill>
              </a:rPr>
              <a:t>AND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 err="1">
                <a:solidFill>
                  <a:srgbClr val="FF0000"/>
                </a:solidFill>
              </a:rPr>
              <a:t>b.city</a:t>
            </a:r>
            <a:r>
              <a:rPr lang="en-US" sz="2400" i="1" dirty="0">
                <a:solidFill>
                  <a:srgbClr val="FF0000"/>
                </a:solidFill>
              </a:rPr>
              <a:t>=’Addis’) 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7F70B-895E-487A-9614-84C0A89A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55E4A-D871-4378-98D1-5F1699B68BAA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5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1069145" y="990600"/>
            <a:ext cx="10353821" cy="5334000"/>
          </a:xfrm>
        </p:spPr>
        <p:txBody>
          <a:bodyPr>
            <a:normAutofit/>
          </a:bodyPr>
          <a:lstStyle/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400" i="1" dirty="0">
                <a:solidFill>
                  <a:srgbClr val="FF0000"/>
                </a:solidFill>
                <a:latin typeface="Century Schoolbook"/>
              </a:rPr>
              <a:t>Assume</a:t>
            </a:r>
            <a:r>
              <a:rPr lang="en-US" sz="2400" i="1" dirty="0">
                <a:solidFill>
                  <a:prstClr val="black"/>
                </a:solidFill>
                <a:latin typeface="Century Schoolbook"/>
              </a:rPr>
              <a:t>  </a:t>
            </a:r>
            <a:endParaRPr lang="en-US" sz="2400" dirty="0">
              <a:solidFill>
                <a:prstClr val="black"/>
              </a:solidFill>
              <a:latin typeface="Century Schoolbook"/>
            </a:endParaRPr>
          </a:p>
          <a:p>
            <a:pPr marL="881063" lvl="1" indent="-5143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Century Schoolbook" panose="02040604050505020304" pitchFamily="18" charset="0"/>
              <a:buAutoNum type="romanLcPeriod"/>
            </a:pPr>
            <a:r>
              <a:rPr lang="en-US" sz="2000" i="1" dirty="0">
                <a:solidFill>
                  <a:prstClr val="black"/>
                </a:solidFill>
                <a:latin typeface="Century Schoolbook"/>
              </a:rPr>
              <a:t>One record is accessed at a time, n staff , m branches, x non-manager, and y non-Addis  branches for some integers </a:t>
            </a:r>
            <a:r>
              <a:rPr lang="en-US" sz="2000" i="1" dirty="0" err="1">
                <a:solidFill>
                  <a:prstClr val="black"/>
                </a:solidFill>
                <a:latin typeface="Century Schoolbook"/>
              </a:rPr>
              <a:t>n,m,x,y</a:t>
            </a:r>
            <a:r>
              <a:rPr lang="en-US" sz="2000" i="1" dirty="0">
                <a:solidFill>
                  <a:prstClr val="black"/>
                </a:solidFill>
                <a:latin typeface="Century Schoolbook"/>
              </a:rPr>
              <a:t>. </a:t>
            </a:r>
            <a:endParaRPr lang="en-US" sz="2000" dirty="0">
              <a:solidFill>
                <a:prstClr val="black"/>
              </a:solidFill>
              <a:latin typeface="Century Schoolbook"/>
            </a:endParaRPr>
          </a:p>
          <a:p>
            <a:pPr marL="881063" lvl="1" indent="-5143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Century Schoolbook" panose="02040604050505020304" pitchFamily="18" charset="0"/>
              <a:buAutoNum type="romanLcPeriod"/>
            </a:pPr>
            <a:r>
              <a:rPr lang="en-US" sz="2000" i="1" dirty="0">
                <a:solidFill>
                  <a:prstClr val="black"/>
                </a:solidFill>
                <a:latin typeface="Century Schoolbook"/>
              </a:rPr>
              <a:t>intermediate results are stored on disk </a:t>
            </a:r>
            <a:endParaRPr lang="en-US" sz="2000" dirty="0">
              <a:solidFill>
                <a:prstClr val="black"/>
              </a:solidFill>
              <a:latin typeface="Century Schoolbook"/>
            </a:endParaRPr>
          </a:p>
          <a:p>
            <a:pPr marL="881063" lvl="1" indent="-5143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Century Schoolbook" panose="02040604050505020304" pitchFamily="18" charset="0"/>
              <a:buAutoNum type="romanLcPeriod"/>
            </a:pPr>
            <a:r>
              <a:rPr lang="en-US" sz="2000" i="1" dirty="0">
                <a:solidFill>
                  <a:prstClr val="black"/>
                </a:solidFill>
                <a:latin typeface="Century Schoolbook"/>
              </a:rPr>
              <a:t>ignore about the final result(write) because it is the same for all the expressions </a:t>
            </a:r>
            <a:endParaRPr lang="en-US" sz="2000" dirty="0">
              <a:solidFill>
                <a:prstClr val="black"/>
              </a:solidFill>
              <a:latin typeface="Century Schoolbook"/>
            </a:endParaRPr>
          </a:p>
          <a:p>
            <a:pPr marL="273050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Then, this high level SQL can be transformed in the following three low level equivalent relational algebra expressions.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800" b="1" i="1" dirty="0">
                <a:solidFill>
                  <a:prstClr val="black"/>
                </a:solidFill>
                <a:latin typeface="Century Schoolbook"/>
              </a:rPr>
              <a:t></a:t>
            </a:r>
            <a:r>
              <a:rPr lang="en-US" sz="2000" b="1" i="1" dirty="0">
                <a:solidFill>
                  <a:prstClr val="black"/>
                </a:solidFill>
                <a:latin typeface="Century Schoolbook"/>
              </a:rPr>
              <a:t>(position=’manager’)</a:t>
            </a:r>
            <a:r>
              <a:rPr lang="en-US" sz="4400" b="1" i="1" baseline="-25000" dirty="0">
                <a:solidFill>
                  <a:prstClr val="black"/>
                </a:solidFill>
                <a:latin typeface="Century Schoolbook"/>
              </a:rPr>
              <a:t>^</a:t>
            </a:r>
            <a:r>
              <a:rPr lang="en-US" sz="2000" b="1" i="1" dirty="0">
                <a:solidFill>
                  <a:prstClr val="black"/>
                </a:solidFill>
                <a:latin typeface="Century Schoolbook"/>
              </a:rPr>
              <a:t>(City=’Addis’ ) </a:t>
            </a:r>
            <a:r>
              <a:rPr lang="en-US" sz="3600" b="1" i="1" baseline="-25000" dirty="0">
                <a:solidFill>
                  <a:prstClr val="black"/>
                </a:solidFill>
                <a:latin typeface="Century Schoolbook"/>
              </a:rPr>
              <a:t>^</a:t>
            </a:r>
            <a:r>
              <a:rPr lang="en-US" sz="3600" b="1" i="1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Century Schoolbook"/>
              </a:rPr>
              <a:t>(</a:t>
            </a:r>
            <a:r>
              <a:rPr lang="en-US" sz="2000" b="1" i="1" dirty="0" err="1">
                <a:solidFill>
                  <a:prstClr val="black"/>
                </a:solidFill>
                <a:latin typeface="Century Schoolbook"/>
              </a:rPr>
              <a:t>staff.branchNo</a:t>
            </a:r>
            <a:r>
              <a:rPr lang="en-US" sz="2000" b="1" i="1" dirty="0">
                <a:solidFill>
                  <a:prstClr val="black"/>
                </a:solidFill>
                <a:latin typeface="Century Schoolbook"/>
              </a:rPr>
              <a:t>=</a:t>
            </a:r>
            <a:r>
              <a:rPr lang="en-US" sz="2000" b="1" i="1" dirty="0" err="1">
                <a:solidFill>
                  <a:prstClr val="black"/>
                </a:solidFill>
                <a:latin typeface="Century Schoolbook"/>
              </a:rPr>
              <a:t>branch.branchNo</a:t>
            </a:r>
            <a:r>
              <a:rPr lang="en-US" sz="2000" b="1" i="1" baseline="-25000" dirty="0">
                <a:solidFill>
                  <a:prstClr val="black"/>
                </a:solidFill>
                <a:latin typeface="Century Schoolbook"/>
              </a:rPr>
              <a:t>)</a:t>
            </a:r>
            <a:r>
              <a:rPr lang="en-US" sz="2000" b="1" i="1" dirty="0">
                <a:solidFill>
                  <a:prstClr val="black"/>
                </a:solidFill>
                <a:latin typeface="Century Schoolbook"/>
              </a:rPr>
              <a:t>(Staff </a:t>
            </a: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X Branch)</a:t>
            </a:r>
            <a:r>
              <a:rPr lang="en-US" sz="2000" b="1" i="1" dirty="0">
                <a:solidFill>
                  <a:prstClr val="black"/>
                </a:solidFill>
                <a:latin typeface="Century Schoolbook"/>
              </a:rPr>
              <a:t> </a:t>
            </a:r>
            <a:endParaRPr lang="en-US" sz="2000" b="1" dirty="0">
              <a:solidFill>
                <a:prstClr val="black"/>
              </a:solidFill>
              <a:latin typeface="Century Schoolbook"/>
            </a:endParaRP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400" b="1" i="1" dirty="0">
                <a:solidFill>
                  <a:prstClr val="black"/>
                </a:solidFill>
                <a:latin typeface="Century Schoolbook"/>
              </a:rPr>
              <a:t>Analysis:  </a:t>
            </a:r>
            <a:endParaRPr lang="en-US" sz="2400" dirty="0">
              <a:solidFill>
                <a:prstClr val="black"/>
              </a:solidFill>
              <a:latin typeface="Century Schoolbook"/>
            </a:endParaRPr>
          </a:p>
          <a:p>
            <a:pPr marL="1041400" lvl="2" indent="-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0752F"/>
              </a:buClr>
              <a:buSzPct val="60000"/>
              <a:buFont typeface="Century Schoolbook" panose="02040604050505020304" pitchFamily="18" charset="0"/>
              <a:buAutoNum type="romanLcPeriod"/>
            </a:pP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read each tuple from the two relations </a:t>
            </a:r>
            <a:r>
              <a:rPr lang="en-US" sz="1800" i="1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b="1" i="1" dirty="0" err="1">
                <a:solidFill>
                  <a:prstClr val="black"/>
                </a:solidFill>
                <a:latin typeface="Century Schoolbook"/>
              </a:rPr>
              <a:t>n+m</a:t>
            </a:r>
            <a:r>
              <a:rPr lang="en-US" b="1" i="1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reads</a:t>
            </a:r>
            <a:endParaRPr lang="en-US" sz="1800" dirty="0">
              <a:solidFill>
                <a:prstClr val="black"/>
              </a:solidFill>
              <a:latin typeface="Century Schoolbook"/>
            </a:endParaRPr>
          </a:p>
          <a:p>
            <a:pPr marL="1041400" lvl="2" indent="-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0752F"/>
              </a:buClr>
              <a:buSzPct val="60000"/>
              <a:buFont typeface="Century Schoolbook" panose="02040604050505020304" pitchFamily="18" charset="0"/>
              <a:buAutoNum type="romanLcPeriod"/>
            </a:pP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 create a table of the Cartesian 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product</a:t>
            </a:r>
            <a:r>
              <a:rPr lang="en-US" sz="1800" i="1" dirty="0" err="1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nXm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 writes </a:t>
            </a:r>
            <a:endParaRPr lang="en-US" sz="1800" dirty="0">
              <a:solidFill>
                <a:prstClr val="black"/>
              </a:solidFill>
              <a:latin typeface="Century Schoolbook"/>
            </a:endParaRPr>
          </a:p>
          <a:p>
            <a:pPr marL="1041400" lvl="2" indent="-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0752F"/>
              </a:buClr>
              <a:buSzPct val="60000"/>
              <a:buFont typeface="Century Schoolbook" panose="02040604050505020304" pitchFamily="18" charset="0"/>
              <a:buAutoNum type="romanLcPeriod"/>
            </a:pP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test each tuple of step 2</a:t>
            </a:r>
            <a:r>
              <a:rPr lang="en-US" sz="1800" i="1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nXm read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n-US" sz="2400" dirty="0">
                <a:solidFill>
                  <a:prstClr val="black"/>
                </a:solidFill>
                <a:latin typeface="Century Schoolbook"/>
              </a:rPr>
              <a:t> Total No. of Disk access: </a:t>
            </a:r>
            <a:r>
              <a:rPr lang="en-US" sz="24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FF0000"/>
                </a:solidFill>
                <a:latin typeface="Century Schoolbook"/>
              </a:rPr>
              <a:t>2(</a:t>
            </a:r>
            <a:r>
              <a:rPr lang="en-US" sz="2400" dirty="0" err="1">
                <a:solidFill>
                  <a:srgbClr val="FF0000"/>
                </a:solidFill>
                <a:latin typeface="Century Schoolbook"/>
              </a:rPr>
              <a:t>nXm</a:t>
            </a:r>
            <a:r>
              <a:rPr lang="en-US" sz="2400" dirty="0">
                <a:solidFill>
                  <a:srgbClr val="FF0000"/>
                </a:solidFill>
                <a:latin typeface="Century Schoolbook"/>
              </a:rPr>
              <a:t>) +</a:t>
            </a:r>
            <a:r>
              <a:rPr lang="en-US" sz="2400" dirty="0" err="1">
                <a:solidFill>
                  <a:srgbClr val="FF0000"/>
                </a:solidFill>
                <a:latin typeface="Century Schoolbook"/>
              </a:rPr>
              <a:t>n+m</a:t>
            </a:r>
            <a:r>
              <a:rPr lang="en-US" sz="2400" dirty="0">
                <a:solidFill>
                  <a:srgbClr val="FF0000"/>
                </a:solidFill>
                <a:latin typeface="Century Schoolbook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entury Schoolbook"/>
              </a:rPr>
              <a:t>or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5808FA4-6E47-494E-9BCD-FCB49AFD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CB5D8B-9687-49D1-9EDF-2E691042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41299-B9C9-421E-A595-CE21D83B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E651-5489-4763-83D9-37E216B4BD48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4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4266"/>
            <a:ext cx="12192000" cy="79216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2027903" y="1096964"/>
            <a:ext cx="8382000" cy="5608637"/>
          </a:xfrm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OR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(position=’manager’) </a:t>
            </a:r>
            <a:r>
              <a:rPr lang="en-US" baseline="-25000" dirty="0">
                <a:solidFill>
                  <a:prstClr val="black"/>
                </a:solidFill>
                <a:latin typeface="Century Schoolbook"/>
              </a:rPr>
              <a:t>^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(City=’Addis’)(Staff </a:t>
            </a:r>
            <a:r>
              <a:rPr lang="en-US" sz="2000" dirty="0" err="1">
                <a:solidFill>
                  <a:prstClr val="black"/>
                </a:solidFill>
                <a:latin typeface="Century Schoolbook"/>
              </a:rPr>
              <a:t>staff.branchNo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=</a:t>
            </a:r>
            <a:r>
              <a:rPr lang="en-US" sz="2000" dirty="0" err="1">
                <a:solidFill>
                  <a:prstClr val="black"/>
                </a:solidFill>
                <a:latin typeface="Century Schoolbook"/>
              </a:rPr>
              <a:t>branch.branchNo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       Branch)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Analysis: 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i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.	read each tuple from the two 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relation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n+m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 reads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>
                <a:solidFill>
                  <a:prstClr val="black"/>
                </a:solidFill>
                <a:latin typeface="Century Schoolbook"/>
              </a:rPr>
              <a:t>ii.	create a table of the Join </a:t>
            </a:r>
            <a:r>
              <a:rPr lang="en-US" sz="17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  n writes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>
                <a:solidFill>
                  <a:prstClr val="black"/>
                </a:solidFill>
                <a:latin typeface="Century Schoolbook"/>
              </a:rPr>
              <a:t>iii.	test each tuple of step 2 </a:t>
            </a:r>
            <a:r>
              <a:rPr lang="en-US" sz="17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 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n read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Total No. of Disk access: </a:t>
            </a:r>
            <a:r>
              <a:rPr lang="en-US" sz="20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entury Schoolbook"/>
              </a:rPr>
              <a:t>3(n) +m  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Or </a:t>
            </a:r>
            <a:endParaRPr lang="en-US" sz="1800" dirty="0">
              <a:solidFill>
                <a:prstClr val="black"/>
              </a:solidFill>
              <a:latin typeface="Century Schoolbook"/>
            </a:endParaRP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1800" dirty="0">
                <a:solidFill>
                  <a:prstClr val="black"/>
                </a:solidFill>
                <a:latin typeface="Century Schoolbook"/>
              </a:rPr>
              <a:t>(</a:t>
            </a: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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position =’manager’ (Staff ))  </a:t>
            </a:r>
            <a:r>
              <a:rPr lang="en-US" sz="1800" dirty="0" err="1">
                <a:solidFill>
                  <a:prstClr val="black"/>
                </a:solidFill>
                <a:latin typeface="Century Schoolbook"/>
              </a:rPr>
              <a:t>staff.branchNo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=</a:t>
            </a:r>
            <a:r>
              <a:rPr lang="en-US" sz="1800" dirty="0" err="1">
                <a:solidFill>
                  <a:prstClr val="black"/>
                </a:solidFill>
                <a:latin typeface="Century Schoolbook"/>
              </a:rPr>
              <a:t>branch.branchNo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 ( </a:t>
            </a: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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City=’Addis’(Branch))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Analysis: 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i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.	Test  each tuple from the two relations </a:t>
            </a:r>
            <a:r>
              <a:rPr lang="en-US" sz="17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 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n+m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 reads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>
                <a:solidFill>
                  <a:prstClr val="black"/>
                </a:solidFill>
                <a:latin typeface="Century Schoolbook"/>
              </a:rPr>
              <a:t>ii.	create a “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manager_Staff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”  and “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addis_Branch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”  </a:t>
            </a:r>
            <a:r>
              <a:rPr lang="en-US" sz="1700" dirty="0" err="1">
                <a:solidFill>
                  <a:prstClr val="black"/>
                </a:solidFill>
                <a:latin typeface="Century Schoolbook"/>
              </a:rPr>
              <a:t>realtions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17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 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 (n-x) +(m-y)  writes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>
                <a:solidFill>
                  <a:prstClr val="black"/>
                </a:solidFill>
                <a:latin typeface="Century Schoolbook"/>
              </a:rPr>
              <a:t>iii.	create a join of the two relations at step 2</a:t>
            </a:r>
            <a:r>
              <a:rPr lang="en-US" sz="17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 </a:t>
            </a:r>
            <a:r>
              <a:rPr lang="en-US" sz="1700" dirty="0">
                <a:solidFill>
                  <a:prstClr val="black"/>
                </a:solidFill>
                <a:latin typeface="Century Schoolbook"/>
              </a:rPr>
              <a:t>(n-x)  + (m-y) reads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1800" dirty="0">
                <a:solidFill>
                  <a:prstClr val="black"/>
                </a:solidFill>
                <a:latin typeface="Century Schoolbook"/>
              </a:rPr>
              <a:t>Total No. of Disk access: </a:t>
            </a:r>
            <a:r>
              <a:rPr lang="en-US" sz="1800" dirty="0">
                <a:solidFill>
                  <a:prstClr val="black"/>
                </a:solidFill>
                <a:latin typeface="Century Schoolbook"/>
                <a:sym typeface="Wingdings" panose="05000000000000000000" pitchFamily="2" charset="2"/>
              </a:rPr>
              <a:t></a:t>
            </a:r>
            <a:r>
              <a:rPr lang="en-US" sz="1800" dirty="0">
                <a:solidFill>
                  <a:srgbClr val="FF0000"/>
                </a:solidFill>
                <a:latin typeface="Century Schoolbook"/>
              </a:rPr>
              <a:t>2(n-x)+2(m-y)+</a:t>
            </a:r>
            <a:r>
              <a:rPr lang="en-US" sz="1800" dirty="0" err="1">
                <a:solidFill>
                  <a:srgbClr val="FF0000"/>
                </a:solidFill>
                <a:latin typeface="Century Schoolbook"/>
              </a:rPr>
              <a:t>n+m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1800" dirty="0">
                <a:solidFill>
                  <a:prstClr val="black"/>
                </a:solidFill>
                <a:latin typeface="Century Schoolbook"/>
              </a:rPr>
              <a:t>Which of the expressions given above do you think is best (Optimal)?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endParaRPr lang="en-US" sz="2400" dirty="0">
              <a:solidFill>
                <a:prstClr val="black"/>
              </a:solidFill>
              <a:latin typeface="Century Schoolbook"/>
            </a:endParaRPr>
          </a:p>
          <a:p>
            <a:pPr>
              <a:defRPr/>
            </a:pPr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1426804"/>
            <a:ext cx="473075" cy="325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473075" cy="325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468FEE6-D13F-4C64-B657-793C48DB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286239-8790-43BC-A541-AC4A7D78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9F302-FB68-4999-A308-63CE18DC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AF25-9EFA-4716-A818-91970DCB547E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7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2057400" y="1219201"/>
            <a:ext cx="8229600" cy="4949825"/>
          </a:xfrm>
        </p:spPr>
        <p:txBody>
          <a:bodyPr>
            <a:normAutofit/>
          </a:bodyPr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b="1" dirty="0">
                <a:cs typeface="Times New Roman" panose="02020603050405020304" pitchFamily="18" charset="0"/>
              </a:rPr>
              <a:t>Assume:</a:t>
            </a:r>
          </a:p>
          <a:p>
            <a:pPr eaLnBrk="1" hangingPunct="1">
              <a:lnSpc>
                <a:spcPct val="1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800" b="1" dirty="0">
              <a:cs typeface="Times New Roman" panose="02020603050405020304" pitchFamily="18" charset="0"/>
            </a:endParaRP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1000 tuples in </a:t>
            </a:r>
            <a:r>
              <a:rPr lang="en-US" b="1" i="1" dirty="0">
                <a:cs typeface="Times New Roman" panose="02020603050405020304" pitchFamily="18" charset="0"/>
              </a:rPr>
              <a:t>Staff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 50 Managers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50 tuples in </a:t>
            </a:r>
            <a:r>
              <a:rPr lang="en-US" b="1" i="1" dirty="0">
                <a:cs typeface="Times New Roman" panose="02020603050405020304" pitchFamily="18" charset="0"/>
              </a:rPr>
              <a:t>Branch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 5 London branches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No indexes or sort keys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All temporary results are written back to disk (memory is small)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dirty="0">
                <a:cs typeface="Times New Roman" panose="02020603050405020304" pitchFamily="18" charset="0"/>
              </a:rPr>
              <a:t>Tuples are accessed one at a time (not in blocks)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C5BF9-948F-473C-8F44-5523ED40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87672BA-EA57-4448-8495-9DBB638E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FC4DE-E56C-42CE-8E34-34590567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28EF-9BF9-4B82-B35D-4B231FBF715D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9276" y="1198844"/>
            <a:ext cx="8543925" cy="5138738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1 (Bad)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3800" b="1" dirty="0">
                <a:latin typeface="Symbol" panose="05050102010706020507" pitchFamily="18" charset="2"/>
              </a:rPr>
              <a:t>s</a:t>
            </a:r>
            <a:r>
              <a:rPr lang="en-US" sz="3800" b="1" baseline="-16000" dirty="0"/>
              <a:t>(position=‘Manager’)^(city=‘London’)^(</a:t>
            </a:r>
            <a:r>
              <a:rPr lang="en-US" sz="3800" b="1" baseline="-16000" dirty="0" err="1"/>
              <a:t>Staff.branchNo</a:t>
            </a:r>
            <a:r>
              <a:rPr lang="en-US" sz="3800" b="1" baseline="-16000" dirty="0"/>
              <a:t>=</a:t>
            </a:r>
            <a:r>
              <a:rPr lang="en-US" sz="3800" b="1" baseline="-16000" dirty="0" err="1"/>
              <a:t>Branch.branchNo</a:t>
            </a:r>
            <a:r>
              <a:rPr lang="en-US" sz="3800" b="1" baseline="-16000" dirty="0"/>
              <a:t>)</a:t>
            </a:r>
            <a:r>
              <a:rPr lang="en-US" sz="3800" b="1" dirty="0"/>
              <a:t> </a:t>
            </a:r>
            <a:r>
              <a:rPr lang="en-US" sz="2900" dirty="0"/>
              <a:t>(</a:t>
            </a:r>
            <a:r>
              <a:rPr lang="en-US" sz="2900" b="1" dirty="0"/>
              <a:t>Staff </a:t>
            </a:r>
            <a:r>
              <a:rPr lang="en-US" sz="2900" dirty="0"/>
              <a:t>X</a:t>
            </a:r>
            <a:r>
              <a:rPr lang="en-US" sz="2900" b="1" dirty="0"/>
              <a:t> Branch</a:t>
            </a:r>
            <a:r>
              <a:rPr lang="en-US" sz="2900" dirty="0"/>
              <a:t>)</a:t>
            </a:r>
            <a:endParaRPr lang="en-US" sz="3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/>
              <a:t>Requires (1000+50) disk accesses to read from Staff and Branch relations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/>
              <a:t>Creates temporary relation of Cartesian Product (1000*50) tuples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/>
              <a:t>Requires (1000*50) disk access to read in temporary relation and test predicate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b="1" dirty="0"/>
              <a:t>Total Work = (1000+50) + 2*(1000*50) = 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b="1" dirty="0"/>
              <a:t>101,050 I/O operations</a:t>
            </a:r>
            <a:endParaRPr lang="en-US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en-US" sz="2900" b="1" dirty="0">
                <a:solidFill>
                  <a:srgbClr val="FF0066"/>
                </a:solidFill>
                <a:cs typeface="Times New Roman" pitchFamily="18" charset="0"/>
              </a:rPr>
              <a:t> Query 2 (Better)</a:t>
            </a:r>
          </a:p>
          <a:p>
            <a:pPr marL="0" indent="0">
              <a:buNone/>
              <a:defRPr/>
            </a:pPr>
            <a:r>
              <a:rPr lang="en-US" sz="3000" b="1" dirty="0">
                <a:latin typeface="Symbol" panose="05050102010706020507" pitchFamily="18" charset="2"/>
              </a:rPr>
              <a:t>s</a:t>
            </a:r>
            <a:r>
              <a:rPr lang="en-US" sz="3000" b="1" baseline="-16000" dirty="0">
                <a:latin typeface="Century Gothic" panose="020B0502020202020204" pitchFamily="34" charset="0"/>
              </a:rPr>
              <a:t>(position=‘Manager’)^(city=‘London’)</a:t>
            </a:r>
            <a:r>
              <a:rPr lang="en-US" sz="3000" b="1" baseline="-16000" dirty="0"/>
              <a:t> </a:t>
            </a:r>
            <a:r>
              <a:rPr lang="en-US" sz="2200" dirty="0">
                <a:latin typeface="Century Gothic" panose="020B0502020202020204" pitchFamily="34" charset="0"/>
              </a:rPr>
              <a:t>(</a:t>
            </a:r>
            <a:r>
              <a:rPr lang="en-US" sz="2900" b="1" dirty="0">
                <a:latin typeface="Century Gothic" panose="020B0502020202020204" pitchFamily="34" charset="0"/>
              </a:rPr>
              <a:t>Staff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Wingdings 3" panose="05040102010807070707" pitchFamily="18" charset="2"/>
              </a:rPr>
              <a:t>wv</a:t>
            </a:r>
            <a:r>
              <a:rPr lang="en-US" sz="2900" b="1" baseline="-16000" dirty="0" err="1">
                <a:latin typeface="Century Gothic" panose="020B0502020202020204" pitchFamily="34" charset="0"/>
              </a:rPr>
              <a:t>Staff.branchNo</a:t>
            </a:r>
            <a:r>
              <a:rPr lang="en-US" sz="2900" b="1" baseline="-16000" dirty="0">
                <a:latin typeface="Century Gothic" panose="020B0502020202020204" pitchFamily="34" charset="0"/>
              </a:rPr>
              <a:t> = </a:t>
            </a:r>
            <a:r>
              <a:rPr lang="en-US" sz="2900" b="1" baseline="-16000" dirty="0" err="1">
                <a:latin typeface="Century Gothic" panose="020B0502020202020204" pitchFamily="34" charset="0"/>
              </a:rPr>
              <a:t>Branch.branchNo</a:t>
            </a:r>
            <a:r>
              <a:rPr lang="en-US" sz="3800" b="1" baseline="-16000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Century Gothic" panose="020B0502020202020204" pitchFamily="34" charset="0"/>
              </a:rPr>
              <a:t>Branch</a:t>
            </a:r>
            <a:r>
              <a:rPr lang="en-US" sz="2900" dirty="0">
                <a:latin typeface="Century Gothic" panose="020B0502020202020204" pitchFamily="34" charset="0"/>
              </a:rPr>
              <a:t>)</a:t>
            </a:r>
            <a:endParaRPr lang="en-US" sz="1900" dirty="0"/>
          </a:p>
          <a:p>
            <a:pPr marL="742950" lvl="1" indent="-285750">
              <a:buFont typeface="Arial" pitchFamily="34" charset="0"/>
              <a:buChar char="–"/>
              <a:defRPr/>
            </a:pPr>
            <a:r>
              <a:rPr lang="en-US" sz="3100" dirty="0"/>
              <a:t>Again requires (1000+50) disk accesses to read from </a:t>
            </a:r>
            <a:r>
              <a:rPr lang="en-US" sz="3100" b="1" i="1" dirty="0"/>
              <a:t>Staff</a:t>
            </a:r>
            <a:r>
              <a:rPr lang="en-US" sz="3100" dirty="0"/>
              <a:t> and </a:t>
            </a:r>
            <a:r>
              <a:rPr lang="en-US" sz="3100" b="1" i="1" dirty="0"/>
              <a:t>Branch</a:t>
            </a:r>
          </a:p>
          <a:p>
            <a:pPr marL="742950" lvl="1" indent="-285750">
              <a:buFont typeface="Arial" pitchFamily="34" charset="0"/>
              <a:buChar char="–"/>
              <a:defRPr/>
            </a:pPr>
            <a:r>
              <a:rPr lang="en-US" sz="3100" dirty="0"/>
              <a:t>Joins </a:t>
            </a:r>
            <a:r>
              <a:rPr lang="en-US" sz="3100" b="1" i="1" dirty="0"/>
              <a:t>Staff</a:t>
            </a:r>
            <a:r>
              <a:rPr lang="en-US" sz="3100" i="1" dirty="0"/>
              <a:t> </a:t>
            </a:r>
            <a:r>
              <a:rPr lang="en-US" sz="3100" dirty="0"/>
              <a:t>and </a:t>
            </a:r>
            <a:r>
              <a:rPr lang="en-US" sz="3100" b="1" i="1" dirty="0"/>
              <a:t>Branch</a:t>
            </a:r>
            <a:r>
              <a:rPr lang="en-US" sz="3100" dirty="0"/>
              <a:t> on </a:t>
            </a:r>
            <a:r>
              <a:rPr lang="en-US" sz="3100" dirty="0" err="1"/>
              <a:t>branchNo</a:t>
            </a:r>
            <a:r>
              <a:rPr lang="en-US" sz="3100" dirty="0"/>
              <a:t> with 1000 tuples </a:t>
            </a:r>
          </a:p>
          <a:p>
            <a:pPr marL="457200" lvl="1" indent="0">
              <a:buNone/>
              <a:defRPr/>
            </a:pPr>
            <a:r>
              <a:rPr lang="en-US" sz="3100" dirty="0"/>
              <a:t>             (1 employee : 1 branch )</a:t>
            </a:r>
          </a:p>
          <a:p>
            <a:pPr marL="742950" lvl="1" indent="-285750">
              <a:buFont typeface="Arial" pitchFamily="34" charset="0"/>
              <a:buChar char="–"/>
              <a:defRPr/>
            </a:pPr>
            <a:r>
              <a:rPr lang="en-US" sz="3100" dirty="0"/>
              <a:t>Requires (1000) disk access to read in joined relation and check predicate</a:t>
            </a:r>
          </a:p>
          <a:p>
            <a:pPr marL="742950" lvl="1" indent="-285750" algn="ctr">
              <a:buNone/>
              <a:defRPr/>
            </a:pPr>
            <a:r>
              <a:rPr lang="en-US" sz="2300" b="1" dirty="0"/>
              <a:t>Total Work = (1000+50) + 2*(1000) = </a:t>
            </a:r>
          </a:p>
          <a:p>
            <a:pPr marL="742950" lvl="1" indent="-285750" algn="ctr">
              <a:buNone/>
              <a:defRPr/>
            </a:pPr>
            <a:r>
              <a:rPr lang="en-US" sz="3100" b="1" dirty="0"/>
              <a:t>3050 I/O operations</a:t>
            </a:r>
          </a:p>
          <a:p>
            <a:pPr marL="342900" indent="-342900" algn="ctr">
              <a:spcBef>
                <a:spcPct val="20000"/>
              </a:spcBef>
              <a:buNone/>
              <a:defRPr/>
            </a:pPr>
            <a:r>
              <a:rPr lang="en-US" sz="3100" b="1" dirty="0"/>
              <a:t>33% Improvement over Query 1</a:t>
            </a:r>
            <a:endParaRPr lang="en-US" sz="3100" dirty="0"/>
          </a:p>
          <a:p>
            <a:pPr>
              <a:defRPr/>
            </a:pPr>
            <a:endParaRPr lang="en-US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67759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1A5AAC6-5620-4A19-AB6B-3EBA2ACA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1C616C3-5A11-44FF-A964-5811185D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3F284-4F76-45E3-B609-0CC1FBC96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CA94-4566-4076-BB84-BADE2FD77008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0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1066802"/>
            <a:ext cx="11135496" cy="5143499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3 (Best)</a:t>
            </a:r>
          </a:p>
          <a:p>
            <a:pPr marL="0" indent="0">
              <a:buNone/>
              <a:defRPr/>
            </a:pPr>
            <a:r>
              <a:rPr lang="en-US" b="1" dirty="0">
                <a:latin typeface="Century Gothic" panose="020B0502020202020204" pitchFamily="34" charset="0"/>
              </a:rPr>
              <a:t>[ </a:t>
            </a:r>
            <a:r>
              <a:rPr lang="en-US" b="1" dirty="0">
                <a:latin typeface="Symbol" panose="05050102010706020507" pitchFamily="18" charset="2"/>
              </a:rPr>
              <a:t>s</a:t>
            </a:r>
            <a:r>
              <a:rPr lang="en-US" b="1" baseline="-16000" dirty="0">
                <a:latin typeface="Century Gothic" panose="020B0502020202020204" pitchFamily="34" charset="0"/>
              </a:rPr>
              <a:t>(position=‘Manager’) </a:t>
            </a:r>
            <a:r>
              <a:rPr lang="en-US" b="1" dirty="0">
                <a:latin typeface="Century Gothic" panose="020B0502020202020204" pitchFamily="34" charset="0"/>
              </a:rPr>
              <a:t>(Staff) ]</a:t>
            </a:r>
            <a:r>
              <a:rPr lang="en-US" b="1" dirty="0"/>
              <a:t> </a:t>
            </a:r>
            <a:r>
              <a:rPr lang="en-US" b="1" dirty="0" err="1">
                <a:latin typeface="Wingdings 3" panose="05040102010807070707" pitchFamily="18" charset="2"/>
              </a:rPr>
              <a:t>wv</a:t>
            </a:r>
            <a:r>
              <a:rPr lang="en-US" b="1" baseline="-16000" dirty="0" err="1">
                <a:latin typeface="Century Gothic" panose="020B0502020202020204" pitchFamily="34" charset="0"/>
              </a:rPr>
              <a:t>Staff.branchNo</a:t>
            </a:r>
            <a:r>
              <a:rPr lang="en-US" b="1" baseline="-16000" dirty="0">
                <a:latin typeface="Century Gothic" panose="020B0502020202020204" pitchFamily="34" charset="0"/>
              </a:rPr>
              <a:t> = </a:t>
            </a:r>
            <a:r>
              <a:rPr lang="en-US" b="1" baseline="-16000" dirty="0" err="1">
                <a:latin typeface="Century Gothic" panose="020B0502020202020204" pitchFamily="34" charset="0"/>
              </a:rPr>
              <a:t>Branch.branchNo</a:t>
            </a:r>
            <a:r>
              <a:rPr lang="en-US" b="1" dirty="0"/>
              <a:t> </a:t>
            </a:r>
          </a:p>
          <a:p>
            <a:pPr marL="0" indent="0">
              <a:buNone/>
              <a:defRPr/>
            </a:pPr>
            <a:r>
              <a:rPr lang="en-US" b="1" dirty="0"/>
              <a:t>[ </a:t>
            </a:r>
            <a:r>
              <a:rPr lang="en-US" b="1" dirty="0">
                <a:latin typeface="Symbol" panose="05050102010706020507" pitchFamily="18" charset="2"/>
              </a:rPr>
              <a:t>s</a:t>
            </a:r>
            <a:r>
              <a:rPr lang="en-US" b="1" baseline="-16000" dirty="0">
                <a:latin typeface="Century Gothic" panose="020B0502020202020204" pitchFamily="34" charset="0"/>
              </a:rPr>
              <a:t>(city=‘London’) </a:t>
            </a:r>
            <a:r>
              <a:rPr lang="en-US" b="1" dirty="0">
                <a:latin typeface="Century Gothic" panose="020B0502020202020204" pitchFamily="34" charset="0"/>
              </a:rPr>
              <a:t>(Branch) ]</a:t>
            </a:r>
            <a:endParaRPr lang="en-US" b="1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en-US" sz="1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/>
              <a:t>Read </a:t>
            </a:r>
            <a:r>
              <a:rPr lang="en-US" sz="2000" i="1" dirty="0"/>
              <a:t>Staff </a:t>
            </a:r>
            <a:r>
              <a:rPr lang="en-US" sz="2000" dirty="0"/>
              <a:t>relation to determine ‘Managers’ (1000 reads)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dirty="0"/>
              <a:t>Create 50 tuple relation(50 writes)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/>
              <a:t>Read </a:t>
            </a:r>
            <a:r>
              <a:rPr lang="en-US" sz="2000" i="1" dirty="0"/>
              <a:t>Branch </a:t>
            </a:r>
            <a:r>
              <a:rPr lang="en-US" sz="2000" dirty="0"/>
              <a:t>relation to determine ‘London’ branches (50 reads)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dirty="0"/>
              <a:t>Create 5 tuple relation(5 writes)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/>
              <a:t>Join reduced relations and check predicate (50 + 5 reads)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b="1" dirty="0"/>
              <a:t>Total Work = 1000 + 2*(50) + 5 + (50 + 5) = 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b="1" dirty="0"/>
              <a:t>1160 I/O operations</a:t>
            </a:r>
          </a:p>
          <a:p>
            <a:pPr marL="0" indent="0" algn="ctr">
              <a:lnSpc>
                <a:spcPct val="80000"/>
              </a:lnSpc>
              <a:buNone/>
              <a:defRPr/>
            </a:pPr>
            <a:endParaRPr lang="en-US" sz="2000" b="1" dirty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b="1" dirty="0"/>
              <a:t>8700% Improvement over Query 1</a:t>
            </a:r>
            <a:endParaRPr lang="en-US" sz="2000" dirty="0"/>
          </a:p>
          <a:p>
            <a:pPr algn="ctr"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algn="ctr"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8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723903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0BAF109-05E7-47FA-AFC2-61314749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D5560CC-5CA6-47D0-88D1-791ABC12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81001-0A28-4A33-AF3F-55FBAD61B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2E9A-37CF-44AC-A754-8C9D429CD361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1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705729"/>
          </a:xfrm>
        </p:spPr>
        <p:txBody>
          <a:bodyPr/>
          <a:lstStyle/>
          <a:p>
            <a:pPr>
              <a:defRPr/>
            </a:pPr>
            <a:r>
              <a:rPr lang="en-US" b="1" dirty="0"/>
              <a:t>Query Optimization </a:t>
            </a:r>
            <a:endParaRPr lang="en-US" dirty="0"/>
          </a:p>
        </p:txBody>
      </p:sp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>
          <a:xfrm>
            <a:off x="371062" y="858129"/>
            <a:ext cx="11600544" cy="5615697"/>
          </a:xfrm>
        </p:spPr>
        <p:txBody>
          <a:bodyPr>
            <a:normAutofit/>
          </a:bodyPr>
          <a:lstStyle/>
          <a:p>
            <a:r>
              <a:rPr lang="en-US" sz="2400" dirty="0"/>
              <a:t>What is wrong with the ordinary query? </a:t>
            </a:r>
          </a:p>
          <a:p>
            <a:r>
              <a:rPr lang="en-US" sz="2400" dirty="0"/>
              <a:t>Everyone wants the performance of their database to be optimal. </a:t>
            </a:r>
          </a:p>
          <a:p>
            <a:r>
              <a:rPr lang="en-US" sz="2400" dirty="0"/>
              <a:t>In particular, there is often a requirement for a specific query or object that is query based, to run faster. </a:t>
            </a:r>
          </a:p>
          <a:p>
            <a:r>
              <a:rPr lang="en-US" sz="2400" dirty="0"/>
              <a:t>Problem of query optimization is to find the sequence of steps that produces the answer to user request in the most efficient manner, given the database structure.  </a:t>
            </a:r>
          </a:p>
          <a:p>
            <a:r>
              <a:rPr lang="en-US" sz="2400" dirty="0"/>
              <a:t>The performance of a query is affected by the tables or queries that underlies the query and by the complexity of the query. </a:t>
            </a:r>
          </a:p>
          <a:p>
            <a:r>
              <a:rPr lang="en-US" sz="2400" dirty="0"/>
              <a:t>When data/workload characteristics change </a:t>
            </a:r>
          </a:p>
          <a:p>
            <a:pPr lvl="1"/>
            <a:r>
              <a:rPr lang="en-US" dirty="0"/>
              <a:t>The best navigation strategy changes </a:t>
            </a:r>
          </a:p>
          <a:p>
            <a:pPr lvl="1"/>
            <a:r>
              <a:rPr lang="en-US" dirty="0"/>
              <a:t>The best way of organizing the data changes </a:t>
            </a:r>
          </a:p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36ED7D1-CBDF-4121-8C3A-2EC8D6B7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7A061D2-4034-48C9-B1F3-FFDEF8C5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8892208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D9A0C-3B03-454F-8870-19CB2A89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7142-24B5-4538-B384-8A2E510A138A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6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sz="quarter" idx="1"/>
          </p:nvPr>
        </p:nvSpPr>
        <p:spPr>
          <a:xfrm>
            <a:off x="337625" y="1066800"/>
            <a:ext cx="11605845" cy="5410200"/>
          </a:xfrm>
        </p:spPr>
        <p:txBody>
          <a:bodyPr>
            <a:noAutofit/>
          </a:bodyPr>
          <a:lstStyle/>
          <a:p>
            <a:r>
              <a:rPr lang="en-US" sz="2500" dirty="0"/>
              <a:t>Query optimizers are one of the main means by which modern database systems achieve their performance advantages.</a:t>
            </a:r>
          </a:p>
          <a:p>
            <a:r>
              <a:rPr lang="en-US" sz="2500" dirty="0"/>
              <a:t>Given a request for data manipulation or retrieval, </a:t>
            </a:r>
            <a:r>
              <a:rPr lang="en-US" sz="2500" b="1" dirty="0"/>
              <a:t>an optimizer will choose an optimal plan for evaluating the request from among the many alternative strategies.</a:t>
            </a:r>
            <a:r>
              <a:rPr lang="en-US" sz="2500" dirty="0"/>
              <a:t> </a:t>
            </a:r>
          </a:p>
          <a:p>
            <a:pPr lvl="1"/>
            <a:r>
              <a:rPr lang="en-US" sz="2500" dirty="0"/>
              <a:t>i.e. there are many ways (access paths) for accessing desired file/record. </a:t>
            </a:r>
          </a:p>
          <a:p>
            <a:r>
              <a:rPr lang="en-US" sz="2500" dirty="0"/>
              <a:t>The optimizer tries to select the most efficient (cheapest) access path for accessing the data. </a:t>
            </a:r>
          </a:p>
          <a:p>
            <a:r>
              <a:rPr lang="en-US" sz="2500" dirty="0"/>
              <a:t>DBMS is responsible to pick the best execution strategy based various considerations. </a:t>
            </a:r>
          </a:p>
          <a:p>
            <a:r>
              <a:rPr lang="en-US" sz="2500" dirty="0"/>
              <a:t>Query optimizers were already among the largest and most complex modules of database systems. </a:t>
            </a:r>
          </a:p>
          <a:p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BC2E7-9A53-4D19-9FE2-AE5134A4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D35D-2225-4F77-B22B-AC07074CF658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5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1804988" y="1066800"/>
            <a:ext cx="8153400" cy="5562600"/>
          </a:xfrm>
        </p:spPr>
        <p:txBody>
          <a:bodyPr/>
          <a:lstStyle/>
          <a:p>
            <a:r>
              <a:rPr lang="en-US" sz="2000" b="1"/>
              <a:t>Most efficient processing</a:t>
            </a:r>
            <a:r>
              <a:rPr lang="en-US" sz="2000"/>
              <a:t>: Least amount of I/O and CPU resources. </a:t>
            </a:r>
          </a:p>
          <a:p>
            <a:r>
              <a:rPr lang="en-US" sz="2000" b="1"/>
              <a:t>Selection of the best method</a:t>
            </a:r>
            <a:r>
              <a:rPr lang="en-US" sz="2000"/>
              <a:t>: In a non-procedural language the system does the optimization at the time of execution. </a:t>
            </a:r>
          </a:p>
          <a:p>
            <a:pPr lvl="1"/>
            <a:r>
              <a:rPr lang="en-US" sz="2000"/>
              <a:t>For optimizing the execution of a query the programmer must know: </a:t>
            </a:r>
          </a:p>
          <a:p>
            <a:pPr lvl="2"/>
            <a:r>
              <a:rPr lang="en-US" sz="1600"/>
              <a:t>File organization </a:t>
            </a:r>
          </a:p>
          <a:p>
            <a:pPr lvl="2"/>
            <a:r>
              <a:rPr lang="en-US" sz="1600"/>
              <a:t>Record access mechanism and primary or secondary key. </a:t>
            </a:r>
          </a:p>
          <a:p>
            <a:pPr lvl="2"/>
            <a:r>
              <a:rPr lang="en-US" sz="1600"/>
              <a:t>Data location on disk. </a:t>
            </a:r>
          </a:p>
          <a:p>
            <a:pPr lvl="2"/>
            <a:r>
              <a:rPr lang="en-US" sz="1600"/>
              <a:t>Data access limitations. </a:t>
            </a:r>
          </a:p>
          <a:p>
            <a:r>
              <a:rPr lang="en-US" sz="2000"/>
              <a:t>To write correct code, application programmers need to know how data is organized physically (e.g., which indexes exist) </a:t>
            </a:r>
          </a:p>
          <a:p>
            <a:r>
              <a:rPr lang="en-US" sz="2000"/>
              <a:t>To write efficient code, application programmers also need to worry about data/workload characteristics  </a:t>
            </a:r>
          </a:p>
          <a:p>
            <a:r>
              <a:rPr lang="en-US" sz="2000"/>
              <a:t>One has to cope with change! (Real time changes hence, preferable to give the responsibility of optimization to the DBMS). </a:t>
            </a:r>
          </a:p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12191998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BE1BE45-73F3-4176-B625-66F3D3EE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9AC2BE0-996A-46EC-88E0-E25FF101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D0F7F-6903-4DC2-926F-CFDF8628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41C7-2C02-4D9C-8C72-7E6A343BDF6E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8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33046" y="1084006"/>
            <a:ext cx="9717864" cy="5867400"/>
          </a:xfrm>
        </p:spPr>
        <p:txBody>
          <a:bodyPr/>
          <a:lstStyle/>
          <a:p>
            <a:pPr>
              <a:defRPr/>
            </a:pPr>
            <a:r>
              <a:rPr lang="en-US" sz="2000" b="1" dirty="0"/>
              <a:t>Example</a:t>
            </a:r>
            <a:r>
              <a:rPr lang="en-US" sz="2000" dirty="0"/>
              <a:t>: Consider relations </a:t>
            </a:r>
            <a:r>
              <a:rPr lang="en-US" sz="2000" i="1" dirty="0"/>
              <a:t>r(AB) </a:t>
            </a:r>
            <a:r>
              <a:rPr lang="en-US" sz="2000" dirty="0"/>
              <a:t>and </a:t>
            </a:r>
            <a:r>
              <a:rPr lang="en-US" sz="2000" i="1" dirty="0"/>
              <a:t>s(CD)</a:t>
            </a:r>
            <a:r>
              <a:rPr lang="en-US" sz="2000" dirty="0"/>
              <a:t>. We require </a:t>
            </a:r>
            <a:r>
              <a:rPr lang="en-US" sz="2000" i="1" dirty="0"/>
              <a:t>r X s</a:t>
            </a:r>
            <a:r>
              <a:rPr lang="en-US" sz="2000" dirty="0"/>
              <a:t>. </a:t>
            </a:r>
          </a:p>
          <a:p>
            <a:pPr>
              <a:defRPr/>
            </a:pPr>
            <a:r>
              <a:rPr lang="en-US" sz="2000" b="1" dirty="0"/>
              <a:t>Method 1 </a:t>
            </a:r>
            <a:endParaRPr lang="en-US" sz="2000" dirty="0"/>
          </a:p>
          <a:p>
            <a:pPr marL="709613" lvl="1" indent="-342900">
              <a:buFont typeface="+mj-lt"/>
              <a:buAutoNum type="alphaLcParenR"/>
              <a:defRPr/>
            </a:pPr>
            <a:r>
              <a:rPr lang="en-US" sz="1800" dirty="0"/>
              <a:t>Load next record of </a:t>
            </a:r>
            <a:r>
              <a:rPr lang="en-US" sz="1800" i="1" dirty="0"/>
              <a:t>r </a:t>
            </a:r>
            <a:r>
              <a:rPr lang="en-US" sz="1800" dirty="0"/>
              <a:t>in RAM. </a:t>
            </a:r>
          </a:p>
          <a:p>
            <a:pPr marL="709613" lvl="1" indent="-342900">
              <a:buFont typeface="+mj-lt"/>
              <a:buAutoNum type="alphaLcParenR"/>
              <a:defRPr/>
            </a:pPr>
            <a:r>
              <a:rPr lang="en-US" sz="1800" dirty="0"/>
              <a:t>Load all records of </a:t>
            </a:r>
            <a:r>
              <a:rPr lang="en-US" sz="1800" i="1" dirty="0"/>
              <a:t>s</a:t>
            </a:r>
            <a:r>
              <a:rPr lang="en-US" sz="1800" dirty="0"/>
              <a:t>, one at a time and concatenate with </a:t>
            </a:r>
            <a:r>
              <a:rPr lang="en-US" sz="1800" i="1" dirty="0"/>
              <a:t>r</a:t>
            </a:r>
            <a:r>
              <a:rPr lang="en-US" sz="1800" dirty="0"/>
              <a:t>. </a:t>
            </a:r>
          </a:p>
          <a:p>
            <a:pPr marL="709613" lvl="1" indent="-342900">
              <a:buFont typeface="+mj-lt"/>
              <a:buAutoNum type="alphaLcParenR"/>
              <a:defRPr/>
            </a:pPr>
            <a:r>
              <a:rPr lang="en-US" sz="1800" dirty="0"/>
              <a:t>All records of </a:t>
            </a:r>
            <a:r>
              <a:rPr lang="en-US" sz="1800" i="1" dirty="0"/>
              <a:t>r </a:t>
            </a:r>
            <a:r>
              <a:rPr lang="en-US" sz="1800" dirty="0"/>
              <a:t>concatenated? </a:t>
            </a:r>
          </a:p>
          <a:p>
            <a:pPr lvl="2">
              <a:defRPr/>
            </a:pPr>
            <a:r>
              <a:rPr lang="en-US" sz="1600" dirty="0"/>
              <a:t>NO: </a:t>
            </a:r>
            <a:r>
              <a:rPr lang="en-US" sz="1600" dirty="0" err="1"/>
              <a:t>goto</a:t>
            </a:r>
            <a:r>
              <a:rPr lang="en-US" sz="1600" dirty="0"/>
              <a:t> a. </a:t>
            </a:r>
          </a:p>
          <a:p>
            <a:pPr lvl="2">
              <a:defRPr/>
            </a:pPr>
            <a:r>
              <a:rPr lang="en-US" sz="1600" dirty="0"/>
              <a:t>YES: exit (the result in RAM or on disk). </a:t>
            </a:r>
          </a:p>
          <a:p>
            <a:pPr>
              <a:defRPr/>
            </a:pPr>
            <a:r>
              <a:rPr lang="en-US" sz="2000" b="1" dirty="0"/>
              <a:t>Performance</a:t>
            </a:r>
            <a:r>
              <a:rPr lang="en-US" sz="2000" dirty="0"/>
              <a:t>: Too many accesses. </a:t>
            </a:r>
          </a:p>
          <a:p>
            <a:pPr>
              <a:defRPr/>
            </a:pPr>
            <a:r>
              <a:rPr lang="en-US" sz="2000" b="1" dirty="0"/>
              <a:t>Method 2: Improvement </a:t>
            </a:r>
            <a:endParaRPr lang="en-US" sz="2000" dirty="0"/>
          </a:p>
          <a:p>
            <a:pPr marL="709613" lvl="1" indent="-342900">
              <a:buFont typeface="+mj-lt"/>
              <a:buAutoNum type="alphaLcParenR"/>
              <a:defRPr/>
            </a:pPr>
            <a:r>
              <a:rPr lang="en-US" sz="1600" dirty="0"/>
              <a:t>Load as many blocks of </a:t>
            </a:r>
            <a:r>
              <a:rPr lang="en-US" sz="1600" i="1" dirty="0"/>
              <a:t>r </a:t>
            </a:r>
            <a:r>
              <a:rPr lang="en-US" sz="1600" dirty="0"/>
              <a:t>as possible leaving room for one block of </a:t>
            </a:r>
            <a:r>
              <a:rPr lang="en-US" sz="1600" i="1" dirty="0"/>
              <a:t>s</a:t>
            </a:r>
            <a:r>
              <a:rPr lang="en-US" sz="1600" dirty="0"/>
              <a:t>. </a:t>
            </a:r>
          </a:p>
          <a:p>
            <a:pPr marL="709613" lvl="1" indent="-342900">
              <a:buFont typeface="+mj-lt"/>
              <a:buAutoNum type="alphaLcParenR"/>
              <a:defRPr/>
            </a:pPr>
            <a:r>
              <a:rPr lang="en-US" sz="1600" dirty="0"/>
              <a:t>Run through the </a:t>
            </a:r>
            <a:r>
              <a:rPr lang="en-US" sz="1600" i="1" dirty="0"/>
              <a:t>s </a:t>
            </a:r>
            <a:r>
              <a:rPr lang="en-US" sz="1600" dirty="0"/>
              <a:t>file completely one block at a time. </a:t>
            </a:r>
          </a:p>
          <a:p>
            <a:pPr>
              <a:defRPr/>
            </a:pPr>
            <a:r>
              <a:rPr lang="en-US" sz="2000" b="1" dirty="0"/>
              <a:t>Performance</a:t>
            </a:r>
            <a:r>
              <a:rPr lang="en-US" sz="2000" dirty="0"/>
              <a:t>: Reduces the number of times s blocks are loaded by a factor of equal to the number of r records than can fit in main memory.</a:t>
            </a:r>
          </a:p>
          <a:p>
            <a:pPr>
              <a:defRPr/>
            </a:pPr>
            <a:r>
              <a:rPr lang="en-US" sz="1600" dirty="0"/>
              <a:t>Considerations during query Optimization: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600" dirty="0"/>
              <a:t>Narrow down intermediate result sets quickly. SELECT before JOIN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Use access structures (indexes).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691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1E6B344-8FD9-4936-8007-A305173E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7F587C4-E0F6-4655-AC64-3EA8F8F1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9B799-9785-462E-9908-B113015C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569612"/>
            <a:ext cx="2120347" cy="151863"/>
          </a:xfrm>
        </p:spPr>
        <p:txBody>
          <a:bodyPr/>
          <a:lstStyle/>
          <a:p>
            <a:fld id="{CB0FE7A6-8790-48EC-ACBF-4709B02085AF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6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447" y="152400"/>
            <a:ext cx="12215445" cy="99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/>
              <a:t>Approaches to Query Optimization </a:t>
            </a:r>
            <a:endParaRPr lang="en-US" dirty="0"/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1"/>
          </p:nvPr>
        </p:nvSpPr>
        <p:spPr>
          <a:xfrm>
            <a:off x="590843" y="1143001"/>
            <a:ext cx="10986867" cy="5330825"/>
          </a:xfrm>
        </p:spPr>
        <p:txBody>
          <a:bodyPr>
            <a:normAutofit lnSpcReduction="10000"/>
          </a:bodyPr>
          <a:lstStyle/>
          <a:p>
            <a:r>
              <a:rPr lang="en-US" sz="4000" b="1" dirty="0"/>
              <a:t>Heuristics Approach </a:t>
            </a:r>
            <a:endParaRPr lang="en-US" sz="2800" dirty="0"/>
          </a:p>
          <a:p>
            <a:pPr lvl="1"/>
            <a:r>
              <a:rPr lang="en-US" sz="3200" dirty="0"/>
              <a:t>Uses the knowledge of the characteristics of the relational algebra operations and the relationship between the operators to optimize the query. </a:t>
            </a:r>
            <a:endParaRPr lang="en-US" sz="2400" dirty="0"/>
          </a:p>
          <a:p>
            <a:pPr lvl="1"/>
            <a:r>
              <a:rPr lang="en-US" sz="3200" dirty="0"/>
              <a:t>Thus the heuristic approach of optimization will make use of: </a:t>
            </a:r>
            <a:endParaRPr lang="en-US" sz="24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1" dirty="0"/>
              <a:t>Properties of individual operators</a:t>
            </a:r>
            <a:endParaRPr lang="en-US" sz="2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1" dirty="0"/>
              <a:t>Association between operators </a:t>
            </a:r>
            <a:endParaRPr lang="en-US" sz="2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1" dirty="0"/>
              <a:t>Query Tree</a:t>
            </a:r>
            <a:r>
              <a:rPr lang="en-US" sz="3200" dirty="0"/>
              <a:t>: a graphical representation of the operators, relations, attributes and predicates and processing sequence during query processing.   </a:t>
            </a:r>
            <a:endParaRPr lang="en-US" sz="2800" dirty="0"/>
          </a:p>
          <a:p>
            <a:endParaRPr lang="en-US" sz="40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7310FF8-B22E-4EA3-B7E3-205768A2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19D5160-4884-46B1-BC0D-531DEF35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39548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>
          <a:xfrm>
            <a:off x="651164" y="1066801"/>
            <a:ext cx="11291454" cy="5559425"/>
          </a:xfrm>
        </p:spPr>
        <p:txBody>
          <a:bodyPr>
            <a:normAutofit/>
          </a:bodyPr>
          <a:lstStyle/>
          <a:p>
            <a:r>
              <a:rPr lang="en-US" sz="2800" dirty="0"/>
              <a:t>Query tree is composed of three main parts: </a:t>
            </a:r>
            <a:endParaRPr lang="en-US" sz="2400" dirty="0"/>
          </a:p>
          <a:p>
            <a:pPr lvl="2"/>
            <a:r>
              <a:rPr lang="en-US" b="1" dirty="0"/>
              <a:t>The Leafs</a:t>
            </a:r>
            <a:r>
              <a:rPr lang="en-US" dirty="0"/>
              <a:t>: the base relations used for processing the query/ extracting the required information </a:t>
            </a:r>
          </a:p>
          <a:p>
            <a:pPr lvl="2"/>
            <a:r>
              <a:rPr lang="en-US" b="1" dirty="0"/>
              <a:t>The Root</a:t>
            </a:r>
            <a:r>
              <a:rPr lang="en-US" dirty="0"/>
              <a:t>: the final result/relation as an output based on the operation on the relations used for query processing </a:t>
            </a:r>
          </a:p>
          <a:p>
            <a:pPr lvl="2"/>
            <a:r>
              <a:rPr lang="en-US" b="1" dirty="0"/>
              <a:t>Nodes</a:t>
            </a:r>
            <a:r>
              <a:rPr lang="en-US" dirty="0"/>
              <a:t>: intermediate results or relations before reaching the final result. </a:t>
            </a:r>
          </a:p>
          <a:p>
            <a:r>
              <a:rPr lang="en-US" sz="2400" dirty="0"/>
              <a:t>Sequence of execution of operation in a query tree will start from the leaves and continues to the intermediate nodes and ends at the root. </a:t>
            </a:r>
            <a:endParaRPr lang="en-US" sz="2000" dirty="0"/>
          </a:p>
          <a:p>
            <a:r>
              <a:rPr lang="en-US" sz="2400" dirty="0"/>
              <a:t>The properties of each operations and the association between operators is analyzed using set of rules called </a:t>
            </a:r>
            <a:r>
              <a:rPr lang="en-US" sz="2400" b="1" dirty="0"/>
              <a:t>TRANSFORMATION RULES</a:t>
            </a:r>
            <a:r>
              <a:rPr lang="en-US" sz="2400" dirty="0"/>
              <a:t>. </a:t>
            </a:r>
          </a:p>
          <a:p>
            <a:r>
              <a:rPr lang="en-US" sz="2400" dirty="0"/>
              <a:t>Use of the transformation rules will transform the query to relatively good execution strategy. </a:t>
            </a:r>
            <a:endParaRPr lang="en-US" sz="2000" dirty="0"/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82DF6DF-3CA8-4F68-A630-752BCAF6B3B6}"/>
              </a:ext>
            </a:extLst>
          </p:cNvPr>
          <p:cNvSpPr txBox="1">
            <a:spLocks/>
          </p:cNvSpPr>
          <p:nvPr/>
        </p:nvSpPr>
        <p:spPr>
          <a:xfrm>
            <a:off x="8892209" y="6400800"/>
            <a:ext cx="3299790" cy="457200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D1CE2B0-4221-4CC4-86A6-020C3A34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163051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189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Transformation Rules for Relational Algebra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41871" y="1195848"/>
            <a:ext cx="9879067" cy="5486400"/>
          </a:xfrm>
        </p:spPr>
        <p:txBody>
          <a:bodyPr/>
          <a:lstStyle/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1.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Cascade of SELECTION: conjunctive SELECTION Operations can cascade into individual Selection Operations and Vice Versa 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  	</a:t>
            </a: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 (c1ʌc2ʌc3) (R)= c1(c2(c3(R)) 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where ci is a predicate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2.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entury Schoolbook"/>
              </a:rPr>
              <a:t>Commutativity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of SELECTION operations 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	</a:t>
            </a: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c1(c2(R))= c2(c1(R)) 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where ci is a predicate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3.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Cascade of PROJECTION: in the sequence of PROJECTION Operations, only the last in the sequence is required 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	</a:t>
            </a:r>
            <a:r>
              <a:rPr lang="en-US" sz="2400" b="1" dirty="0">
                <a:solidFill>
                  <a:prstClr val="black"/>
                </a:solidFill>
                <a:latin typeface="Book Antiqua" panose="02040602050305030304" pitchFamily="18" charset="0"/>
              </a:rPr>
              <a:t>L1 L2 L3 L4(R) = L1(R)  </a:t>
            </a:r>
            <a:endParaRPr lang="en-US" sz="2000" b="1" dirty="0">
              <a:solidFill>
                <a:prstClr val="black"/>
              </a:solidFill>
              <a:latin typeface="Book Antiqua" panose="02040602050305030304" pitchFamily="18" charset="0"/>
            </a:endParaRP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000" b="1" dirty="0">
                <a:solidFill>
                  <a:prstClr val="black"/>
                </a:solidFill>
                <a:latin typeface="Century Schoolbook"/>
              </a:rPr>
              <a:t>4.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entury Schoolbook"/>
              </a:rPr>
              <a:t>Commutativity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of SELECTION with PROJECTION and Vise Versa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1700" dirty="0">
                <a:solidFill>
                  <a:prstClr val="black"/>
                </a:solidFill>
                <a:latin typeface="Century Schoolbook"/>
              </a:rPr>
              <a:t>If the predicate c1 involves only the attributes in the projection list (L1), then the selection and projection operations commute 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400" b="1" dirty="0">
                <a:solidFill>
                  <a:prstClr val="black"/>
                </a:solidFill>
                <a:latin typeface="Book Antiqua" panose="02040602050305030304" pitchFamily="18" charset="0"/>
              </a:rPr>
              <a:t>                &lt;a1,a2..an&gt;(c1(R))=c1(&lt;a1,a2,,,,an&gt;(R))       </a:t>
            </a:r>
            <a:r>
              <a:rPr lang="en-US" sz="2000" dirty="0">
                <a:solidFill>
                  <a:prstClr val="black"/>
                </a:solidFill>
                <a:latin typeface="Century Schoolbook"/>
              </a:rPr>
              <a:t> 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Century Schoolbook"/>
              </a:rPr>
              <a:t>		Where c1€{a1,a2…an} </a:t>
            </a:r>
          </a:p>
          <a:p>
            <a:pPr marL="0" indent="0">
              <a:buNone/>
              <a:defRPr/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356349"/>
            <a:ext cx="6414052" cy="365125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6544E-F0C7-41FD-BD62-AA60DD6E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37E58-5F23-4169-977F-83E9A719F331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6437" y="1143001"/>
            <a:ext cx="11254153" cy="5330825"/>
          </a:xfrm>
        </p:spPr>
        <p:txBody>
          <a:bodyPr/>
          <a:lstStyle/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400" b="1" dirty="0">
                <a:solidFill>
                  <a:prstClr val="black"/>
                </a:solidFill>
                <a:latin typeface="Century Schoolbook"/>
              </a:rPr>
              <a:t>5.</a:t>
            </a:r>
            <a:r>
              <a:rPr lang="en-US" sz="24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entury Schoolbook"/>
              </a:rPr>
              <a:t>Commutativity</a:t>
            </a:r>
            <a:r>
              <a:rPr lang="en-US" sz="2400" dirty="0">
                <a:solidFill>
                  <a:prstClr val="black"/>
                </a:solidFill>
                <a:latin typeface="Century Schoolbook"/>
              </a:rPr>
              <a:t> of THETA JOIN/Cartesian Product 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  <a:defRPr/>
            </a:pPr>
            <a:r>
              <a:rPr lang="en-US" sz="2400" dirty="0">
                <a:solidFill>
                  <a:prstClr val="black"/>
                </a:solidFill>
                <a:latin typeface="Century Schoolbook"/>
              </a:rPr>
              <a:t>	R X S is equivalent to S X R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2100" dirty="0">
                <a:solidFill>
                  <a:prstClr val="black"/>
                </a:solidFill>
                <a:latin typeface="Century Schoolbook"/>
              </a:rPr>
              <a:t>Also holds for </a:t>
            </a:r>
            <a:r>
              <a:rPr lang="en-US" sz="2100" dirty="0" err="1">
                <a:solidFill>
                  <a:prstClr val="black"/>
                </a:solidFill>
                <a:latin typeface="Century Schoolbook"/>
              </a:rPr>
              <a:t>Equi</a:t>
            </a:r>
            <a:r>
              <a:rPr lang="en-US" sz="2100" dirty="0">
                <a:solidFill>
                  <a:prstClr val="black"/>
                </a:solidFill>
                <a:latin typeface="Century Schoolbook"/>
              </a:rPr>
              <a:t>-Join and Natural-Join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endParaRPr lang="en-US" sz="2400" dirty="0">
              <a:solidFill>
                <a:prstClr val="black"/>
              </a:solidFill>
              <a:latin typeface="Century Schoolbook"/>
            </a:endParaRP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endParaRPr lang="en-US" sz="2400" dirty="0">
              <a:solidFill>
                <a:prstClr val="black"/>
              </a:solidFill>
              <a:latin typeface="Century Schoolbook"/>
            </a:endParaRP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lang="en-US" sz="2400" b="1" dirty="0">
                <a:solidFill>
                  <a:prstClr val="black"/>
                </a:solidFill>
                <a:latin typeface="Century Schoolbook"/>
              </a:rPr>
              <a:t>6.</a:t>
            </a:r>
            <a:r>
              <a:rPr lang="en-US" sz="24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entury Schoolbook"/>
              </a:rPr>
              <a:t>Commutativity</a:t>
            </a:r>
            <a:r>
              <a:rPr lang="en-US" sz="2400" dirty="0">
                <a:solidFill>
                  <a:prstClr val="black"/>
                </a:solidFill>
                <a:latin typeface="Century Schoolbook"/>
              </a:rPr>
              <a:t> of SELECTION with THETA JOIN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2100" dirty="0">
                <a:solidFill>
                  <a:prstClr val="black"/>
                </a:solidFill>
                <a:latin typeface="Century Schoolbook"/>
              </a:rPr>
              <a:t>a. If the predicate c1 involves only attributes of one of the relations (R) being joined, then the Selection and Join operations commute </a:t>
            </a: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lang="en-US" sz="2100" dirty="0">
              <a:solidFill>
                <a:prstClr val="black"/>
              </a:solidFill>
              <a:latin typeface="Century Schoolbook"/>
            </a:endParaRP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lang="en-US" sz="2100" dirty="0">
              <a:solidFill>
                <a:prstClr val="black"/>
              </a:solidFill>
              <a:latin typeface="Century Schoolbook"/>
            </a:endParaRPr>
          </a:p>
          <a:p>
            <a:pPr marL="639763" lvl="1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8637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lang="en-US" sz="2100" dirty="0">
                <a:solidFill>
                  <a:prstClr val="black"/>
                </a:solidFill>
                <a:latin typeface="Century Schoolbook"/>
              </a:rPr>
              <a:t>b. If the predicate is in the form c1 ʌ c2 and c1 involves only attributes of  R and c2 involves only attributes of S, then the Selection and Theta Join operations commute 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33797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4" y="2503489"/>
            <a:ext cx="6402387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791" y="4252914"/>
            <a:ext cx="67056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791" y="6303169"/>
            <a:ext cx="835501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0" y="152400"/>
            <a:ext cx="11760590" cy="9144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70C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bIns="91440" anchor="b" anchorCtr="0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000" b="1" kern="120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/>
              <a:t>…CON’T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D0B86A5-1B3F-49E8-8BDD-9215F09C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42365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5F9D451A-02F1-4C67-A43D-36EE263A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4CB2A9-A68C-46EC-BAC3-56C5B01B0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7478" y="5622922"/>
            <a:ext cx="4673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2"/>
          <p:cNvSpPr>
            <a:spLocks noGrp="1"/>
          </p:cNvSpPr>
          <p:nvPr>
            <p:ph sz="quarter" idx="1"/>
          </p:nvPr>
        </p:nvSpPr>
        <p:spPr>
          <a:xfrm>
            <a:off x="480647" y="1041899"/>
            <a:ext cx="10030190" cy="5330825"/>
          </a:xfrm>
        </p:spPr>
        <p:txBody>
          <a:bodyPr>
            <a:noAutofit/>
          </a:bodyPr>
          <a:lstStyle/>
          <a:p>
            <a:r>
              <a:rPr lang="en-US" sz="2200" b="1" dirty="0"/>
              <a:t>7.</a:t>
            </a:r>
            <a:r>
              <a:rPr lang="en-US" sz="2200" dirty="0"/>
              <a:t> </a:t>
            </a:r>
            <a:r>
              <a:rPr lang="en-US" sz="2200" dirty="0" err="1"/>
              <a:t>Commutativity</a:t>
            </a:r>
            <a:r>
              <a:rPr lang="en-US" sz="2200" dirty="0"/>
              <a:t> of PROJECTION and THETA JOIN </a:t>
            </a:r>
          </a:p>
          <a:p>
            <a:r>
              <a:rPr lang="en-US" sz="2200" dirty="0"/>
              <a:t>If the projection list is of the form </a:t>
            </a:r>
            <a:r>
              <a:rPr lang="en-US" sz="2200" b="1" i="1" dirty="0"/>
              <a:t>L1, L2</a:t>
            </a:r>
            <a:r>
              <a:rPr lang="en-US" sz="2200" dirty="0"/>
              <a:t>, where </a:t>
            </a:r>
            <a:r>
              <a:rPr lang="en-US" sz="2200" b="1" i="1" dirty="0"/>
              <a:t>L1</a:t>
            </a:r>
            <a:r>
              <a:rPr lang="en-US" sz="2200" dirty="0"/>
              <a:t> involves only attributes of R and </a:t>
            </a:r>
            <a:r>
              <a:rPr lang="en-US" sz="2200" b="1" i="1" dirty="0"/>
              <a:t>L2</a:t>
            </a:r>
            <a:r>
              <a:rPr lang="en-US" sz="2200" dirty="0"/>
              <a:t> involves only attributes of S being joined and the predicate </a:t>
            </a:r>
            <a:r>
              <a:rPr lang="en-US" sz="2200" b="1" i="1" dirty="0"/>
              <a:t>c</a:t>
            </a:r>
            <a:r>
              <a:rPr lang="en-US" sz="2200" dirty="0"/>
              <a:t> involves only attributes in the projection list, then the PROJECTION and JOIN operations commute as:</a:t>
            </a:r>
          </a:p>
          <a:p>
            <a:endParaRPr lang="en-US" sz="2200" dirty="0"/>
          </a:p>
          <a:p>
            <a:r>
              <a:rPr lang="en-US" sz="2200" dirty="0"/>
              <a:t>However  if the join condition c contains additional attributes not in projection  list L=L</a:t>
            </a:r>
            <a:r>
              <a:rPr lang="en-US" sz="2200" baseline="-25000" dirty="0"/>
              <a:t>1</a:t>
            </a:r>
            <a:r>
              <a:rPr lang="en-US" sz="2200" dirty="0"/>
              <a:t> U L</a:t>
            </a:r>
            <a:r>
              <a:rPr lang="en-US" sz="2200" baseline="-25000" dirty="0"/>
              <a:t>2</a:t>
            </a:r>
            <a:r>
              <a:rPr lang="en-US" sz="2200" dirty="0"/>
              <a:t> , say M=M</a:t>
            </a:r>
            <a:r>
              <a:rPr lang="en-US" sz="2200" baseline="-25000" dirty="0"/>
              <a:t>1</a:t>
            </a:r>
            <a:r>
              <a:rPr lang="en-US" sz="2200" dirty="0"/>
              <a:t>U M</a:t>
            </a:r>
            <a:r>
              <a:rPr lang="en-US" sz="2200" baseline="-25000" dirty="0"/>
              <a:t>2  </a:t>
            </a:r>
            <a:r>
              <a:rPr lang="en-US" sz="2200" dirty="0"/>
              <a:t>where M</a:t>
            </a:r>
            <a:r>
              <a:rPr lang="en-US" sz="2200" baseline="-25000" dirty="0"/>
              <a:t>1</a:t>
            </a:r>
            <a:r>
              <a:rPr lang="en-US" sz="2200" dirty="0"/>
              <a:t> is from R and M</a:t>
            </a:r>
            <a:r>
              <a:rPr lang="en-US" sz="2200" baseline="-25000" dirty="0"/>
              <a:t>2</a:t>
            </a:r>
            <a:r>
              <a:rPr lang="en-US" sz="2200" dirty="0"/>
              <a:t> is from S then the PROJECTION and JOIN  operations commute as follows: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8.</a:t>
            </a:r>
            <a:r>
              <a:rPr lang="en-US" sz="2200" dirty="0"/>
              <a:t> </a:t>
            </a:r>
            <a:r>
              <a:rPr lang="en-US" sz="2200" dirty="0" err="1"/>
              <a:t>Commutativity</a:t>
            </a:r>
            <a:r>
              <a:rPr lang="en-US" sz="2200" dirty="0"/>
              <a:t> of the Set Operations: UNION and INTERSECTION but not SET DIFFERENCE: </a:t>
            </a:r>
          </a:p>
          <a:p>
            <a:endParaRPr lang="en-US" sz="2200" dirty="0"/>
          </a:p>
          <a:p>
            <a:endParaRPr lang="en-US" sz="2200" dirty="0"/>
          </a:p>
          <a:p>
            <a:pPr lvl="1"/>
            <a:endParaRPr lang="en-US" sz="2200" dirty="0"/>
          </a:p>
        </p:txBody>
      </p:sp>
      <p:pic>
        <p:nvPicPr>
          <p:cNvPr id="34821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963363"/>
            <a:ext cx="7869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4756283"/>
            <a:ext cx="77120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061075"/>
            <a:ext cx="72390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55508D4-A707-42C8-ABF6-D6B8689C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550026"/>
            <a:ext cx="3299790" cy="30797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5A6A2564-F4EE-4E94-9C63-5539D55B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50026"/>
            <a:ext cx="9017390" cy="307973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221686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>
          <a:xfrm>
            <a:off x="815926" y="1069976"/>
            <a:ext cx="10431512" cy="5483225"/>
          </a:xfrm>
        </p:spPr>
        <p:txBody>
          <a:bodyPr/>
          <a:lstStyle/>
          <a:p>
            <a:r>
              <a:rPr lang="en-US" b="1" dirty="0"/>
              <a:t>9. </a:t>
            </a:r>
            <a:r>
              <a:rPr lang="en-US" dirty="0"/>
              <a:t>Associativity of the THETA JOIN, CARTESIAN PRODUCT, UNION and INTERSECTION.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10.</a:t>
            </a:r>
            <a:r>
              <a:rPr lang="en-US" dirty="0"/>
              <a:t> Commuting SELECTION with SET OPERATIONS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11.</a:t>
            </a:r>
            <a:r>
              <a:rPr lang="en-US" dirty="0"/>
              <a:t> Commuting PROJECTION with UNION </a:t>
            </a:r>
          </a:p>
          <a:p>
            <a:endParaRPr lang="en-US" dirty="0"/>
          </a:p>
        </p:txBody>
      </p:sp>
      <p:pic>
        <p:nvPicPr>
          <p:cNvPr id="35845" name="Picture 9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2035175"/>
            <a:ext cx="936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9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" y="3998915"/>
            <a:ext cx="83661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9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44" y="5538786"/>
            <a:ext cx="10302876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12191998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14F7AFE-3F5E-4082-959F-5310A439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BA0D9FC-75B2-45F3-BC02-77AAEF20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374226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219919" y="1066801"/>
            <a:ext cx="9838481" cy="53308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Heuristic Approach will be implemented by using the above transformation rules in the following sequence or steps. </a:t>
            </a:r>
          </a:p>
          <a:p>
            <a:r>
              <a:rPr lang="en-US" dirty="0"/>
              <a:t>Sequence for Applying Transformation Rules </a:t>
            </a:r>
          </a:p>
          <a:p>
            <a:r>
              <a:rPr lang="en-US" dirty="0"/>
              <a:t>1. Use  </a:t>
            </a:r>
          </a:p>
          <a:p>
            <a:pPr lvl="1"/>
            <a:r>
              <a:rPr lang="en-US" dirty="0"/>
              <a:t>Rule-1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Cascade SELECTION </a:t>
            </a:r>
          </a:p>
          <a:p>
            <a:r>
              <a:rPr lang="en-US" dirty="0"/>
              <a:t>2. Use   </a:t>
            </a:r>
          </a:p>
          <a:p>
            <a:pPr lvl="1"/>
            <a:r>
              <a:rPr lang="en-US" dirty="0"/>
              <a:t>Rule-2: </a:t>
            </a:r>
            <a:r>
              <a:rPr lang="en-US" dirty="0" err="1"/>
              <a:t>Commutativity</a:t>
            </a:r>
            <a:r>
              <a:rPr lang="en-US" dirty="0"/>
              <a:t> of SELECTION </a:t>
            </a:r>
          </a:p>
          <a:p>
            <a:pPr lvl="1"/>
            <a:r>
              <a:rPr lang="en-US" dirty="0"/>
              <a:t>Rule-4: Commuting SELECTION with PROJECTION </a:t>
            </a:r>
          </a:p>
          <a:p>
            <a:pPr lvl="1"/>
            <a:r>
              <a:rPr lang="en-US" dirty="0"/>
              <a:t>Rule-6: Commuting SELECTION with JOIN and CARTESIAN </a:t>
            </a:r>
          </a:p>
          <a:p>
            <a:pPr lvl="1"/>
            <a:r>
              <a:rPr lang="en-US" dirty="0"/>
              <a:t>Rule-10: commuting SELECTION with SET OPERATIONS 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2374E79-1FDB-47DB-89C3-7ECD1F6A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329979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99F0FEA-C33B-46C6-9E1D-5E84C676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153993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694481" y="990600"/>
            <a:ext cx="9568707" cy="5791200"/>
          </a:xfrm>
        </p:spPr>
        <p:txBody>
          <a:bodyPr>
            <a:normAutofit/>
          </a:bodyPr>
          <a:lstStyle/>
          <a:p>
            <a:r>
              <a:rPr lang="en-US" dirty="0"/>
              <a:t>3. Use   </a:t>
            </a:r>
          </a:p>
          <a:p>
            <a:pPr lvl="1"/>
            <a:r>
              <a:rPr lang="en-US" dirty="0"/>
              <a:t>Rule-9:  Associativity of Binary Operations (JOIN, CARTESIAN, UNION and INTERSECTION). Rearrange nodes by making the most restrictive operations to be performed first (moving it as far down the tree as possible)  </a:t>
            </a:r>
          </a:p>
          <a:p>
            <a:r>
              <a:rPr lang="en-US" dirty="0"/>
              <a:t>4. Perform Cartesian Operations with the subsequent Selection Operation </a:t>
            </a:r>
          </a:p>
          <a:p>
            <a:r>
              <a:rPr lang="en-US" dirty="0"/>
              <a:t>5. Use   </a:t>
            </a:r>
          </a:p>
          <a:p>
            <a:pPr lvl="1"/>
            <a:r>
              <a:rPr lang="en-US" dirty="0"/>
              <a:t>Rule-3: Cascade of PROJECTION </a:t>
            </a:r>
          </a:p>
          <a:p>
            <a:pPr lvl="1"/>
            <a:r>
              <a:rPr lang="en-US" dirty="0"/>
              <a:t>Rule-4: Commuting PROJECTION with SELECTION </a:t>
            </a:r>
          </a:p>
          <a:p>
            <a:pPr lvl="1"/>
            <a:r>
              <a:rPr lang="en-US" dirty="0"/>
              <a:t>Rule-7: Commuting PROJECTION with JOIN and CARTESIAN </a:t>
            </a:r>
          </a:p>
          <a:p>
            <a:pPr lvl="1"/>
            <a:r>
              <a:rPr lang="en-US" dirty="0"/>
              <a:t>Rule-11: commuting PROJECTION with UNION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</p:spTree>
    <p:extLst>
      <p:ext uri="{BB962C8B-B14F-4D97-AF65-F5344CB8AC3E}">
        <p14:creationId xmlns:p14="http://schemas.microsoft.com/office/powerpoint/2010/main" val="389124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906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Main Heuristic </a:t>
            </a:r>
            <a:endParaRPr lang="en-US" dirty="0"/>
          </a:p>
        </p:txBody>
      </p:sp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>
          <a:xfrm>
            <a:off x="422031" y="1143001"/>
            <a:ext cx="11619913" cy="5330825"/>
          </a:xfrm>
        </p:spPr>
        <p:txBody>
          <a:bodyPr>
            <a:normAutofit/>
          </a:bodyPr>
          <a:lstStyle/>
          <a:p>
            <a:r>
              <a:rPr lang="en-US" dirty="0"/>
              <a:t>The main heuristic is to first apply operations that reduce the size (the cardinality and/or the degree) of the intermediate relation. </a:t>
            </a:r>
          </a:p>
          <a:p>
            <a:r>
              <a:rPr lang="en-US" dirty="0"/>
              <a:t>That is: </a:t>
            </a:r>
          </a:p>
          <a:p>
            <a:pPr lvl="1"/>
            <a:r>
              <a:rPr lang="en-US" sz="2000" b="1" dirty="0"/>
              <a:t>a.</a:t>
            </a:r>
            <a:r>
              <a:rPr lang="en-US" sz="2000" dirty="0"/>
              <a:t> Perform SELECTION as early as possible: that will reduce the cardinality (number of tuples) of the relation. </a:t>
            </a:r>
          </a:p>
          <a:p>
            <a:pPr lvl="1"/>
            <a:r>
              <a:rPr lang="en-US" sz="2000" b="1" dirty="0"/>
              <a:t>b.</a:t>
            </a:r>
            <a:r>
              <a:rPr lang="en-US" sz="2000" dirty="0"/>
              <a:t> Perform PROJECTION as early as possible: that will reduce the degree (number of attributes) of the relation. </a:t>
            </a:r>
          </a:p>
          <a:p>
            <a:pPr lvl="2"/>
            <a:r>
              <a:rPr lang="en-US" dirty="0"/>
              <a:t>Both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will be accomplished by placing the SELECT and PROJECT operations as far down the tree as possible. </a:t>
            </a:r>
          </a:p>
          <a:p>
            <a:pPr lvl="1"/>
            <a:r>
              <a:rPr lang="en-US" sz="2000" b="1" dirty="0"/>
              <a:t>c.</a:t>
            </a:r>
            <a:r>
              <a:rPr lang="en-US" sz="2000" dirty="0"/>
              <a:t> SELECT and JOIN operations with most restrictive conditions resulting with smallest absolute size should be executed before other similar operations. </a:t>
            </a:r>
          </a:p>
          <a:p>
            <a:pPr lvl="1"/>
            <a:r>
              <a:rPr lang="en-US" sz="2000" dirty="0"/>
              <a:t>This is achieved by reordering the nodes with JOIN</a:t>
            </a:r>
            <a:r>
              <a:rPr lang="en-US" sz="1700" dirty="0"/>
              <a:t>.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415F39-495C-4845-A461-3A6D084CBB3F}"/>
              </a:ext>
            </a:extLst>
          </p:cNvPr>
          <p:cNvSpPr txBox="1">
            <a:spLocks/>
          </p:cNvSpPr>
          <p:nvPr/>
        </p:nvSpPr>
        <p:spPr>
          <a:xfrm>
            <a:off x="8892209" y="6400800"/>
            <a:ext cx="3299790" cy="457200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1632FE6-1BFB-430A-B02F-852C8B00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00800"/>
            <a:ext cx="9017390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341281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Content Placeholder 2"/>
          <p:cNvSpPr>
            <a:spLocks noGrp="1"/>
          </p:cNvSpPr>
          <p:nvPr>
            <p:ph sz="quarter" idx="1"/>
          </p:nvPr>
        </p:nvSpPr>
        <p:spPr>
          <a:xfrm>
            <a:off x="168813" y="1143001"/>
            <a:ext cx="11929403" cy="5330825"/>
          </a:xfrm>
        </p:spPr>
        <p:txBody>
          <a:bodyPr>
            <a:normAutofit/>
          </a:bodyPr>
          <a:lstStyle/>
          <a:p>
            <a:r>
              <a:rPr lang="en-US" b="1" dirty="0"/>
              <a:t>Example</a:t>
            </a:r>
            <a:r>
              <a:rPr lang="en-US" dirty="0"/>
              <a:t>: consider the following schemas and the query, where the EMPLOYEE and the PROJECT relations are related by the WORKS_ON relation. </a:t>
            </a:r>
          </a:p>
          <a:p>
            <a:r>
              <a:rPr lang="en-US" dirty="0"/>
              <a:t>EMPLOYEE (</a:t>
            </a:r>
            <a:r>
              <a:rPr lang="en-US" dirty="0" err="1"/>
              <a:t>EEmpID</a:t>
            </a:r>
            <a:r>
              <a:rPr lang="en-US" dirty="0"/>
              <a:t>, FName, </a:t>
            </a:r>
            <a:r>
              <a:rPr lang="en-US" dirty="0" err="1"/>
              <a:t>LName</a:t>
            </a:r>
            <a:r>
              <a:rPr lang="en-US" dirty="0"/>
              <a:t>, Salary, Dept, Sex, </a:t>
            </a:r>
            <a:r>
              <a:rPr lang="en-US" dirty="0" err="1"/>
              <a:t>DoB</a:t>
            </a:r>
            <a:r>
              <a:rPr lang="en-US" dirty="0"/>
              <a:t>) </a:t>
            </a:r>
          </a:p>
          <a:p>
            <a:r>
              <a:rPr lang="en-US" dirty="0"/>
              <a:t>PROJECT (</a:t>
            </a:r>
            <a:r>
              <a:rPr lang="en-US" dirty="0" err="1"/>
              <a:t>PProjID</a:t>
            </a:r>
            <a:r>
              <a:rPr lang="en-US" dirty="0"/>
              <a:t>, </a:t>
            </a:r>
            <a:r>
              <a:rPr lang="en-US" dirty="0" err="1"/>
              <a:t>PName</a:t>
            </a:r>
            <a:r>
              <a:rPr lang="en-US" dirty="0"/>
              <a:t>, </a:t>
            </a:r>
            <a:r>
              <a:rPr lang="en-US" dirty="0" err="1"/>
              <a:t>PLocation</a:t>
            </a:r>
            <a:r>
              <a:rPr lang="en-US" dirty="0"/>
              <a:t>, </a:t>
            </a:r>
            <a:r>
              <a:rPr lang="en-US" dirty="0" err="1"/>
              <a:t>PFund</a:t>
            </a:r>
            <a:r>
              <a:rPr lang="en-US" dirty="0"/>
              <a:t>, </a:t>
            </a:r>
            <a:r>
              <a:rPr lang="en-US" dirty="0" err="1"/>
              <a:t>PManagerID</a:t>
            </a:r>
            <a:r>
              <a:rPr lang="en-US" dirty="0"/>
              <a:t>) </a:t>
            </a:r>
          </a:p>
          <a:p>
            <a:r>
              <a:rPr lang="en-US" dirty="0"/>
              <a:t>WORKS_ON (</a:t>
            </a:r>
            <a:r>
              <a:rPr lang="en-US" dirty="0" err="1"/>
              <a:t>WEmpID</a:t>
            </a:r>
            <a:r>
              <a:rPr lang="en-US" dirty="0"/>
              <a:t>, </a:t>
            </a:r>
            <a:r>
              <a:rPr lang="en-US" dirty="0" err="1"/>
              <a:t>WProjID</a:t>
            </a:r>
            <a:r>
              <a:rPr lang="en-US" dirty="0"/>
              <a:t>) </a:t>
            </a:r>
          </a:p>
          <a:p>
            <a:r>
              <a:rPr lang="en-US" dirty="0" err="1"/>
              <a:t>WEmpID</a:t>
            </a:r>
            <a:r>
              <a:rPr lang="en-US" dirty="0"/>
              <a:t> (refers to employee identification) and </a:t>
            </a:r>
            <a:r>
              <a:rPr lang="en-US" dirty="0" err="1"/>
              <a:t>PProjID</a:t>
            </a:r>
            <a:r>
              <a:rPr lang="en-US" dirty="0"/>
              <a:t> (refers to project identification) are foreign keys to WORKS_ON relation from EMPLOYEE and PROJECT relations respectively.  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8799" y="6356349"/>
            <a:ext cx="7063409" cy="349251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F8F6E-74E0-4A6F-BA8B-F89770AD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34B97-3C4C-47E7-AFA0-3BAF59DEAFA2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8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Content Placeholder 2"/>
          <p:cNvSpPr>
            <a:spLocks noGrp="1"/>
          </p:cNvSpPr>
          <p:nvPr>
            <p:ph sz="quarter" idx="1"/>
          </p:nvPr>
        </p:nvSpPr>
        <p:spPr>
          <a:xfrm>
            <a:off x="1097280" y="1143001"/>
            <a:ext cx="9706708" cy="5330825"/>
          </a:xfrm>
        </p:spPr>
        <p:txBody>
          <a:bodyPr/>
          <a:lstStyle/>
          <a:p>
            <a:r>
              <a:rPr lang="en-US" b="1" dirty="0"/>
              <a:t>Query</a:t>
            </a:r>
            <a:r>
              <a:rPr lang="en-US" dirty="0"/>
              <a:t>:  The manager of the company working on road construction would like to view employees name born before January 1 1965 who are working on the project named Ring Road. </a:t>
            </a:r>
          </a:p>
          <a:p>
            <a:r>
              <a:rPr lang="en-US" dirty="0"/>
              <a:t>Relational Algebra representation of the query will be: </a:t>
            </a:r>
          </a:p>
          <a:p>
            <a:r>
              <a:rPr lang="en-US" sz="3600" b="1" i="1" dirty="0">
                <a:latin typeface="Book Antiqua" panose="02040602050305030304" pitchFamily="18" charset="0"/>
              </a:rPr>
              <a:t></a:t>
            </a:r>
            <a:r>
              <a:rPr lang="en-US" b="1" i="1" dirty="0">
                <a:latin typeface="Book Antiqua" panose="02040602050305030304" pitchFamily="18" charset="0"/>
              </a:rPr>
              <a:t>&lt;FName, </a:t>
            </a:r>
            <a:r>
              <a:rPr lang="en-US" b="1" i="1" dirty="0" err="1">
                <a:latin typeface="Book Antiqua" panose="02040602050305030304" pitchFamily="18" charset="0"/>
              </a:rPr>
              <a:t>LName</a:t>
            </a:r>
            <a:r>
              <a:rPr lang="en-US" b="1" i="1" dirty="0">
                <a:latin typeface="Book Antiqua" panose="02040602050305030304" pitchFamily="18" charset="0"/>
              </a:rPr>
              <a:t>&gt; (&lt;</a:t>
            </a:r>
            <a:r>
              <a:rPr lang="en-US" i="1" dirty="0" err="1">
                <a:latin typeface="Book Antiqua" panose="02040602050305030304" pitchFamily="18" charset="0"/>
              </a:rPr>
              <a:t>DoB</a:t>
            </a:r>
            <a:r>
              <a:rPr lang="en-US" i="1" dirty="0">
                <a:latin typeface="Book Antiqua" panose="02040602050305030304" pitchFamily="18" charset="0"/>
              </a:rPr>
              <a:t>&lt;Jan</a:t>
            </a:r>
            <a:r>
              <a:rPr lang="en-US" b="1" i="1" dirty="0">
                <a:latin typeface="Book Antiqua" panose="02040602050305030304" pitchFamily="18" charset="0"/>
              </a:rPr>
              <a:t> </a:t>
            </a:r>
            <a:r>
              <a:rPr lang="en-US" i="1" dirty="0">
                <a:latin typeface="Book Antiqua" panose="02040602050305030304" pitchFamily="18" charset="0"/>
              </a:rPr>
              <a:t>1 1965 </a:t>
            </a:r>
            <a:r>
              <a:rPr lang="en-US" b="1" i="1" dirty="0">
                <a:latin typeface="Book Antiqua" panose="02040602050305030304" pitchFamily="18" charset="0"/>
              </a:rPr>
              <a:t>ʌ  </a:t>
            </a:r>
            <a:r>
              <a:rPr lang="en-US" b="1" i="1" dirty="0" err="1">
                <a:latin typeface="Book Antiqua" panose="02040602050305030304" pitchFamily="18" charset="0"/>
              </a:rPr>
              <a:t>WEmpID</a:t>
            </a:r>
            <a:r>
              <a:rPr lang="en-US" b="1" i="1" dirty="0">
                <a:latin typeface="Book Antiqua" panose="02040602050305030304" pitchFamily="18" charset="0"/>
              </a:rPr>
              <a:t> = </a:t>
            </a:r>
            <a:r>
              <a:rPr lang="en-US" b="1" i="1" dirty="0" err="1">
                <a:latin typeface="Book Antiqua" panose="02040602050305030304" pitchFamily="18" charset="0"/>
              </a:rPr>
              <a:t>EEmpID</a:t>
            </a:r>
            <a:r>
              <a:rPr lang="en-US" b="1" i="1" dirty="0">
                <a:latin typeface="Book Antiqua" panose="02040602050305030304" pitchFamily="18" charset="0"/>
              </a:rPr>
              <a:t> ʌ </a:t>
            </a:r>
            <a:r>
              <a:rPr lang="en-US" b="1" i="1" dirty="0" err="1">
                <a:latin typeface="Book Antiqua" panose="02040602050305030304" pitchFamily="18" charset="0"/>
              </a:rPr>
              <a:t>PProjID</a:t>
            </a:r>
            <a:r>
              <a:rPr lang="en-US" b="1" i="1" dirty="0">
                <a:latin typeface="Book Antiqua" panose="02040602050305030304" pitchFamily="18" charset="0"/>
              </a:rPr>
              <a:t>=</a:t>
            </a:r>
            <a:r>
              <a:rPr lang="en-US" b="1" i="1" dirty="0" err="1">
                <a:latin typeface="Book Antiqua" panose="02040602050305030304" pitchFamily="18" charset="0"/>
              </a:rPr>
              <a:t>WProjID</a:t>
            </a:r>
            <a:r>
              <a:rPr lang="en-US" b="1" i="1" dirty="0">
                <a:latin typeface="Book Antiqua" panose="02040602050305030304" pitchFamily="18" charset="0"/>
              </a:rPr>
              <a:t> ʌ </a:t>
            </a:r>
            <a:r>
              <a:rPr lang="en-US" b="1" i="1" dirty="0" err="1">
                <a:latin typeface="Book Antiqua" panose="02040602050305030304" pitchFamily="18" charset="0"/>
              </a:rPr>
              <a:t>PName</a:t>
            </a:r>
            <a:r>
              <a:rPr lang="en-US" b="1" i="1" dirty="0">
                <a:latin typeface="Book Antiqua" panose="02040602050305030304" pitchFamily="18" charset="0"/>
              </a:rPr>
              <a:t>=’Ring </a:t>
            </a:r>
            <a:r>
              <a:rPr lang="en-US" dirty="0">
                <a:latin typeface="Book Antiqua" panose="02040602050305030304" pitchFamily="18" charset="0"/>
              </a:rPr>
              <a:t> </a:t>
            </a:r>
            <a:r>
              <a:rPr lang="en-US" i="1" dirty="0">
                <a:latin typeface="Book Antiqua" panose="02040602050305030304" pitchFamily="18" charset="0"/>
              </a:rPr>
              <a:t>Road’</a:t>
            </a:r>
            <a:r>
              <a:rPr lang="en-US" sz="2800" b="1" i="1" dirty="0">
                <a:latin typeface="Book Antiqua" panose="02040602050305030304" pitchFamily="18" charset="0"/>
              </a:rPr>
              <a:t>&gt;</a:t>
            </a:r>
            <a:r>
              <a:rPr lang="en-US" b="1" i="1" baseline="-25000" dirty="0">
                <a:latin typeface="Book Antiqua" panose="02040602050305030304" pitchFamily="18" charset="0"/>
              </a:rPr>
              <a:t> </a:t>
            </a:r>
            <a:r>
              <a:rPr lang="en-US" b="1" i="1" dirty="0">
                <a:latin typeface="Book Antiqua" panose="02040602050305030304" pitchFamily="18" charset="0"/>
              </a:rPr>
              <a:t>(</a:t>
            </a:r>
            <a:r>
              <a:rPr lang="en-US" dirty="0">
                <a:latin typeface="Book Antiqua" panose="02040602050305030304" pitchFamily="18" charset="0"/>
              </a:rPr>
              <a:t>EMPLOYEE</a:t>
            </a:r>
            <a:r>
              <a:rPr lang="en-US" b="1" i="1" dirty="0">
                <a:latin typeface="Book Antiqua" panose="02040602050305030304" pitchFamily="18" charset="0"/>
              </a:rPr>
              <a:t> X </a:t>
            </a:r>
            <a:r>
              <a:rPr lang="en-US" dirty="0">
                <a:latin typeface="Book Antiqua" panose="02040602050305030304" pitchFamily="18" charset="0"/>
              </a:rPr>
              <a:t>WORKS_ON</a:t>
            </a:r>
            <a:r>
              <a:rPr lang="en-US" b="1" i="1" baseline="30000" dirty="0">
                <a:latin typeface="Book Antiqua" panose="02040602050305030304" pitchFamily="18" charset="0"/>
              </a:rPr>
              <a:t> </a:t>
            </a:r>
            <a:r>
              <a:rPr lang="en-US" b="1" i="1" dirty="0">
                <a:latin typeface="Book Antiqua" panose="02040602050305030304" pitchFamily="18" charset="0"/>
              </a:rPr>
              <a:t>X </a:t>
            </a:r>
            <a:r>
              <a:rPr lang="en-US" dirty="0">
                <a:latin typeface="Book Antiqua" panose="02040602050305030304" pitchFamily="18" charset="0"/>
              </a:rPr>
              <a:t>PROJECT))</a:t>
            </a:r>
            <a:r>
              <a:rPr lang="en-US" b="1" i="1" dirty="0">
                <a:latin typeface="Book Antiqua" panose="02040602050305030304" pitchFamily="18" charset="0"/>
              </a:rPr>
              <a:t> </a:t>
            </a:r>
            <a:endParaRPr lang="en-US" dirty="0">
              <a:latin typeface="Book Antiqua" panose="02040602050305030304" pitchFamily="18" charset="0"/>
            </a:endParaRP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400800"/>
            <a:ext cx="6414052" cy="3048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91DC5-4B6C-45AC-8843-1594D554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3951-1D95-48D5-80BF-F6FE7FB30539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3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1147764"/>
            <a:ext cx="11641933" cy="5559425"/>
          </a:xfrm>
        </p:spPr>
        <p:txBody>
          <a:bodyPr/>
          <a:lstStyle/>
          <a:p>
            <a:pPr algn="just"/>
            <a:r>
              <a:rPr lang="en-US" sz="2000" dirty="0"/>
              <a:t>The SQL equivalence for the above query will be: </a:t>
            </a:r>
          </a:p>
          <a:p>
            <a:pPr algn="just"/>
            <a:r>
              <a:rPr lang="en-US" sz="2000" b="1" dirty="0"/>
              <a:t>SELECT </a:t>
            </a:r>
            <a:r>
              <a:rPr lang="en-US" sz="2000" b="1" dirty="0" err="1"/>
              <a:t>FName</a:t>
            </a:r>
            <a:r>
              <a:rPr lang="en-US" sz="2000" b="1" dirty="0"/>
              <a:t>, </a:t>
            </a:r>
            <a:r>
              <a:rPr lang="en-US" sz="2000" b="1" dirty="0" err="1"/>
              <a:t>LName</a:t>
            </a:r>
            <a:r>
              <a:rPr lang="en-US" sz="2000" b="1" dirty="0"/>
              <a:t>  FROM EMPLOYEE, WORKS_ON, PROJECT   WHERE </a:t>
            </a:r>
            <a:r>
              <a:rPr lang="en-US" sz="2000" b="1" i="1" dirty="0" err="1"/>
              <a:t>DoB</a:t>
            </a:r>
            <a:r>
              <a:rPr lang="en-US" sz="2000" b="1" i="1" dirty="0"/>
              <a:t>&lt;Jan 1 1965 ʌ </a:t>
            </a:r>
            <a:r>
              <a:rPr lang="en-US" sz="2000" b="1" i="1" dirty="0" err="1"/>
              <a:t>EEmpID</a:t>
            </a:r>
            <a:r>
              <a:rPr lang="en-US" sz="2000" b="1" i="1" dirty="0"/>
              <a:t>=</a:t>
            </a:r>
            <a:r>
              <a:rPr lang="en-US" sz="2000" b="1" i="1" dirty="0" err="1"/>
              <a:t>WEmpID</a:t>
            </a:r>
            <a:r>
              <a:rPr lang="en-US" sz="2000" b="1" i="1" dirty="0"/>
              <a:t> ʌ  </a:t>
            </a:r>
            <a:r>
              <a:rPr lang="en-US" sz="2000" b="1" i="1" dirty="0" err="1"/>
              <a:t>WProjID</a:t>
            </a:r>
            <a:r>
              <a:rPr lang="en-US" sz="2000" b="1" i="1" dirty="0"/>
              <a:t>=</a:t>
            </a:r>
            <a:r>
              <a:rPr lang="en-US" sz="2000" b="1" i="1" dirty="0" err="1"/>
              <a:t>PProjID</a:t>
            </a:r>
            <a:r>
              <a:rPr lang="en-US" sz="2000" b="1" i="1" dirty="0"/>
              <a:t> ʌ </a:t>
            </a:r>
            <a:r>
              <a:rPr lang="en-US" sz="2000" b="1" i="1" dirty="0" err="1"/>
              <a:t>PName</a:t>
            </a:r>
            <a:r>
              <a:rPr lang="en-US" sz="2000" b="1" i="1" dirty="0"/>
              <a:t>=”Ring Road”</a:t>
            </a:r>
            <a:r>
              <a:rPr lang="en-US" sz="2000" b="1" dirty="0"/>
              <a:t> </a:t>
            </a:r>
          </a:p>
          <a:p>
            <a:pPr algn="just"/>
            <a:r>
              <a:rPr lang="en-US" sz="2000" dirty="0"/>
              <a:t>The initial query tree will be: </a:t>
            </a:r>
          </a:p>
          <a:p>
            <a:endParaRPr lang="en-US" dirty="0"/>
          </a:p>
        </p:txBody>
      </p:sp>
      <p:pic>
        <p:nvPicPr>
          <p:cNvPr id="4198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852" y="2438400"/>
            <a:ext cx="4765748" cy="3498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356349"/>
            <a:ext cx="6414052" cy="349251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27631-957C-4930-9770-60951BE4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324-225A-47F0-916D-EE28942A6D23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6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Content Placeholder 2"/>
          <p:cNvSpPr>
            <a:spLocks noGrp="1"/>
          </p:cNvSpPr>
          <p:nvPr>
            <p:ph sz="quarter" idx="1"/>
          </p:nvPr>
        </p:nvSpPr>
        <p:spPr>
          <a:xfrm>
            <a:off x="357809" y="1143001"/>
            <a:ext cx="11463129" cy="4911725"/>
          </a:xfrm>
        </p:spPr>
        <p:txBody>
          <a:bodyPr/>
          <a:lstStyle/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100" dirty="0"/>
              <a:t> </a:t>
            </a:r>
            <a:r>
              <a:rPr lang="en-US" sz="2100" dirty="0">
                <a:solidFill>
                  <a:prstClr val="black"/>
                </a:solidFill>
                <a:latin typeface="Century Schoolbook"/>
              </a:rPr>
              <a:t>By applying the first step (cascading the selection) we will come up with the following structure.  </a:t>
            </a:r>
          </a:p>
          <a:p>
            <a:pPr marL="274320" lvl="1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</a:pP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(</a:t>
            </a:r>
            <a:r>
              <a:rPr lang="en-US" sz="1800" i="1" dirty="0" err="1">
                <a:solidFill>
                  <a:prstClr val="black"/>
                </a:solidFill>
                <a:latin typeface="Century Schoolbook"/>
              </a:rPr>
              <a:t>DoB</a:t>
            </a:r>
            <a:r>
              <a:rPr lang="en-US" sz="1800" i="1" dirty="0">
                <a:solidFill>
                  <a:prstClr val="black"/>
                </a:solidFill>
                <a:latin typeface="Century Schoolbook"/>
              </a:rPr>
              <a:t>&lt;Jan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1800" i="1" dirty="0">
                <a:solidFill>
                  <a:prstClr val="black"/>
                </a:solidFill>
                <a:latin typeface="Century Schoolbook"/>
              </a:rPr>
              <a:t>1 1965)</a:t>
            </a:r>
          </a:p>
          <a:p>
            <a:pPr marL="274320" lvl="1" indent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None/>
            </a:pP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((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WEmpID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=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EEmpID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)((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PProjID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=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WProjID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)((</a:t>
            </a:r>
            <a:r>
              <a:rPr lang="en-US" sz="1800" b="1" i="1" dirty="0" err="1">
                <a:solidFill>
                  <a:prstClr val="black"/>
                </a:solidFill>
                <a:latin typeface="Century Schoolbook"/>
              </a:rPr>
              <a:t>PName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=’Ring </a:t>
            </a:r>
            <a:r>
              <a:rPr lang="en-US" sz="1800" i="1" dirty="0">
                <a:solidFill>
                  <a:prstClr val="black"/>
                </a:solidFill>
                <a:latin typeface="Century Schoolbook"/>
              </a:rPr>
              <a:t>Road’) 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(EMPLOYEE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 X 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WORKS_ON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 X 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PROJECT</a:t>
            </a:r>
            <a:r>
              <a:rPr lang="en-US" sz="1800" b="1" i="1" dirty="0">
                <a:solidFill>
                  <a:prstClr val="black"/>
                </a:solidFill>
                <a:latin typeface="Century Schoolbook"/>
              </a:rPr>
              <a:t> ) )</a:t>
            </a:r>
            <a:r>
              <a:rPr lang="en-US" sz="1800" dirty="0">
                <a:solidFill>
                  <a:prstClr val="black"/>
                </a:solidFill>
                <a:latin typeface="Century Schoolbook"/>
              </a:rPr>
              <a:t> )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100" dirty="0">
                <a:solidFill>
                  <a:prstClr val="black"/>
                </a:solidFill>
                <a:latin typeface="Century Schoolbook"/>
              </a:rPr>
              <a:t>By applying the second step it can be seen that some conditions have attribute that belong to a single relation (</a:t>
            </a:r>
            <a:r>
              <a:rPr lang="en-US" sz="2100" dirty="0" err="1">
                <a:solidFill>
                  <a:prstClr val="black"/>
                </a:solidFill>
                <a:latin typeface="Century Schoolbook"/>
              </a:rPr>
              <a:t>DoB</a:t>
            </a:r>
            <a:r>
              <a:rPr lang="en-US" sz="2100" dirty="0">
                <a:solidFill>
                  <a:prstClr val="black"/>
                </a:solidFill>
                <a:latin typeface="Century Schoolbook"/>
              </a:rPr>
              <a:t> belongs to EMPLOYEE and </a:t>
            </a:r>
            <a:r>
              <a:rPr lang="en-US" sz="2100" dirty="0" err="1">
                <a:solidFill>
                  <a:prstClr val="black"/>
                </a:solidFill>
                <a:latin typeface="Century Schoolbook"/>
              </a:rPr>
              <a:t>PName</a:t>
            </a:r>
            <a:r>
              <a:rPr lang="en-US" sz="2100" dirty="0">
                <a:solidFill>
                  <a:prstClr val="black"/>
                </a:solidFill>
                <a:latin typeface="Century Schoolbook"/>
              </a:rPr>
              <a:t> belongs to PROJECT) thus the selection operation can be commuted with Cartesian Operation.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r>
              <a:rPr lang="en-US" sz="2100" dirty="0">
                <a:solidFill>
                  <a:prstClr val="black"/>
                </a:solidFill>
                <a:latin typeface="Century Schoolbook"/>
              </a:rPr>
              <a:t>Then, since the condition </a:t>
            </a:r>
            <a:r>
              <a:rPr lang="en-US" sz="2100" b="1" i="1" dirty="0" err="1">
                <a:solidFill>
                  <a:prstClr val="black"/>
                </a:solidFill>
                <a:latin typeface="Century Schoolbook"/>
              </a:rPr>
              <a:t>WEmpID</a:t>
            </a:r>
            <a:r>
              <a:rPr lang="en-US" sz="2100" b="1" i="1" dirty="0">
                <a:solidFill>
                  <a:prstClr val="black"/>
                </a:solidFill>
                <a:latin typeface="Century Schoolbook"/>
              </a:rPr>
              <a:t>=</a:t>
            </a:r>
            <a:r>
              <a:rPr lang="en-US" sz="2100" b="1" i="1" dirty="0" err="1">
                <a:solidFill>
                  <a:prstClr val="black"/>
                </a:solidFill>
                <a:latin typeface="Century Schoolbook"/>
              </a:rPr>
              <a:t>EEmpID</a:t>
            </a:r>
            <a:r>
              <a:rPr lang="en-US" sz="2100" b="1" i="1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entury Schoolbook"/>
              </a:rPr>
              <a:t>base the employee and</a:t>
            </a:r>
            <a:r>
              <a:rPr lang="en-US" sz="2100" b="1" i="1" baseline="-25000" dirty="0">
                <a:solidFill>
                  <a:prstClr val="black"/>
                </a:solidFill>
                <a:latin typeface="Century Schoolbook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entury Schoolbook"/>
              </a:rPr>
              <a:t>WORKS_ON relation the selection with this condition can be cascaded. </a:t>
            </a: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endParaRPr lang="en-US" sz="2200" dirty="0">
              <a:solidFill>
                <a:prstClr val="black"/>
              </a:solidFill>
              <a:latin typeface="Century Schoolbook"/>
            </a:endParaRPr>
          </a:p>
          <a:p>
            <a:pPr marL="273050" indent="-27305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  <a:buFont typeface="Wingdings" panose="05000000000000000000" pitchFamily="2" charset="2"/>
              <a:buChar char=""/>
            </a:pPr>
            <a:endParaRPr lang="en-US" sz="2400" dirty="0">
              <a:solidFill>
                <a:prstClr val="black"/>
              </a:solidFill>
              <a:latin typeface="Century Schoolbook"/>
            </a:endParaRPr>
          </a:p>
          <a:p>
            <a:pPr marL="0" indent="0">
              <a:buNone/>
            </a:pPr>
            <a:endParaRPr lang="en-US" sz="2100" dirty="0"/>
          </a:p>
        </p:txBody>
      </p:sp>
      <p:pic>
        <p:nvPicPr>
          <p:cNvPr id="43013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5292725"/>
            <a:ext cx="7442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166468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340475"/>
            <a:ext cx="6414052" cy="365125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4D46E-260F-49A7-ADFE-AE7736FC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6EBD-33B8-4E41-9D20-C56CB9CFC020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8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47045" y="1093020"/>
            <a:ext cx="3744593" cy="5330825"/>
          </a:xfrm>
        </p:spPr>
        <p:txBody>
          <a:bodyPr/>
          <a:lstStyle/>
          <a:p>
            <a:pPr>
              <a:defRPr/>
            </a:pPr>
            <a:r>
              <a:rPr lang="en-US" dirty="0"/>
              <a:t>The query tree after this modification will be: 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grpSp>
        <p:nvGrpSpPr>
          <p:cNvPr id="44037" name="Group 6"/>
          <p:cNvGrpSpPr>
            <a:grpSpLocks/>
          </p:cNvGrpSpPr>
          <p:nvPr/>
        </p:nvGrpSpPr>
        <p:grpSpPr bwMode="auto">
          <a:xfrm>
            <a:off x="4267200" y="1054100"/>
            <a:ext cx="4876800" cy="5156200"/>
            <a:chOff x="0" y="0"/>
            <a:chExt cx="4649297" cy="5679302"/>
          </a:xfrm>
        </p:grpSpPr>
        <p:sp>
          <p:nvSpPr>
            <p:cNvPr id="8" name="Shape 6265"/>
            <p:cNvSpPr/>
            <p:nvPr/>
          </p:nvSpPr>
          <p:spPr>
            <a:xfrm>
              <a:off x="0" y="5343580"/>
              <a:ext cx="1334857" cy="335722"/>
            </a:xfrm>
            <a:custGeom>
              <a:avLst/>
              <a:gdLst/>
              <a:ahLst/>
              <a:cxnLst/>
              <a:rect l="0" t="0" r="0" b="0"/>
              <a:pathLst>
                <a:path w="1335024" h="335280">
                  <a:moveTo>
                    <a:pt x="667512" y="0"/>
                  </a:moveTo>
                  <a:cubicBezTo>
                    <a:pt x="298704" y="0"/>
                    <a:pt x="0" y="76200"/>
                    <a:pt x="0" y="167640"/>
                  </a:cubicBezTo>
                  <a:cubicBezTo>
                    <a:pt x="0" y="259080"/>
                    <a:pt x="298704" y="335280"/>
                    <a:pt x="667512" y="335280"/>
                  </a:cubicBezTo>
                  <a:cubicBezTo>
                    <a:pt x="1036320" y="335280"/>
                    <a:pt x="1335024" y="259080"/>
                    <a:pt x="1335024" y="167640"/>
                  </a:cubicBezTo>
                  <a:cubicBezTo>
                    <a:pt x="1335024" y="76200"/>
                    <a:pt x="1036320" y="0"/>
                    <a:pt x="667512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61826" y="5457236"/>
              <a:ext cx="1053356" cy="18010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EMPLOYEE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54870" y="5457236"/>
              <a:ext cx="48430" cy="18010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Shape 6269"/>
            <p:cNvSpPr/>
            <p:nvPr/>
          </p:nvSpPr>
          <p:spPr>
            <a:xfrm>
              <a:off x="1779809" y="4677381"/>
              <a:ext cx="1448365" cy="332225"/>
            </a:xfrm>
            <a:custGeom>
              <a:avLst/>
              <a:gdLst/>
              <a:ahLst/>
              <a:cxnLst/>
              <a:rect l="0" t="0" r="0" b="0"/>
              <a:pathLst>
                <a:path w="1447800" h="332232">
                  <a:moveTo>
                    <a:pt x="722376" y="0"/>
                  </a:moveTo>
                  <a:cubicBezTo>
                    <a:pt x="323088" y="0"/>
                    <a:pt x="0" y="76200"/>
                    <a:pt x="0" y="167640"/>
                  </a:cubicBezTo>
                  <a:cubicBezTo>
                    <a:pt x="0" y="259080"/>
                    <a:pt x="323088" y="332232"/>
                    <a:pt x="722376" y="332232"/>
                  </a:cubicBezTo>
                  <a:cubicBezTo>
                    <a:pt x="1121664" y="332232"/>
                    <a:pt x="1447800" y="259080"/>
                    <a:pt x="1447800" y="167640"/>
                  </a:cubicBezTo>
                  <a:cubicBezTo>
                    <a:pt x="1447800" y="76200"/>
                    <a:pt x="1121664" y="0"/>
                    <a:pt x="72237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59796" y="4789289"/>
              <a:ext cx="1100273" cy="18010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WORKS_ON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83109" y="4789289"/>
              <a:ext cx="49943" cy="18010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Shape 6273"/>
            <p:cNvSpPr/>
            <p:nvPr/>
          </p:nvSpPr>
          <p:spPr>
            <a:xfrm>
              <a:off x="3450650" y="3713928"/>
              <a:ext cx="1112381" cy="332225"/>
            </a:xfrm>
            <a:custGeom>
              <a:avLst/>
              <a:gdLst/>
              <a:ahLst/>
              <a:cxnLst/>
              <a:rect l="0" t="0" r="0" b="0"/>
              <a:pathLst>
                <a:path w="1112520" h="332232">
                  <a:moveTo>
                    <a:pt x="554736" y="0"/>
                  </a:moveTo>
                  <a:cubicBezTo>
                    <a:pt x="246888" y="0"/>
                    <a:pt x="0" y="73152"/>
                    <a:pt x="0" y="164593"/>
                  </a:cubicBezTo>
                  <a:cubicBezTo>
                    <a:pt x="0" y="259080"/>
                    <a:pt x="246888" y="332232"/>
                    <a:pt x="554736" y="332232"/>
                  </a:cubicBezTo>
                  <a:cubicBezTo>
                    <a:pt x="862584" y="332232"/>
                    <a:pt x="1112520" y="259080"/>
                    <a:pt x="1112520" y="164593"/>
                  </a:cubicBezTo>
                  <a:cubicBezTo>
                    <a:pt x="1112520" y="73152"/>
                    <a:pt x="862584" y="0"/>
                    <a:pt x="55473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79180" y="3824087"/>
              <a:ext cx="833907" cy="178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PROJECT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04232" y="3824087"/>
              <a:ext cx="48430" cy="178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47" name="Rectangle 16"/>
            <p:cNvSpPr>
              <a:spLocks noChangeArrowheads="1"/>
            </p:cNvSpPr>
            <p:nvPr/>
          </p:nvSpPr>
          <p:spPr bwMode="auto">
            <a:xfrm>
              <a:off x="2103120" y="752215"/>
              <a:ext cx="293304" cy="530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323136" y="980939"/>
              <a:ext cx="42376" cy="13114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49" name="Rectangle 18"/>
            <p:cNvSpPr>
              <a:spLocks noChangeArrowheads="1"/>
            </p:cNvSpPr>
            <p:nvPr/>
          </p:nvSpPr>
          <p:spPr bwMode="auto">
            <a:xfrm>
              <a:off x="2356104" y="980970"/>
              <a:ext cx="1114402" cy="130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PProjID=WProjID</a:t>
              </a:r>
              <a:endParaRPr 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94879" y="980939"/>
              <a:ext cx="42376" cy="13114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51" name="Rectangle 20"/>
            <p:cNvSpPr>
              <a:spLocks noChangeArrowheads="1"/>
            </p:cNvSpPr>
            <p:nvPr/>
          </p:nvSpPr>
          <p:spPr bwMode="auto">
            <a:xfrm>
              <a:off x="3230880" y="953897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136982" y="0"/>
              <a:ext cx="243665" cy="451127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320109" y="176604"/>
              <a:ext cx="95346" cy="15911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44054" name="Rectangle 23"/>
            <p:cNvSpPr>
              <a:spLocks noChangeArrowheads="1"/>
            </p:cNvSpPr>
            <p:nvPr/>
          </p:nvSpPr>
          <p:spPr bwMode="auto">
            <a:xfrm>
              <a:off x="2392680" y="187206"/>
              <a:ext cx="957152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FName, LName</a:t>
              </a:r>
              <a:endParaRPr 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55529" y="209826"/>
              <a:ext cx="95346" cy="15911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85798" y="150376"/>
              <a:ext cx="45403" cy="16436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59072" y="3881789"/>
              <a:ext cx="180100" cy="22731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X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493769" y="3881789"/>
              <a:ext cx="62051" cy="22731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603122" y="1982860"/>
              <a:ext cx="180100" cy="22731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X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34792" y="1982860"/>
              <a:ext cx="62051" cy="22731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Shape 6294"/>
            <p:cNvSpPr/>
            <p:nvPr/>
          </p:nvSpPr>
          <p:spPr>
            <a:xfrm>
              <a:off x="2669714" y="1115577"/>
              <a:ext cx="0" cy="778107"/>
            </a:xfrm>
            <a:custGeom>
              <a:avLst/>
              <a:gdLst/>
              <a:ahLst/>
              <a:cxnLst/>
              <a:rect l="0" t="0" r="0" b="0"/>
              <a:pathLst>
                <a:path h="777240">
                  <a:moveTo>
                    <a:pt x="0" y="777240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Shape 6295"/>
            <p:cNvSpPr/>
            <p:nvPr/>
          </p:nvSpPr>
          <p:spPr>
            <a:xfrm>
              <a:off x="2669714" y="354957"/>
              <a:ext cx="9081" cy="538555"/>
            </a:xfrm>
            <a:custGeom>
              <a:avLst/>
              <a:gdLst/>
              <a:ahLst/>
              <a:cxnLst/>
              <a:rect l="0" t="0" r="0" b="0"/>
              <a:pathLst>
                <a:path w="9144" h="539497">
                  <a:moveTo>
                    <a:pt x="0" y="539497"/>
                  </a:moveTo>
                  <a:lnTo>
                    <a:pt x="9144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063" name="Rectangle 32"/>
            <p:cNvSpPr>
              <a:spLocks noChangeArrowheads="1"/>
            </p:cNvSpPr>
            <p:nvPr/>
          </p:nvSpPr>
          <p:spPr bwMode="auto">
            <a:xfrm>
              <a:off x="219456" y="4577455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64" name="Rectangle 33"/>
            <p:cNvSpPr>
              <a:spLocks noChangeArrowheads="1"/>
            </p:cNvSpPr>
            <p:nvPr/>
          </p:nvSpPr>
          <p:spPr bwMode="auto">
            <a:xfrm>
              <a:off x="438912" y="4801478"/>
              <a:ext cx="49922" cy="15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65" name="Rectangle 34"/>
            <p:cNvSpPr>
              <a:spLocks noChangeArrowheads="1"/>
            </p:cNvSpPr>
            <p:nvPr/>
          </p:nvSpPr>
          <p:spPr bwMode="auto">
            <a:xfrm>
              <a:off x="478536" y="4808494"/>
              <a:ext cx="522761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DoB&lt;Jan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66" name="Rectangle 35"/>
            <p:cNvSpPr>
              <a:spLocks noChangeArrowheads="1"/>
            </p:cNvSpPr>
            <p:nvPr/>
          </p:nvSpPr>
          <p:spPr bwMode="auto">
            <a:xfrm>
              <a:off x="871728" y="4807974"/>
              <a:ext cx="34519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67" name="Rectangle 36"/>
            <p:cNvSpPr>
              <a:spLocks noChangeArrowheads="1"/>
            </p:cNvSpPr>
            <p:nvPr/>
          </p:nvSpPr>
          <p:spPr bwMode="auto">
            <a:xfrm>
              <a:off x="899160" y="4808494"/>
              <a:ext cx="385512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1 1965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68" name="Rectangle 37"/>
            <p:cNvSpPr>
              <a:spLocks noChangeArrowheads="1"/>
            </p:cNvSpPr>
            <p:nvPr/>
          </p:nvSpPr>
          <p:spPr bwMode="auto">
            <a:xfrm>
              <a:off x="1188720" y="4808494"/>
              <a:ext cx="45981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69" name="Rectangle 38"/>
            <p:cNvSpPr>
              <a:spLocks noChangeArrowheads="1"/>
            </p:cNvSpPr>
            <p:nvPr/>
          </p:nvSpPr>
          <p:spPr bwMode="auto">
            <a:xfrm>
              <a:off x="1222253" y="4808494"/>
              <a:ext cx="34519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70" name="Rectangle 39"/>
            <p:cNvSpPr>
              <a:spLocks noChangeArrowheads="1"/>
            </p:cNvSpPr>
            <p:nvPr/>
          </p:nvSpPr>
          <p:spPr bwMode="auto">
            <a:xfrm>
              <a:off x="1249680" y="4779137"/>
              <a:ext cx="41423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41" name="Shape 6304"/>
            <p:cNvSpPr/>
            <p:nvPr/>
          </p:nvSpPr>
          <p:spPr>
            <a:xfrm>
              <a:off x="667429" y="4899447"/>
              <a:ext cx="0" cy="444133"/>
            </a:xfrm>
            <a:custGeom>
              <a:avLst/>
              <a:gdLst/>
              <a:ahLst/>
              <a:cxnLst/>
              <a:rect l="0" t="0" r="0" b="0"/>
              <a:pathLst>
                <a:path h="445008">
                  <a:moveTo>
                    <a:pt x="0" y="445008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" name="Shape 6305"/>
            <p:cNvSpPr/>
            <p:nvPr/>
          </p:nvSpPr>
          <p:spPr>
            <a:xfrm>
              <a:off x="667429" y="4009434"/>
              <a:ext cx="667428" cy="776358"/>
            </a:xfrm>
            <a:custGeom>
              <a:avLst/>
              <a:gdLst/>
              <a:ahLst/>
              <a:cxnLst/>
              <a:rect l="0" t="0" r="0" b="0"/>
              <a:pathLst>
                <a:path w="667512" h="777240">
                  <a:moveTo>
                    <a:pt x="0" y="777240"/>
                  </a:moveTo>
                  <a:lnTo>
                    <a:pt x="667512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" name="Shape 6306"/>
            <p:cNvSpPr/>
            <p:nvPr/>
          </p:nvSpPr>
          <p:spPr>
            <a:xfrm>
              <a:off x="1557333" y="4009434"/>
              <a:ext cx="667428" cy="667947"/>
            </a:xfrm>
            <a:custGeom>
              <a:avLst/>
              <a:gdLst/>
              <a:ahLst/>
              <a:cxnLst/>
              <a:rect l="0" t="0" r="0" b="0"/>
              <a:pathLst>
                <a:path w="667512" h="667512">
                  <a:moveTo>
                    <a:pt x="667512" y="667512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074" name="Rectangle 43"/>
            <p:cNvSpPr>
              <a:spLocks noChangeArrowheads="1"/>
            </p:cNvSpPr>
            <p:nvPr/>
          </p:nvSpPr>
          <p:spPr bwMode="auto">
            <a:xfrm>
              <a:off x="935736" y="3041263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54758" y="3266298"/>
              <a:ext cx="43889" cy="13114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185026" y="3266298"/>
              <a:ext cx="396522" cy="13114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WEmp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487715" y="3266298"/>
              <a:ext cx="720399" cy="13114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ID=EEmpID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032554" y="3266298"/>
              <a:ext cx="43889" cy="13114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062823" y="3266298"/>
              <a:ext cx="33296" cy="13114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80" name="Rectangle 49"/>
            <p:cNvSpPr>
              <a:spLocks noChangeArrowheads="1"/>
            </p:cNvSpPr>
            <p:nvPr/>
          </p:nvSpPr>
          <p:spPr bwMode="auto">
            <a:xfrm>
              <a:off x="2090928" y="3242945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51" name="Shape 6315"/>
            <p:cNvSpPr/>
            <p:nvPr/>
          </p:nvSpPr>
          <p:spPr>
            <a:xfrm>
              <a:off x="1436258" y="3378205"/>
              <a:ext cx="3027" cy="444133"/>
            </a:xfrm>
            <a:custGeom>
              <a:avLst/>
              <a:gdLst/>
              <a:ahLst/>
              <a:cxnLst/>
              <a:rect l="0" t="0" r="0" b="0"/>
              <a:pathLst>
                <a:path w="3048" h="445008">
                  <a:moveTo>
                    <a:pt x="0" y="445008"/>
                  </a:moveTo>
                  <a:lnTo>
                    <a:pt x="3048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082" name="Rectangle 51"/>
            <p:cNvSpPr>
              <a:spLocks noChangeArrowheads="1"/>
            </p:cNvSpPr>
            <p:nvPr/>
          </p:nvSpPr>
          <p:spPr bwMode="auto">
            <a:xfrm>
              <a:off x="3398520" y="3056503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618643" y="3285533"/>
              <a:ext cx="31782" cy="13114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642858" y="3285533"/>
              <a:ext cx="42376" cy="13114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676154" y="3285533"/>
              <a:ext cx="855095" cy="13114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PName=’Ring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86" name="Rectangle 55"/>
            <p:cNvSpPr>
              <a:spLocks noChangeArrowheads="1"/>
            </p:cNvSpPr>
            <p:nvPr/>
          </p:nvSpPr>
          <p:spPr bwMode="auto">
            <a:xfrm>
              <a:off x="4319016" y="3287541"/>
              <a:ext cx="330281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Road’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87" name="Rectangle 56"/>
            <p:cNvSpPr>
              <a:spLocks noChangeArrowheads="1"/>
            </p:cNvSpPr>
            <p:nvPr/>
          </p:nvSpPr>
          <p:spPr bwMode="auto">
            <a:xfrm>
              <a:off x="4568952" y="3287541"/>
              <a:ext cx="45981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88" name="Rectangle 57"/>
            <p:cNvSpPr>
              <a:spLocks noChangeArrowheads="1"/>
            </p:cNvSpPr>
            <p:nvPr/>
          </p:nvSpPr>
          <p:spPr bwMode="auto">
            <a:xfrm>
              <a:off x="4605528" y="3258185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59" name="Shape 6324"/>
            <p:cNvSpPr/>
            <p:nvPr/>
          </p:nvSpPr>
          <p:spPr>
            <a:xfrm>
              <a:off x="4004570" y="3378206"/>
              <a:ext cx="0" cy="335722"/>
            </a:xfrm>
            <a:custGeom>
              <a:avLst/>
              <a:gdLst/>
              <a:ahLst/>
              <a:cxnLst/>
              <a:rect l="0" t="0" r="0" b="0"/>
              <a:pathLst>
                <a:path h="335280">
                  <a:moveTo>
                    <a:pt x="0" y="335280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0" name="Shape 6325"/>
            <p:cNvSpPr/>
            <p:nvPr/>
          </p:nvSpPr>
          <p:spPr>
            <a:xfrm>
              <a:off x="1448365" y="2115750"/>
              <a:ext cx="1112380" cy="1113829"/>
            </a:xfrm>
            <a:custGeom>
              <a:avLst/>
              <a:gdLst/>
              <a:ahLst/>
              <a:cxnLst/>
              <a:rect l="0" t="0" r="0" b="0"/>
              <a:pathLst>
                <a:path w="1112520" h="1112520">
                  <a:moveTo>
                    <a:pt x="0" y="1112520"/>
                  </a:moveTo>
                  <a:lnTo>
                    <a:pt x="111252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" name="Shape 6326"/>
            <p:cNvSpPr/>
            <p:nvPr/>
          </p:nvSpPr>
          <p:spPr>
            <a:xfrm>
              <a:off x="2783222" y="2115750"/>
              <a:ext cx="1221348" cy="1113829"/>
            </a:xfrm>
            <a:custGeom>
              <a:avLst/>
              <a:gdLst/>
              <a:ahLst/>
              <a:cxnLst/>
              <a:rect l="0" t="0" r="0" b="0"/>
              <a:pathLst>
                <a:path w="1222248" h="1112520">
                  <a:moveTo>
                    <a:pt x="1222248" y="1112520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401259" y="152400"/>
            <a:ext cx="11419679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374581"/>
            <a:ext cx="6414052" cy="346893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172448-3694-4083-B6E3-C2A8C552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F188-06C8-47EB-8299-5E8531FE0BF8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7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143001"/>
            <a:ext cx="8153400" cy="5330825"/>
          </a:xfrm>
        </p:spPr>
        <p:txBody>
          <a:bodyPr/>
          <a:lstStyle/>
          <a:p>
            <a:r>
              <a:rPr lang="en-US" dirty="0"/>
              <a:t>Using the third step, perform most restrictive operations first. </a:t>
            </a:r>
          </a:p>
          <a:p>
            <a:r>
              <a:rPr lang="en-US" dirty="0"/>
              <a:t>From the query given we can see that selection on PROJECT is most restrictive than selection on EMPLOYEE. </a:t>
            </a:r>
          </a:p>
          <a:p>
            <a:r>
              <a:rPr lang="en-US" dirty="0"/>
              <a:t>Thus, it is better to perform selection on PROJECT BEFORE on EMPLOYEE. rearrange the nodes to achieve this. 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359236"/>
            <a:ext cx="6414052" cy="362238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2D9CC-D091-4F1A-ADCD-7E25EBAB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044BE-59FE-4819-A18F-F0F61B22176B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3" name="Group 4"/>
          <p:cNvGrpSpPr>
            <a:grpSpLocks/>
          </p:cNvGrpSpPr>
          <p:nvPr/>
        </p:nvGrpSpPr>
        <p:grpSpPr bwMode="auto">
          <a:xfrm>
            <a:off x="2514600" y="152401"/>
            <a:ext cx="5943600" cy="6035675"/>
            <a:chOff x="0" y="0"/>
            <a:chExt cx="4895088" cy="5673207"/>
          </a:xfrm>
        </p:grpSpPr>
        <p:sp>
          <p:nvSpPr>
            <p:cNvPr id="6" name="Shape 6362"/>
            <p:cNvSpPr/>
            <p:nvPr/>
          </p:nvSpPr>
          <p:spPr>
            <a:xfrm>
              <a:off x="0" y="5340454"/>
              <a:ext cx="1334906" cy="332753"/>
            </a:xfrm>
            <a:custGeom>
              <a:avLst/>
              <a:gdLst/>
              <a:ahLst/>
              <a:cxnLst/>
              <a:rect l="0" t="0" r="0" b="0"/>
              <a:pathLst>
                <a:path w="1335024" h="332232">
                  <a:moveTo>
                    <a:pt x="667512" y="0"/>
                  </a:moveTo>
                  <a:cubicBezTo>
                    <a:pt x="298704" y="0"/>
                    <a:pt x="0" y="73151"/>
                    <a:pt x="0" y="167639"/>
                  </a:cubicBezTo>
                  <a:cubicBezTo>
                    <a:pt x="0" y="259080"/>
                    <a:pt x="298704" y="332232"/>
                    <a:pt x="667512" y="332232"/>
                  </a:cubicBezTo>
                  <a:cubicBezTo>
                    <a:pt x="1036320" y="332232"/>
                    <a:pt x="1335024" y="259080"/>
                    <a:pt x="1335024" y="167639"/>
                  </a:cubicBezTo>
                  <a:cubicBezTo>
                    <a:pt x="1335024" y="73151"/>
                    <a:pt x="1036320" y="0"/>
                    <a:pt x="667512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1490" y="5450874"/>
              <a:ext cx="834152" cy="1805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PROJECT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86450" y="5450874"/>
              <a:ext cx="49683" cy="1805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Shape 6366"/>
            <p:cNvSpPr/>
            <p:nvPr/>
          </p:nvSpPr>
          <p:spPr>
            <a:xfrm>
              <a:off x="1779438" y="4673457"/>
              <a:ext cx="1448653" cy="332752"/>
            </a:xfrm>
            <a:custGeom>
              <a:avLst/>
              <a:gdLst/>
              <a:ahLst/>
              <a:cxnLst/>
              <a:rect l="0" t="0" r="0" b="0"/>
              <a:pathLst>
                <a:path w="1447800" h="332232">
                  <a:moveTo>
                    <a:pt x="722376" y="0"/>
                  </a:moveTo>
                  <a:cubicBezTo>
                    <a:pt x="323088" y="0"/>
                    <a:pt x="0" y="73152"/>
                    <a:pt x="0" y="167641"/>
                  </a:cubicBezTo>
                  <a:cubicBezTo>
                    <a:pt x="0" y="259080"/>
                    <a:pt x="323088" y="332232"/>
                    <a:pt x="722376" y="332232"/>
                  </a:cubicBezTo>
                  <a:cubicBezTo>
                    <a:pt x="1121664" y="332232"/>
                    <a:pt x="1447800" y="259080"/>
                    <a:pt x="1447800" y="167641"/>
                  </a:cubicBezTo>
                  <a:cubicBezTo>
                    <a:pt x="1447800" y="73152"/>
                    <a:pt x="1121664" y="0"/>
                    <a:pt x="72237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60539" y="4783877"/>
              <a:ext cx="1099565" cy="17906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WORKS_ON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82925" y="4783877"/>
              <a:ext cx="49683" cy="17906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Shape 6370"/>
            <p:cNvSpPr/>
            <p:nvPr/>
          </p:nvSpPr>
          <p:spPr>
            <a:xfrm>
              <a:off x="3450358" y="3711011"/>
              <a:ext cx="1444730" cy="331260"/>
            </a:xfrm>
            <a:custGeom>
              <a:avLst/>
              <a:gdLst/>
              <a:ahLst/>
              <a:cxnLst/>
              <a:rect l="0" t="0" r="0" b="0"/>
              <a:pathLst>
                <a:path w="1444752" h="332232">
                  <a:moveTo>
                    <a:pt x="722376" y="0"/>
                  </a:moveTo>
                  <a:cubicBezTo>
                    <a:pt x="323088" y="0"/>
                    <a:pt x="0" y="73152"/>
                    <a:pt x="0" y="164592"/>
                  </a:cubicBezTo>
                  <a:cubicBezTo>
                    <a:pt x="0" y="259080"/>
                    <a:pt x="323088" y="332232"/>
                    <a:pt x="722376" y="332232"/>
                  </a:cubicBezTo>
                  <a:cubicBezTo>
                    <a:pt x="1121664" y="332232"/>
                    <a:pt x="1444752" y="259080"/>
                    <a:pt x="1444752" y="164592"/>
                  </a:cubicBezTo>
                  <a:cubicBezTo>
                    <a:pt x="1444752" y="73152"/>
                    <a:pt x="1121664" y="0"/>
                    <a:pt x="72237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27537" y="3818447"/>
              <a:ext cx="811925" cy="17906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EMPLOY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47901" y="3818447"/>
              <a:ext cx="241878" cy="17906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EE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517236" y="3818447"/>
              <a:ext cx="49683" cy="17906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094" name="Rectangle 15"/>
            <p:cNvSpPr>
              <a:spLocks noChangeArrowheads="1"/>
            </p:cNvSpPr>
            <p:nvPr/>
          </p:nvSpPr>
          <p:spPr bwMode="auto">
            <a:xfrm>
              <a:off x="2087880" y="752215"/>
              <a:ext cx="293304" cy="530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307647" y="980351"/>
              <a:ext cx="43145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340333" y="980351"/>
              <a:ext cx="32687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097" name="Rectangle 18"/>
            <p:cNvSpPr>
              <a:spLocks noChangeArrowheads="1"/>
            </p:cNvSpPr>
            <p:nvPr/>
          </p:nvSpPr>
          <p:spPr bwMode="auto">
            <a:xfrm>
              <a:off x="2365248" y="980970"/>
              <a:ext cx="1122344" cy="130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WEmpID=EEmpID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209787" y="980351"/>
              <a:ext cx="43145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099" name="Rectangle 20"/>
            <p:cNvSpPr>
              <a:spLocks noChangeArrowheads="1"/>
            </p:cNvSpPr>
            <p:nvPr/>
          </p:nvSpPr>
          <p:spPr bwMode="auto">
            <a:xfrm>
              <a:off x="3246120" y="953898"/>
              <a:ext cx="41423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136371" y="0"/>
              <a:ext cx="244493" cy="45063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319414" y="173091"/>
              <a:ext cx="95444" cy="15816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46102" name="Rectangle 23"/>
            <p:cNvSpPr>
              <a:spLocks noChangeArrowheads="1"/>
            </p:cNvSpPr>
            <p:nvPr/>
          </p:nvSpPr>
          <p:spPr bwMode="auto">
            <a:xfrm>
              <a:off x="2392680" y="184159"/>
              <a:ext cx="957152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FName, LName</a:t>
              </a:r>
              <a:endParaRPr 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11728" y="173091"/>
              <a:ext cx="95444" cy="15816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84945" y="150708"/>
              <a:ext cx="45761" cy="16413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59747" y="3876642"/>
              <a:ext cx="179121" cy="22531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X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493106" y="3876642"/>
              <a:ext cx="62758" cy="22531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603131" y="1980101"/>
              <a:ext cx="179120" cy="22680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X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33876" y="1980101"/>
              <a:ext cx="62758" cy="22680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Shape 6393"/>
            <p:cNvSpPr/>
            <p:nvPr/>
          </p:nvSpPr>
          <p:spPr>
            <a:xfrm>
              <a:off x="2669810" y="1113154"/>
              <a:ext cx="0" cy="777417"/>
            </a:xfrm>
            <a:custGeom>
              <a:avLst/>
              <a:gdLst/>
              <a:ahLst/>
              <a:cxnLst/>
              <a:rect l="0" t="0" r="0" b="0"/>
              <a:pathLst>
                <a:path h="777240">
                  <a:moveTo>
                    <a:pt x="0" y="777240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Shape 6394"/>
            <p:cNvSpPr/>
            <p:nvPr/>
          </p:nvSpPr>
          <p:spPr>
            <a:xfrm>
              <a:off x="2669810" y="350658"/>
              <a:ext cx="9153" cy="540163"/>
            </a:xfrm>
            <a:custGeom>
              <a:avLst/>
              <a:gdLst/>
              <a:ahLst/>
              <a:cxnLst/>
              <a:rect l="0" t="0" r="0" b="0"/>
              <a:pathLst>
                <a:path w="9144" h="539496">
                  <a:moveTo>
                    <a:pt x="0" y="539496"/>
                  </a:moveTo>
                  <a:lnTo>
                    <a:pt x="9144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11" name="Rectangle 32"/>
            <p:cNvSpPr>
              <a:spLocks noChangeArrowheads="1"/>
            </p:cNvSpPr>
            <p:nvPr/>
          </p:nvSpPr>
          <p:spPr bwMode="auto">
            <a:xfrm>
              <a:off x="64008" y="4574408"/>
              <a:ext cx="293304" cy="530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3717" y="4803275"/>
              <a:ext cx="32686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07251" y="4803275"/>
              <a:ext cx="44453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14" name="Rectangle 35"/>
            <p:cNvSpPr>
              <a:spLocks noChangeArrowheads="1"/>
            </p:cNvSpPr>
            <p:nvPr/>
          </p:nvSpPr>
          <p:spPr bwMode="auto">
            <a:xfrm>
              <a:off x="341376" y="4803163"/>
              <a:ext cx="855460" cy="130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PName=’Ring 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15" name="Rectangle 36"/>
            <p:cNvSpPr>
              <a:spLocks noChangeArrowheads="1"/>
            </p:cNvSpPr>
            <p:nvPr/>
          </p:nvSpPr>
          <p:spPr bwMode="auto">
            <a:xfrm>
              <a:off x="984504" y="4805446"/>
              <a:ext cx="291896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Road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16" name="Rectangle 37"/>
            <p:cNvSpPr>
              <a:spLocks noChangeArrowheads="1"/>
            </p:cNvSpPr>
            <p:nvPr/>
          </p:nvSpPr>
          <p:spPr bwMode="auto">
            <a:xfrm>
              <a:off x="1203960" y="4805446"/>
              <a:ext cx="119575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’)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17" name="Rectangle 38"/>
            <p:cNvSpPr>
              <a:spLocks noChangeArrowheads="1"/>
            </p:cNvSpPr>
            <p:nvPr/>
          </p:nvSpPr>
          <p:spPr bwMode="auto">
            <a:xfrm>
              <a:off x="1295400" y="4776089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40" name="Shape 6403"/>
            <p:cNvSpPr/>
            <p:nvPr/>
          </p:nvSpPr>
          <p:spPr>
            <a:xfrm>
              <a:off x="668107" y="4895789"/>
              <a:ext cx="0" cy="444665"/>
            </a:xfrm>
            <a:custGeom>
              <a:avLst/>
              <a:gdLst/>
              <a:ahLst/>
              <a:cxnLst/>
              <a:rect l="0" t="0" r="0" b="0"/>
              <a:pathLst>
                <a:path h="445009">
                  <a:moveTo>
                    <a:pt x="0" y="445009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Shape 6404"/>
            <p:cNvSpPr/>
            <p:nvPr/>
          </p:nvSpPr>
          <p:spPr>
            <a:xfrm>
              <a:off x="668107" y="4006459"/>
              <a:ext cx="666799" cy="777418"/>
            </a:xfrm>
            <a:custGeom>
              <a:avLst/>
              <a:gdLst/>
              <a:ahLst/>
              <a:cxnLst/>
              <a:rect l="0" t="0" r="0" b="0"/>
              <a:pathLst>
                <a:path w="667512" h="777239">
                  <a:moveTo>
                    <a:pt x="0" y="777239"/>
                  </a:moveTo>
                  <a:lnTo>
                    <a:pt x="667512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" name="Shape 6405"/>
            <p:cNvSpPr/>
            <p:nvPr/>
          </p:nvSpPr>
          <p:spPr>
            <a:xfrm>
              <a:off x="1557172" y="4006459"/>
              <a:ext cx="668106" cy="666998"/>
            </a:xfrm>
            <a:custGeom>
              <a:avLst/>
              <a:gdLst/>
              <a:ahLst/>
              <a:cxnLst/>
              <a:rect l="0" t="0" r="0" b="0"/>
              <a:pathLst>
                <a:path w="667512" h="667511">
                  <a:moveTo>
                    <a:pt x="667512" y="667511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21" name="Rectangle 42"/>
            <p:cNvSpPr>
              <a:spLocks noChangeArrowheads="1"/>
            </p:cNvSpPr>
            <p:nvPr/>
          </p:nvSpPr>
          <p:spPr bwMode="auto">
            <a:xfrm>
              <a:off x="926592" y="3035167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46633" y="3263362"/>
              <a:ext cx="43145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76704" y="3263362"/>
              <a:ext cx="32687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24" name="Rectangle 45"/>
            <p:cNvSpPr>
              <a:spLocks noChangeArrowheads="1"/>
            </p:cNvSpPr>
            <p:nvPr/>
          </p:nvSpPr>
          <p:spPr bwMode="auto">
            <a:xfrm>
              <a:off x="1200912" y="3263922"/>
              <a:ext cx="1114533" cy="130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PProjID=WProjID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042235" y="3263362"/>
              <a:ext cx="43146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076229" y="3263362"/>
              <a:ext cx="31379" cy="13131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27" name="Rectangle 48"/>
            <p:cNvSpPr>
              <a:spLocks noChangeArrowheads="1"/>
            </p:cNvSpPr>
            <p:nvPr/>
          </p:nvSpPr>
          <p:spPr bwMode="auto">
            <a:xfrm>
              <a:off x="2103120" y="3236849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50" name="Shape 6414"/>
            <p:cNvSpPr/>
            <p:nvPr/>
          </p:nvSpPr>
          <p:spPr>
            <a:xfrm>
              <a:off x="1435579" y="3375275"/>
              <a:ext cx="2615" cy="444665"/>
            </a:xfrm>
            <a:custGeom>
              <a:avLst/>
              <a:gdLst/>
              <a:ahLst/>
              <a:cxnLst/>
              <a:rect l="0" t="0" r="0" b="0"/>
              <a:pathLst>
                <a:path w="3048" h="445008">
                  <a:moveTo>
                    <a:pt x="0" y="445008"/>
                  </a:moveTo>
                  <a:lnTo>
                    <a:pt x="3048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29" name="Rectangle 50"/>
            <p:cNvSpPr>
              <a:spLocks noChangeArrowheads="1"/>
            </p:cNvSpPr>
            <p:nvPr/>
          </p:nvSpPr>
          <p:spPr bwMode="auto">
            <a:xfrm>
              <a:off x="3544824" y="3056503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764145" y="3285745"/>
              <a:ext cx="32686" cy="12981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788986" y="3285745"/>
              <a:ext cx="43146" cy="12981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32" name="Rectangle 53"/>
            <p:cNvSpPr>
              <a:spLocks noChangeArrowheads="1"/>
            </p:cNvSpPr>
            <p:nvPr/>
          </p:nvSpPr>
          <p:spPr bwMode="auto">
            <a:xfrm>
              <a:off x="3825240" y="3287542"/>
              <a:ext cx="522761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DoB&lt;Jan</a:t>
              </a:r>
              <a:endParaRPr 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33" name="Rectangle 54"/>
            <p:cNvSpPr>
              <a:spLocks noChangeArrowheads="1"/>
            </p:cNvSpPr>
            <p:nvPr/>
          </p:nvSpPr>
          <p:spPr bwMode="auto">
            <a:xfrm>
              <a:off x="4218432" y="3287023"/>
              <a:ext cx="34519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34" name="Rectangle 55"/>
            <p:cNvSpPr>
              <a:spLocks noChangeArrowheads="1"/>
            </p:cNvSpPr>
            <p:nvPr/>
          </p:nvSpPr>
          <p:spPr bwMode="auto">
            <a:xfrm>
              <a:off x="4245864" y="3287542"/>
              <a:ext cx="385374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1 1965</a:t>
              </a:r>
              <a:endParaRPr 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35" name="Rectangle 56"/>
            <p:cNvSpPr>
              <a:spLocks noChangeArrowheads="1"/>
            </p:cNvSpPr>
            <p:nvPr/>
          </p:nvSpPr>
          <p:spPr bwMode="auto">
            <a:xfrm>
              <a:off x="4535424" y="3287542"/>
              <a:ext cx="45981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36" name="Rectangle 57"/>
            <p:cNvSpPr>
              <a:spLocks noChangeArrowheads="1"/>
            </p:cNvSpPr>
            <p:nvPr/>
          </p:nvSpPr>
          <p:spPr bwMode="auto">
            <a:xfrm>
              <a:off x="4572000" y="3258185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59" name="Shape 6424"/>
            <p:cNvSpPr/>
            <p:nvPr/>
          </p:nvSpPr>
          <p:spPr>
            <a:xfrm>
              <a:off x="4004716" y="3375275"/>
              <a:ext cx="0" cy="335736"/>
            </a:xfrm>
            <a:custGeom>
              <a:avLst/>
              <a:gdLst/>
              <a:ahLst/>
              <a:cxnLst/>
              <a:rect l="0" t="0" r="0" b="0"/>
              <a:pathLst>
                <a:path h="335280">
                  <a:moveTo>
                    <a:pt x="0" y="335280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0" name="Shape 6425"/>
            <p:cNvSpPr/>
            <p:nvPr/>
          </p:nvSpPr>
          <p:spPr>
            <a:xfrm>
              <a:off x="1447346" y="2112904"/>
              <a:ext cx="1112638" cy="1113154"/>
            </a:xfrm>
            <a:custGeom>
              <a:avLst/>
              <a:gdLst/>
              <a:ahLst/>
              <a:cxnLst/>
              <a:rect l="0" t="0" r="0" b="0"/>
              <a:pathLst>
                <a:path w="1112520" h="1112520">
                  <a:moveTo>
                    <a:pt x="0" y="1112520"/>
                  </a:moveTo>
                  <a:lnTo>
                    <a:pt x="111252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" name="Shape 6426"/>
            <p:cNvSpPr/>
            <p:nvPr/>
          </p:nvSpPr>
          <p:spPr>
            <a:xfrm>
              <a:off x="2782251" y="2112904"/>
              <a:ext cx="1222465" cy="1113154"/>
            </a:xfrm>
            <a:custGeom>
              <a:avLst/>
              <a:gdLst/>
              <a:ahLst/>
              <a:cxnLst/>
              <a:rect l="0" t="0" r="0" b="0"/>
              <a:pathLst>
                <a:path w="1222248" h="1112520">
                  <a:moveTo>
                    <a:pt x="1222248" y="1112520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5" y="6356349"/>
            <a:ext cx="6414053" cy="365125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8559F-0B6E-4575-8FAC-C3F06727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672A6-101A-4333-AD1E-63084175C3E9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0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304801"/>
            <a:ext cx="8153400" cy="6169025"/>
          </a:xfrm>
        </p:spPr>
        <p:txBody>
          <a:bodyPr/>
          <a:lstStyle/>
          <a:p>
            <a:r>
              <a:rPr lang="en-US" dirty="0"/>
              <a:t>Using the forth step, Perform Join Operations with the subsequent Selection Operation.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7108" name="Group 5"/>
          <p:cNvGrpSpPr>
            <a:grpSpLocks/>
          </p:cNvGrpSpPr>
          <p:nvPr/>
        </p:nvGrpSpPr>
        <p:grpSpPr bwMode="auto">
          <a:xfrm>
            <a:off x="2667001" y="1162050"/>
            <a:ext cx="5548313" cy="5092700"/>
            <a:chOff x="0" y="0"/>
            <a:chExt cx="4895088" cy="4862439"/>
          </a:xfrm>
        </p:grpSpPr>
        <p:sp>
          <p:nvSpPr>
            <p:cNvPr id="7" name="Shape 6449"/>
            <p:cNvSpPr/>
            <p:nvPr/>
          </p:nvSpPr>
          <p:spPr>
            <a:xfrm>
              <a:off x="0" y="4527465"/>
              <a:ext cx="1334770" cy="334974"/>
            </a:xfrm>
            <a:custGeom>
              <a:avLst/>
              <a:gdLst/>
              <a:ahLst/>
              <a:cxnLst/>
              <a:rect l="0" t="0" r="0" b="0"/>
              <a:pathLst>
                <a:path w="1335024" h="335280">
                  <a:moveTo>
                    <a:pt x="667512" y="0"/>
                  </a:moveTo>
                  <a:cubicBezTo>
                    <a:pt x="298704" y="0"/>
                    <a:pt x="0" y="76200"/>
                    <a:pt x="0" y="167640"/>
                  </a:cubicBezTo>
                  <a:cubicBezTo>
                    <a:pt x="0" y="259080"/>
                    <a:pt x="298704" y="335280"/>
                    <a:pt x="667512" y="335280"/>
                  </a:cubicBezTo>
                  <a:cubicBezTo>
                    <a:pt x="1036320" y="335280"/>
                    <a:pt x="1335024" y="259080"/>
                    <a:pt x="1335024" y="167640"/>
                  </a:cubicBezTo>
                  <a:cubicBezTo>
                    <a:pt x="1335024" y="76200"/>
                    <a:pt x="1036320" y="0"/>
                    <a:pt x="667512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61912" y="4641143"/>
              <a:ext cx="834756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PROJECT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86579" y="4641143"/>
              <a:ext cx="49020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Shape 6453"/>
            <p:cNvSpPr/>
            <p:nvPr/>
          </p:nvSpPr>
          <p:spPr>
            <a:xfrm>
              <a:off x="1670913" y="3972710"/>
              <a:ext cx="1444015" cy="331943"/>
            </a:xfrm>
            <a:custGeom>
              <a:avLst/>
              <a:gdLst/>
              <a:ahLst/>
              <a:cxnLst/>
              <a:rect l="0" t="0" r="0" b="0"/>
              <a:pathLst>
                <a:path w="1444752" h="332232">
                  <a:moveTo>
                    <a:pt x="722376" y="0"/>
                  </a:moveTo>
                  <a:cubicBezTo>
                    <a:pt x="323088" y="0"/>
                    <a:pt x="0" y="73152"/>
                    <a:pt x="0" y="167640"/>
                  </a:cubicBezTo>
                  <a:cubicBezTo>
                    <a:pt x="0" y="259080"/>
                    <a:pt x="323088" y="332232"/>
                    <a:pt x="722376" y="332232"/>
                  </a:cubicBezTo>
                  <a:cubicBezTo>
                    <a:pt x="1121664" y="332232"/>
                    <a:pt x="1444752" y="259080"/>
                    <a:pt x="1444752" y="167640"/>
                  </a:cubicBezTo>
                  <a:cubicBezTo>
                    <a:pt x="1444752" y="73152"/>
                    <a:pt x="1121664" y="0"/>
                    <a:pt x="72237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8231" y="4083357"/>
              <a:ext cx="1098068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WORKS_ON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770381" y="4083357"/>
              <a:ext cx="49021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Shape 6457"/>
            <p:cNvSpPr/>
            <p:nvPr/>
          </p:nvSpPr>
          <p:spPr>
            <a:xfrm>
              <a:off x="3449672" y="3414924"/>
              <a:ext cx="1445416" cy="334974"/>
            </a:xfrm>
            <a:custGeom>
              <a:avLst/>
              <a:gdLst/>
              <a:ahLst/>
              <a:cxnLst/>
              <a:rect l="0" t="0" r="0" b="0"/>
              <a:pathLst>
                <a:path w="1444752" h="335280">
                  <a:moveTo>
                    <a:pt x="722376" y="0"/>
                  </a:moveTo>
                  <a:cubicBezTo>
                    <a:pt x="323088" y="0"/>
                    <a:pt x="0" y="76200"/>
                    <a:pt x="0" y="167640"/>
                  </a:cubicBezTo>
                  <a:cubicBezTo>
                    <a:pt x="0" y="259080"/>
                    <a:pt x="323088" y="335280"/>
                    <a:pt x="722376" y="335280"/>
                  </a:cubicBezTo>
                  <a:cubicBezTo>
                    <a:pt x="1121664" y="335280"/>
                    <a:pt x="1444752" y="259080"/>
                    <a:pt x="1444752" y="167640"/>
                  </a:cubicBezTo>
                  <a:cubicBezTo>
                    <a:pt x="1444752" y="76200"/>
                    <a:pt x="1121664" y="0"/>
                    <a:pt x="72237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28390" y="3528603"/>
              <a:ext cx="810946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EMPLOY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337650" y="3528603"/>
              <a:ext cx="242303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EE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16927" y="3528603"/>
              <a:ext cx="49020" cy="178855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45715" y="0"/>
              <a:ext cx="245105" cy="45017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20" name="Rectangle 17"/>
            <p:cNvSpPr>
              <a:spLocks noChangeArrowheads="1"/>
            </p:cNvSpPr>
            <p:nvPr/>
          </p:nvSpPr>
          <p:spPr bwMode="auto">
            <a:xfrm>
              <a:off x="2328672" y="176378"/>
              <a:ext cx="95622" cy="15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47121" name="Rectangle 18"/>
            <p:cNvSpPr>
              <a:spLocks noChangeArrowheads="1"/>
            </p:cNvSpPr>
            <p:nvPr/>
          </p:nvSpPr>
          <p:spPr bwMode="auto">
            <a:xfrm>
              <a:off x="2416528" y="187133"/>
              <a:ext cx="961157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FName, LName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336223" y="219780"/>
              <a:ext cx="95241" cy="159150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 b="1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r>
                <a:rPr lang="en-US" sz="14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94763" y="150057"/>
              <a:ext cx="44819" cy="16521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7124" name="Picture 2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0701" y="3012684"/>
              <a:ext cx="2698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2"/>
            <p:cNvSpPr/>
            <p:nvPr/>
          </p:nvSpPr>
          <p:spPr>
            <a:xfrm>
              <a:off x="1560265" y="3199691"/>
              <a:ext cx="43419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593880" y="3199691"/>
              <a:ext cx="32214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27" name="Rectangle 24"/>
            <p:cNvSpPr>
              <a:spLocks noChangeArrowheads="1"/>
            </p:cNvSpPr>
            <p:nvPr/>
          </p:nvSpPr>
          <p:spPr bwMode="auto">
            <a:xfrm>
              <a:off x="1615440" y="3199914"/>
              <a:ext cx="1118699" cy="130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 dirty="0" err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PProjID</a:t>
              </a:r>
              <a:r>
                <a:rPr lang="en-US" sz="800" b="1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=</a:t>
              </a:r>
              <a:r>
                <a:rPr lang="en-US" sz="800" b="1" i="1" dirty="0" err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WProjID</a:t>
              </a:r>
              <a:endParaRPr lang="en-US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28" name="Rectangle 25"/>
            <p:cNvSpPr>
              <a:spLocks noChangeArrowheads="1"/>
            </p:cNvSpPr>
            <p:nvPr/>
          </p:nvSpPr>
          <p:spPr bwMode="auto">
            <a:xfrm>
              <a:off x="2531023" y="3199914"/>
              <a:ext cx="43353" cy="130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90262" y="3199691"/>
              <a:ext cx="32214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30" name="Rectangle 27"/>
            <p:cNvSpPr>
              <a:spLocks noChangeArrowheads="1"/>
            </p:cNvSpPr>
            <p:nvPr/>
          </p:nvSpPr>
          <p:spPr bwMode="auto">
            <a:xfrm>
              <a:off x="2514600" y="3172841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00312" y="3334590"/>
              <a:ext cx="63026" cy="22584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7132" name="Picture 2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801" y="1120384"/>
              <a:ext cx="2698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Rectangle 30"/>
            <p:cNvSpPr/>
            <p:nvPr/>
          </p:nvSpPr>
          <p:spPr>
            <a:xfrm>
              <a:off x="2868423" y="1306553"/>
              <a:ext cx="43419" cy="131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902038" y="1306553"/>
              <a:ext cx="32214" cy="13186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35" name="Rectangle 32"/>
            <p:cNvSpPr>
              <a:spLocks noChangeArrowheads="1"/>
            </p:cNvSpPr>
            <p:nvPr/>
          </p:nvSpPr>
          <p:spPr bwMode="auto">
            <a:xfrm>
              <a:off x="2941363" y="1307106"/>
              <a:ext cx="788804" cy="130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WEmpID=EE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36" name="Rectangle 33"/>
            <p:cNvSpPr>
              <a:spLocks noChangeArrowheads="1"/>
            </p:cNvSpPr>
            <p:nvPr/>
          </p:nvSpPr>
          <p:spPr bwMode="auto">
            <a:xfrm>
              <a:off x="3639476" y="1296891"/>
              <a:ext cx="332346" cy="130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mpID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37" name="Rectangle 34"/>
            <p:cNvSpPr>
              <a:spLocks noChangeArrowheads="1"/>
            </p:cNvSpPr>
            <p:nvPr/>
          </p:nvSpPr>
          <p:spPr bwMode="auto">
            <a:xfrm>
              <a:off x="3990193" y="1304336"/>
              <a:ext cx="43353" cy="130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9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38" name="Rectangle 35"/>
            <p:cNvSpPr>
              <a:spLocks noChangeArrowheads="1"/>
            </p:cNvSpPr>
            <p:nvPr/>
          </p:nvSpPr>
          <p:spPr bwMode="auto">
            <a:xfrm>
              <a:off x="3806952" y="1280034"/>
              <a:ext cx="41423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602310" y="1444484"/>
              <a:ext cx="63027" cy="22584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Shape 6487"/>
            <p:cNvSpPr/>
            <p:nvPr/>
          </p:nvSpPr>
          <p:spPr>
            <a:xfrm>
              <a:off x="2669538" y="300113"/>
              <a:ext cx="0" cy="779082"/>
            </a:xfrm>
            <a:custGeom>
              <a:avLst/>
              <a:gdLst/>
              <a:ahLst/>
              <a:cxnLst/>
              <a:rect l="0" t="0" r="0" b="0"/>
              <a:pathLst>
                <a:path h="780288">
                  <a:moveTo>
                    <a:pt x="0" y="780288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141" name="Rectangle 38"/>
            <p:cNvSpPr>
              <a:spLocks noChangeArrowheads="1"/>
            </p:cNvSpPr>
            <p:nvPr/>
          </p:nvSpPr>
          <p:spPr bwMode="auto">
            <a:xfrm>
              <a:off x="64008" y="3763639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2921" y="3992414"/>
              <a:ext cx="33614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08131" y="3992414"/>
              <a:ext cx="43419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44" name="Rectangle 41"/>
            <p:cNvSpPr>
              <a:spLocks noChangeArrowheads="1"/>
            </p:cNvSpPr>
            <p:nvPr/>
          </p:nvSpPr>
          <p:spPr bwMode="auto">
            <a:xfrm>
              <a:off x="341375" y="3979469"/>
              <a:ext cx="1274064" cy="213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PName=’Ring Road ‘) </a:t>
              </a:r>
              <a:endParaRPr lang="en-US" sz="16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45" name="Rectangle 44"/>
            <p:cNvSpPr>
              <a:spLocks noChangeArrowheads="1"/>
            </p:cNvSpPr>
            <p:nvPr/>
          </p:nvSpPr>
          <p:spPr bwMode="auto">
            <a:xfrm>
              <a:off x="1295400" y="3965321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46" name="Shape 6496"/>
            <p:cNvSpPr/>
            <p:nvPr/>
          </p:nvSpPr>
          <p:spPr>
            <a:xfrm>
              <a:off x="668085" y="4081842"/>
              <a:ext cx="0" cy="445623"/>
            </a:xfrm>
            <a:custGeom>
              <a:avLst/>
              <a:gdLst/>
              <a:ahLst/>
              <a:cxnLst/>
              <a:rect l="0" t="0" r="0" b="0"/>
              <a:pathLst>
                <a:path h="445008">
                  <a:moveTo>
                    <a:pt x="0" y="445008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" name="Shape 6497"/>
            <p:cNvSpPr/>
            <p:nvPr/>
          </p:nvSpPr>
          <p:spPr>
            <a:xfrm>
              <a:off x="668085" y="3304276"/>
              <a:ext cx="666684" cy="668434"/>
            </a:xfrm>
            <a:custGeom>
              <a:avLst/>
              <a:gdLst/>
              <a:ahLst/>
              <a:cxnLst/>
              <a:rect l="0" t="0" r="0" b="0"/>
              <a:pathLst>
                <a:path w="667512" h="667512">
                  <a:moveTo>
                    <a:pt x="0" y="667512"/>
                  </a:moveTo>
                  <a:lnTo>
                    <a:pt x="667512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8" name="Shape 6498"/>
            <p:cNvSpPr/>
            <p:nvPr/>
          </p:nvSpPr>
          <p:spPr>
            <a:xfrm>
              <a:off x="1557464" y="3304276"/>
              <a:ext cx="668085" cy="668434"/>
            </a:xfrm>
            <a:custGeom>
              <a:avLst/>
              <a:gdLst/>
              <a:ahLst/>
              <a:cxnLst/>
              <a:rect l="0" t="0" r="0" b="0"/>
              <a:pathLst>
                <a:path w="667512" h="667512">
                  <a:moveTo>
                    <a:pt x="667512" y="667512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149" name="Rectangle 48"/>
            <p:cNvSpPr>
              <a:spLocks noChangeArrowheads="1"/>
            </p:cNvSpPr>
            <p:nvPr/>
          </p:nvSpPr>
          <p:spPr bwMode="auto">
            <a:xfrm>
              <a:off x="3544824" y="2651119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764806" y="2879873"/>
              <a:ext cx="32214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788616" y="2879873"/>
              <a:ext cx="43418" cy="13035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52" name="Rectangle 51"/>
            <p:cNvSpPr>
              <a:spLocks noChangeArrowheads="1"/>
            </p:cNvSpPr>
            <p:nvPr/>
          </p:nvSpPr>
          <p:spPr bwMode="auto">
            <a:xfrm>
              <a:off x="3825240" y="2882158"/>
              <a:ext cx="522761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DoB&lt;Jan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53" name="Rectangle 52"/>
            <p:cNvSpPr>
              <a:spLocks noChangeArrowheads="1"/>
            </p:cNvSpPr>
            <p:nvPr/>
          </p:nvSpPr>
          <p:spPr bwMode="auto">
            <a:xfrm>
              <a:off x="4218432" y="2881639"/>
              <a:ext cx="34519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54" name="Rectangle 53"/>
            <p:cNvSpPr>
              <a:spLocks noChangeArrowheads="1"/>
            </p:cNvSpPr>
            <p:nvPr/>
          </p:nvSpPr>
          <p:spPr bwMode="auto">
            <a:xfrm>
              <a:off x="4245864" y="2882158"/>
              <a:ext cx="385374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1 1965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55" name="Rectangle 54"/>
            <p:cNvSpPr>
              <a:spLocks noChangeArrowheads="1"/>
            </p:cNvSpPr>
            <p:nvPr/>
          </p:nvSpPr>
          <p:spPr bwMode="auto">
            <a:xfrm>
              <a:off x="4535424" y="2882158"/>
              <a:ext cx="45981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56" name="Rectangle 55"/>
            <p:cNvSpPr>
              <a:spLocks noChangeArrowheads="1"/>
            </p:cNvSpPr>
            <p:nvPr/>
          </p:nvSpPr>
          <p:spPr bwMode="auto">
            <a:xfrm>
              <a:off x="4572000" y="2852801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57" name="Shape 6508"/>
            <p:cNvSpPr/>
            <p:nvPr/>
          </p:nvSpPr>
          <p:spPr>
            <a:xfrm>
              <a:off x="4005708" y="3082980"/>
              <a:ext cx="0" cy="331944"/>
            </a:xfrm>
            <a:custGeom>
              <a:avLst/>
              <a:gdLst/>
              <a:ahLst/>
              <a:cxnLst/>
              <a:rect l="0" t="0" r="0" b="0"/>
              <a:pathLst>
                <a:path h="332232">
                  <a:moveTo>
                    <a:pt x="0" y="332232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8" name="Shape 6509"/>
            <p:cNvSpPr/>
            <p:nvPr/>
          </p:nvSpPr>
          <p:spPr>
            <a:xfrm>
              <a:off x="1448218" y="1412654"/>
              <a:ext cx="1221321" cy="1556648"/>
            </a:xfrm>
            <a:custGeom>
              <a:avLst/>
              <a:gdLst/>
              <a:ahLst/>
              <a:cxnLst/>
              <a:rect l="0" t="0" r="0" b="0"/>
              <a:pathLst>
                <a:path w="1222248" h="1557528">
                  <a:moveTo>
                    <a:pt x="0" y="1557528"/>
                  </a:moveTo>
                  <a:lnTo>
                    <a:pt x="1222248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9" name="Shape 6510"/>
            <p:cNvSpPr/>
            <p:nvPr/>
          </p:nvSpPr>
          <p:spPr>
            <a:xfrm>
              <a:off x="2782987" y="1412654"/>
              <a:ext cx="1222721" cy="1333836"/>
            </a:xfrm>
            <a:custGeom>
              <a:avLst/>
              <a:gdLst/>
              <a:ahLst/>
              <a:cxnLst/>
              <a:rect l="0" t="0" r="0" b="0"/>
              <a:pathLst>
                <a:path w="1222248" h="1335024">
                  <a:moveTo>
                    <a:pt x="1222248" y="1335024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358040"/>
            <a:ext cx="6414052" cy="363434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AA5FE-A5D4-455F-8B6A-90B88FCC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5A57-BD70-45C9-8019-E7BB54D29BC7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0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2"/>
          <p:cNvSpPr>
            <a:spLocks noGrp="1"/>
          </p:cNvSpPr>
          <p:nvPr>
            <p:ph sz="quarter" idx="1"/>
          </p:nvPr>
        </p:nvSpPr>
        <p:spPr>
          <a:xfrm>
            <a:off x="1752600" y="76200"/>
            <a:ext cx="8229600" cy="6738938"/>
          </a:xfrm>
        </p:spPr>
        <p:txBody>
          <a:bodyPr/>
          <a:lstStyle/>
          <a:p>
            <a:r>
              <a:rPr lang="en-US"/>
              <a:t>Using the fifth step, Perform the projection as early as possible. </a:t>
            </a:r>
          </a:p>
          <a:p>
            <a:endParaRPr lang="en-US"/>
          </a:p>
        </p:txBody>
      </p:sp>
      <p:grpSp>
        <p:nvGrpSpPr>
          <p:cNvPr id="48132" name="Group 4"/>
          <p:cNvGrpSpPr>
            <a:grpSpLocks/>
          </p:cNvGrpSpPr>
          <p:nvPr/>
        </p:nvGrpSpPr>
        <p:grpSpPr bwMode="auto">
          <a:xfrm>
            <a:off x="4757738" y="430417"/>
            <a:ext cx="5453063" cy="5443910"/>
            <a:chOff x="0" y="0"/>
            <a:chExt cx="5453146" cy="6230990"/>
          </a:xfrm>
        </p:grpSpPr>
        <p:sp>
          <p:nvSpPr>
            <p:cNvPr id="48133" name="Rectangle 5"/>
            <p:cNvSpPr>
              <a:spLocks noChangeArrowheads="1"/>
            </p:cNvSpPr>
            <p:nvPr/>
          </p:nvSpPr>
          <p:spPr bwMode="auto">
            <a:xfrm>
              <a:off x="64008" y="5104759"/>
              <a:ext cx="293304" cy="530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4167" y="5334045"/>
              <a:ext cx="31750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7980" y="5334045"/>
              <a:ext cx="42864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41318" y="5334045"/>
              <a:ext cx="855675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PName=’Ring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37" name="Rectangle 9"/>
            <p:cNvSpPr>
              <a:spLocks noChangeArrowheads="1"/>
            </p:cNvSpPr>
            <p:nvPr/>
          </p:nvSpPr>
          <p:spPr bwMode="auto">
            <a:xfrm>
              <a:off x="984504" y="5335798"/>
              <a:ext cx="291896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Road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38" name="Rectangle 10"/>
            <p:cNvSpPr>
              <a:spLocks noChangeArrowheads="1"/>
            </p:cNvSpPr>
            <p:nvPr/>
          </p:nvSpPr>
          <p:spPr bwMode="auto">
            <a:xfrm>
              <a:off x="1203960" y="5335798"/>
              <a:ext cx="119575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’)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39" name="Rectangle 11"/>
            <p:cNvSpPr>
              <a:spLocks noChangeArrowheads="1"/>
            </p:cNvSpPr>
            <p:nvPr/>
          </p:nvSpPr>
          <p:spPr bwMode="auto">
            <a:xfrm>
              <a:off x="1295400" y="5306441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3" name="Shape 6541"/>
            <p:cNvSpPr/>
            <p:nvPr/>
          </p:nvSpPr>
          <p:spPr>
            <a:xfrm>
              <a:off x="0" y="5899199"/>
              <a:ext cx="1335108" cy="331791"/>
            </a:xfrm>
            <a:custGeom>
              <a:avLst/>
              <a:gdLst/>
              <a:ahLst/>
              <a:cxnLst/>
              <a:rect l="0" t="0" r="0" b="0"/>
              <a:pathLst>
                <a:path w="1335024" h="332232">
                  <a:moveTo>
                    <a:pt x="667512" y="0"/>
                  </a:moveTo>
                  <a:cubicBezTo>
                    <a:pt x="298704" y="0"/>
                    <a:pt x="0" y="73152"/>
                    <a:pt x="0" y="167640"/>
                  </a:cubicBezTo>
                  <a:cubicBezTo>
                    <a:pt x="0" y="259080"/>
                    <a:pt x="298704" y="332232"/>
                    <a:pt x="667512" y="332232"/>
                  </a:cubicBezTo>
                  <a:cubicBezTo>
                    <a:pt x="1036320" y="332232"/>
                    <a:pt x="1335024" y="259080"/>
                    <a:pt x="1335024" y="167640"/>
                  </a:cubicBezTo>
                  <a:cubicBezTo>
                    <a:pt x="1335024" y="73152"/>
                    <a:pt x="1036320" y="0"/>
                    <a:pt x="667512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1942" y="6008738"/>
              <a:ext cx="833450" cy="17938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PROJECT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87427" y="6008738"/>
              <a:ext cx="49213" cy="17938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Shape 6545"/>
            <p:cNvSpPr/>
            <p:nvPr/>
          </p:nvSpPr>
          <p:spPr>
            <a:xfrm>
              <a:off x="1670075" y="3968783"/>
              <a:ext cx="1444647" cy="336553"/>
            </a:xfrm>
            <a:custGeom>
              <a:avLst/>
              <a:gdLst/>
              <a:ahLst/>
              <a:cxnLst/>
              <a:rect l="0" t="0" r="0" b="0"/>
              <a:pathLst>
                <a:path w="1444752" h="335280">
                  <a:moveTo>
                    <a:pt x="722376" y="0"/>
                  </a:moveTo>
                  <a:cubicBezTo>
                    <a:pt x="323088" y="0"/>
                    <a:pt x="0" y="76200"/>
                    <a:pt x="0" y="167640"/>
                  </a:cubicBezTo>
                  <a:cubicBezTo>
                    <a:pt x="0" y="259080"/>
                    <a:pt x="323088" y="335280"/>
                    <a:pt x="722376" y="335280"/>
                  </a:cubicBezTo>
                  <a:cubicBezTo>
                    <a:pt x="1121664" y="335280"/>
                    <a:pt x="1444752" y="259080"/>
                    <a:pt x="1444752" y="167640"/>
                  </a:cubicBezTo>
                  <a:cubicBezTo>
                    <a:pt x="1444752" y="76200"/>
                    <a:pt x="1121664" y="0"/>
                    <a:pt x="722376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47893" y="4083084"/>
              <a:ext cx="1098567" cy="17938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WORKS_ON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770230" y="4083084"/>
              <a:ext cx="49213" cy="179389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Shape 6549"/>
            <p:cNvSpPr/>
            <p:nvPr/>
          </p:nvSpPr>
          <p:spPr>
            <a:xfrm>
              <a:off x="3633843" y="4451387"/>
              <a:ext cx="1447822" cy="334966"/>
            </a:xfrm>
            <a:custGeom>
              <a:avLst/>
              <a:gdLst/>
              <a:ahLst/>
              <a:cxnLst/>
              <a:rect l="0" t="0" r="0" b="0"/>
              <a:pathLst>
                <a:path w="1447800" h="335280">
                  <a:moveTo>
                    <a:pt x="725424" y="0"/>
                  </a:moveTo>
                  <a:cubicBezTo>
                    <a:pt x="326136" y="0"/>
                    <a:pt x="0" y="76200"/>
                    <a:pt x="0" y="167641"/>
                  </a:cubicBezTo>
                  <a:cubicBezTo>
                    <a:pt x="0" y="259080"/>
                    <a:pt x="326136" y="335280"/>
                    <a:pt x="725424" y="335280"/>
                  </a:cubicBezTo>
                  <a:cubicBezTo>
                    <a:pt x="1124712" y="335280"/>
                    <a:pt x="1447800" y="259080"/>
                    <a:pt x="1447800" y="167641"/>
                  </a:cubicBezTo>
                  <a:cubicBezTo>
                    <a:pt x="1447800" y="76200"/>
                    <a:pt x="1124712" y="0"/>
                    <a:pt x="725424" y="0"/>
                  </a:cubicBez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13248" y="4560926"/>
              <a:ext cx="811224" cy="17938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EMPLOY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22857" y="4560926"/>
              <a:ext cx="246066" cy="17938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EE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05422" y="4560926"/>
              <a:ext cx="49214" cy="179388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1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146333" y="0"/>
              <a:ext cx="244479" cy="45085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328898" y="176214"/>
              <a:ext cx="9525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48152" name="Rectangle 24"/>
            <p:cNvSpPr>
              <a:spLocks noChangeArrowheads="1"/>
            </p:cNvSpPr>
            <p:nvPr/>
          </p:nvSpPr>
          <p:spPr bwMode="auto">
            <a:xfrm>
              <a:off x="2398776" y="187206"/>
              <a:ext cx="961157" cy="138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FName, LName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21073" y="176214"/>
              <a:ext cx="9525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94099" y="150814"/>
              <a:ext cx="46039" cy="16510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8155" name="Picture 2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0701" y="3008365"/>
              <a:ext cx="2698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1560537" y="3197252"/>
              <a:ext cx="42863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593874" y="3197252"/>
              <a:ext cx="33339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616100" y="3197252"/>
              <a:ext cx="1117617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 dirty="0" err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PProjID</a:t>
              </a:r>
              <a:r>
                <a:rPr lang="en-US" sz="750" b="1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=</a:t>
              </a:r>
              <a:r>
                <a:rPr lang="en-US" sz="750" b="1" i="1" dirty="0" err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WProjID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455900" y="3197252"/>
              <a:ext cx="44451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490826" y="3197252"/>
              <a:ext cx="31750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61" name="Rectangle 33"/>
            <p:cNvSpPr>
              <a:spLocks noChangeArrowheads="1"/>
            </p:cNvSpPr>
            <p:nvPr/>
          </p:nvSpPr>
          <p:spPr bwMode="auto">
            <a:xfrm>
              <a:off x="2514600" y="3169793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00168" y="3333778"/>
              <a:ext cx="63501" cy="225427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8163" name="Picture 3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801" y="1119240"/>
              <a:ext cx="2698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ectangle 36"/>
            <p:cNvSpPr/>
            <p:nvPr/>
          </p:nvSpPr>
          <p:spPr>
            <a:xfrm>
              <a:off x="2868657" y="1306524"/>
              <a:ext cx="42863" cy="13176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01994" y="1306524"/>
              <a:ext cx="31750" cy="13176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925808" y="1306524"/>
              <a:ext cx="1122379" cy="13176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WEmpID=EEmpID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770370" y="1306524"/>
              <a:ext cx="42863" cy="131763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68" name="Rectangle 40"/>
            <p:cNvSpPr>
              <a:spLocks noChangeArrowheads="1"/>
            </p:cNvSpPr>
            <p:nvPr/>
          </p:nvSpPr>
          <p:spPr bwMode="auto">
            <a:xfrm>
              <a:off x="3806952" y="1280034"/>
              <a:ext cx="41423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603540" y="1441462"/>
              <a:ext cx="61914" cy="225427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4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Shape 6578"/>
            <p:cNvSpPr/>
            <p:nvPr/>
          </p:nvSpPr>
          <p:spPr>
            <a:xfrm>
              <a:off x="2670216" y="300041"/>
              <a:ext cx="0" cy="776293"/>
            </a:xfrm>
            <a:custGeom>
              <a:avLst/>
              <a:gdLst/>
              <a:ahLst/>
              <a:cxnLst/>
              <a:rect l="0" t="0" r="0" b="0"/>
              <a:pathLst>
                <a:path h="777239">
                  <a:moveTo>
                    <a:pt x="0" y="777239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Shape 6579"/>
            <p:cNvSpPr/>
            <p:nvPr/>
          </p:nvSpPr>
          <p:spPr>
            <a:xfrm>
              <a:off x="666760" y="5453109"/>
              <a:ext cx="0" cy="446091"/>
            </a:xfrm>
            <a:custGeom>
              <a:avLst/>
              <a:gdLst/>
              <a:ahLst/>
              <a:cxnLst/>
              <a:rect l="0" t="0" r="0" b="0"/>
              <a:pathLst>
                <a:path h="445008">
                  <a:moveTo>
                    <a:pt x="0" y="445008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Shape 6580"/>
            <p:cNvSpPr/>
            <p:nvPr/>
          </p:nvSpPr>
          <p:spPr>
            <a:xfrm>
              <a:off x="1557362" y="3302028"/>
              <a:ext cx="668347" cy="666756"/>
            </a:xfrm>
            <a:custGeom>
              <a:avLst/>
              <a:gdLst/>
              <a:ahLst/>
              <a:cxnLst/>
              <a:rect l="0" t="0" r="0" b="0"/>
              <a:pathLst>
                <a:path w="667512" h="667512">
                  <a:moveTo>
                    <a:pt x="667512" y="667512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8173" name="Rectangle 45"/>
            <p:cNvSpPr>
              <a:spLocks noChangeArrowheads="1"/>
            </p:cNvSpPr>
            <p:nvPr/>
          </p:nvSpPr>
          <p:spPr bwMode="auto">
            <a:xfrm>
              <a:off x="3767328" y="3687439"/>
              <a:ext cx="293304" cy="530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31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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86274" y="3913221"/>
              <a:ext cx="33338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011674" y="3913221"/>
              <a:ext cx="42863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(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76" name="Rectangle 48"/>
            <p:cNvSpPr>
              <a:spLocks noChangeArrowheads="1"/>
            </p:cNvSpPr>
            <p:nvPr/>
          </p:nvSpPr>
          <p:spPr bwMode="auto">
            <a:xfrm>
              <a:off x="4047744" y="3915430"/>
              <a:ext cx="522761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DoB&lt;Jan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77" name="Rectangle 49"/>
            <p:cNvSpPr>
              <a:spLocks noChangeArrowheads="1"/>
            </p:cNvSpPr>
            <p:nvPr/>
          </p:nvSpPr>
          <p:spPr bwMode="auto">
            <a:xfrm>
              <a:off x="4440936" y="3914911"/>
              <a:ext cx="34519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78" name="Rectangle 50"/>
            <p:cNvSpPr>
              <a:spLocks noChangeArrowheads="1"/>
            </p:cNvSpPr>
            <p:nvPr/>
          </p:nvSpPr>
          <p:spPr bwMode="auto">
            <a:xfrm>
              <a:off x="4468368" y="3915430"/>
              <a:ext cx="385374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1 1965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79" name="Rectangle 51"/>
            <p:cNvSpPr>
              <a:spLocks noChangeArrowheads="1"/>
            </p:cNvSpPr>
            <p:nvPr/>
          </p:nvSpPr>
          <p:spPr bwMode="auto">
            <a:xfrm>
              <a:off x="4757928" y="3915430"/>
              <a:ext cx="45981" cy="13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80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)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80" name="Rectangle 52"/>
            <p:cNvSpPr>
              <a:spLocks noChangeArrowheads="1"/>
            </p:cNvSpPr>
            <p:nvPr/>
          </p:nvSpPr>
          <p:spPr bwMode="auto">
            <a:xfrm>
              <a:off x="4794504" y="3889121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54" name="Shape 6590"/>
            <p:cNvSpPr/>
            <p:nvPr/>
          </p:nvSpPr>
          <p:spPr>
            <a:xfrm>
              <a:off x="4340291" y="4118009"/>
              <a:ext cx="0" cy="333378"/>
            </a:xfrm>
            <a:custGeom>
              <a:avLst/>
              <a:gdLst/>
              <a:ahLst/>
              <a:cxnLst/>
              <a:rect l="0" t="0" r="0" b="0"/>
              <a:pathLst>
                <a:path h="332232">
                  <a:moveTo>
                    <a:pt x="0" y="332232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71453" y="4449800"/>
              <a:ext cx="244479" cy="45085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4018" y="4626014"/>
              <a:ext cx="9525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23869" y="4626014"/>
              <a:ext cx="592146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PProjID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5201" y="4626014"/>
              <a:ext cx="96838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38227" y="4600613"/>
              <a:ext cx="46038" cy="16510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Shape 6597"/>
            <p:cNvSpPr/>
            <p:nvPr/>
          </p:nvSpPr>
          <p:spPr>
            <a:xfrm>
              <a:off x="666760" y="4786353"/>
              <a:ext cx="0" cy="444504"/>
            </a:xfrm>
            <a:custGeom>
              <a:avLst/>
              <a:gdLst/>
              <a:ahLst/>
              <a:cxnLst/>
              <a:rect l="0" t="0" r="0" b="0"/>
              <a:pathLst>
                <a:path h="445009">
                  <a:moveTo>
                    <a:pt x="0" y="445009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" name="Shape 6598"/>
            <p:cNvSpPr/>
            <p:nvPr/>
          </p:nvSpPr>
          <p:spPr>
            <a:xfrm>
              <a:off x="557221" y="3302028"/>
              <a:ext cx="777887" cy="1149360"/>
            </a:xfrm>
            <a:custGeom>
              <a:avLst/>
              <a:gdLst/>
              <a:ahLst/>
              <a:cxnLst/>
              <a:rect l="0" t="0" r="0" b="0"/>
              <a:pathLst>
                <a:path w="777240" h="1149096">
                  <a:moveTo>
                    <a:pt x="0" y="1149096"/>
                  </a:moveTo>
                  <a:lnTo>
                    <a:pt x="77724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35402" y="3001988"/>
              <a:ext cx="244479" cy="45085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617968" y="3178202"/>
              <a:ext cx="9525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690994" y="3178202"/>
              <a:ext cx="1762152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 dirty="0" err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FName,LName,EEmpID</a:t>
              </a:r>
              <a:r>
                <a:rPr lang="en-US" sz="950" b="1" i="1" dirty="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endPara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013401" y="3152801"/>
              <a:ext cx="46039" cy="16510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Shape 6604"/>
            <p:cNvSpPr/>
            <p:nvPr/>
          </p:nvSpPr>
          <p:spPr>
            <a:xfrm>
              <a:off x="4337116" y="3338541"/>
              <a:ext cx="3175" cy="444504"/>
            </a:xfrm>
            <a:custGeom>
              <a:avLst/>
              <a:gdLst/>
              <a:ahLst/>
              <a:cxnLst/>
              <a:rect l="0" t="0" r="0" b="0"/>
              <a:pathLst>
                <a:path w="3048" h="445008">
                  <a:moveTo>
                    <a:pt x="0" y="445008"/>
                  </a:moveTo>
                  <a:lnTo>
                    <a:pt x="3048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7" name="Shape 6605"/>
            <p:cNvSpPr/>
            <p:nvPr/>
          </p:nvSpPr>
          <p:spPr>
            <a:xfrm>
              <a:off x="2782930" y="1412887"/>
              <a:ext cx="1444647" cy="1703402"/>
            </a:xfrm>
            <a:custGeom>
              <a:avLst/>
              <a:gdLst/>
              <a:ahLst/>
              <a:cxnLst/>
              <a:rect l="0" t="0" r="0" b="0"/>
              <a:pathLst>
                <a:path w="1444752" h="1703832">
                  <a:moveTo>
                    <a:pt x="1444752" y="1703832"/>
                  </a:moveTo>
                  <a:lnTo>
                    <a:pt x="0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71607" y="2335232"/>
              <a:ext cx="244479" cy="45085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26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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454172" y="2511446"/>
              <a:ext cx="9525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&lt;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527198" y="2520971"/>
              <a:ext cx="31750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551012" y="2520971"/>
              <a:ext cx="539758" cy="130176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7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WEmpID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957418" y="2511446"/>
              <a:ext cx="3810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987580" y="2511446"/>
              <a:ext cx="95251" cy="15875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9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&gt;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060606" y="2484459"/>
              <a:ext cx="44451" cy="165101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defRPr/>
              </a:pPr>
              <a:r>
                <a:rPr lang="en-US" sz="10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Shape 6614"/>
            <p:cNvSpPr/>
            <p:nvPr/>
          </p:nvSpPr>
          <p:spPr>
            <a:xfrm>
              <a:off x="1639913" y="2662260"/>
              <a:ext cx="3175" cy="334965"/>
            </a:xfrm>
            <a:custGeom>
              <a:avLst/>
              <a:gdLst/>
              <a:ahLst/>
              <a:cxnLst/>
              <a:rect l="0" t="0" r="0" b="0"/>
              <a:pathLst>
                <a:path w="3048" h="335280">
                  <a:moveTo>
                    <a:pt x="0" y="335280"/>
                  </a:moveTo>
                  <a:lnTo>
                    <a:pt x="3048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6" name="Shape 6615"/>
            <p:cNvSpPr/>
            <p:nvPr/>
          </p:nvSpPr>
          <p:spPr>
            <a:xfrm>
              <a:off x="1670075" y="1412887"/>
              <a:ext cx="1000140" cy="1035059"/>
            </a:xfrm>
            <a:custGeom>
              <a:avLst/>
              <a:gdLst/>
              <a:ahLst/>
              <a:cxnLst/>
              <a:rect l="0" t="0" r="0" b="0"/>
              <a:pathLst>
                <a:path w="999744" h="1036320">
                  <a:moveTo>
                    <a:pt x="0" y="1036320"/>
                  </a:moveTo>
                  <a:lnTo>
                    <a:pt x="999744" y="0"/>
                  </a:lnTo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892209" y="6437977"/>
            <a:ext cx="2928729" cy="43125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429656"/>
            <a:ext cx="6414052" cy="439574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CB70C6-0CF0-49D3-804E-9BA1F7F5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437976"/>
            <a:ext cx="2120347" cy="377161"/>
          </a:xfrm>
        </p:spPr>
        <p:txBody>
          <a:bodyPr/>
          <a:lstStyle/>
          <a:p>
            <a:fld id="{7897F513-5F1B-4A94-8F7E-E96FB39BA213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1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1"/>
            <a:ext cx="12192000" cy="6511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Cost Estimation Approach to Query Optimization 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sz="quarter" idx="1"/>
          </p:nvPr>
        </p:nvSpPr>
        <p:spPr>
          <a:xfrm>
            <a:off x="665019" y="928399"/>
            <a:ext cx="11346872" cy="5330825"/>
          </a:xfrm>
        </p:spPr>
        <p:txBody>
          <a:bodyPr>
            <a:normAutofit/>
          </a:bodyPr>
          <a:lstStyle/>
          <a:p>
            <a:r>
              <a:rPr lang="en-US" sz="2400" dirty="0"/>
              <a:t>The main idea is to minimize the cost of processing a query. </a:t>
            </a:r>
          </a:p>
          <a:p>
            <a:r>
              <a:rPr lang="en-US" sz="2400" dirty="0"/>
              <a:t>The cost function is comprised of: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I/O cost + CPU processing cost + communication cost + Storage cost </a:t>
            </a:r>
          </a:p>
          <a:p>
            <a:r>
              <a:rPr lang="en-US" sz="2400" dirty="0"/>
              <a:t>These components might have different weights in different processing environments.</a:t>
            </a:r>
          </a:p>
          <a:p>
            <a:r>
              <a:rPr lang="en-US" sz="2400" dirty="0"/>
              <a:t>The DBMS will use information stored in the system catalogue for the purpose of estimating cost. </a:t>
            </a:r>
          </a:p>
          <a:p>
            <a:r>
              <a:rPr lang="en-US" sz="2400" dirty="0"/>
              <a:t>The main target of  query optimization is to minimize the size of the intermediate relation. </a:t>
            </a:r>
          </a:p>
          <a:p>
            <a:r>
              <a:rPr lang="en-US" sz="2400" dirty="0"/>
              <a:t>The size will have effect in the cost of: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Disk Access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Data Transpiration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Storage space in the Primary Memory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Writing on Disk  </a:t>
            </a:r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400800"/>
            <a:ext cx="6414052" cy="320674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53835-7703-4B2D-8E6F-5D327D44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33E77-045A-47FB-B6D4-080B0FFEBBF3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2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Content Placeholder 2"/>
          <p:cNvSpPr>
            <a:spLocks noGrp="1"/>
          </p:cNvSpPr>
          <p:nvPr>
            <p:ph sz="quarter" idx="1"/>
          </p:nvPr>
        </p:nvSpPr>
        <p:spPr>
          <a:xfrm>
            <a:off x="734291" y="954089"/>
            <a:ext cx="9438409" cy="55594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statistics in the system catalogue used for cost estimation purpose are: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/>
              <a:t>Cardinality of a relation: the number of tuples contained in a relation currently (r)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/>
              <a:t>Degree of  a relation: number of attributes of a relation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/>
              <a:t>Number of tuples on a relation that can be stored in one block of memory 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/>
              <a:t>Total number of blocks used by a relation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/>
              <a:t>Number of distinct values of an attribute (d)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/>
              <a:t>Selection Cardinality of an attribute (S): that is average number of records that will satisfy an equality condition  S=r/d  </a:t>
            </a:r>
          </a:p>
          <a:p>
            <a:r>
              <a:rPr lang="en-US" dirty="0"/>
              <a:t>By seeing the above information one could calculate the cost of executing a query and selecting the best strategy, which is with the minimum cost of processing. 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7809" y="152400"/>
            <a:ext cx="11463129" cy="801689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2209" y="6400800"/>
            <a:ext cx="2928729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400800"/>
            <a:ext cx="6414052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B49D1-8DD6-47B5-ACEA-14F18D11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7809" y="6400800"/>
            <a:ext cx="2120347" cy="457200"/>
          </a:xfrm>
        </p:spPr>
        <p:txBody>
          <a:bodyPr/>
          <a:lstStyle/>
          <a:p>
            <a:fld id="{B35C2AEA-ED83-4326-AAB6-499C47F5588A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9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51" y="152400"/>
            <a:ext cx="11747323" cy="96981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Cost Components for Query Optimization 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sz="quarter" idx="1"/>
          </p:nvPr>
        </p:nvSpPr>
        <p:spPr>
          <a:xfrm>
            <a:off x="1838632" y="1219200"/>
            <a:ext cx="8510588" cy="5638800"/>
          </a:xfrm>
        </p:spPr>
        <p:txBody>
          <a:bodyPr>
            <a:normAutofit/>
          </a:bodyPr>
          <a:lstStyle/>
          <a:p>
            <a:r>
              <a:rPr lang="en-US" sz="2400" dirty="0"/>
              <a:t>The costs of query execution can be calculated for the following major process we have during processing. </a:t>
            </a:r>
            <a:endParaRPr lang="en-US" sz="2000" dirty="0"/>
          </a:p>
          <a:p>
            <a:pPr marL="0" indent="0">
              <a:buNone/>
            </a:pPr>
            <a:r>
              <a:rPr lang="en-US" sz="2400" b="1" i="1" dirty="0"/>
              <a:t>1) Access Cost of Secondary Storage </a:t>
            </a:r>
            <a:endParaRPr lang="en-US" sz="2000" dirty="0"/>
          </a:p>
          <a:p>
            <a:r>
              <a:rPr lang="en-US" sz="2400" dirty="0"/>
              <a:t>Data is going to be accessed from secondary storage, as an query will be needing some part of the data stored in the database. </a:t>
            </a:r>
          </a:p>
          <a:p>
            <a:r>
              <a:rPr lang="en-US" sz="2400" dirty="0"/>
              <a:t>The disk access cost can again be analyzed in terms of: </a:t>
            </a:r>
            <a:endParaRPr lang="en-US" sz="2000" dirty="0"/>
          </a:p>
          <a:p>
            <a:pPr lvl="2"/>
            <a:r>
              <a:rPr lang="en-US" dirty="0"/>
              <a:t>Searching </a:t>
            </a:r>
            <a:endParaRPr lang="en-US" sz="1800" dirty="0"/>
          </a:p>
          <a:p>
            <a:pPr lvl="2"/>
            <a:r>
              <a:rPr lang="en-US" dirty="0"/>
              <a:t>Reading, and </a:t>
            </a:r>
            <a:endParaRPr lang="en-US" sz="1800" dirty="0"/>
          </a:p>
          <a:p>
            <a:pPr lvl="2"/>
            <a:r>
              <a:rPr lang="en-US" dirty="0"/>
              <a:t>Writing, data blocks used to store some portion of a relation. </a:t>
            </a:r>
            <a:endParaRPr lang="en-US" sz="1800" dirty="0"/>
          </a:p>
          <a:p>
            <a:r>
              <a:rPr lang="en-US" sz="2400" dirty="0"/>
              <a:t>The disk access cost will vary depending on the file organization used and the access method implemented for the file organization.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55446" y="6469063"/>
            <a:ext cx="2928729" cy="48938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1418" y="6469063"/>
            <a:ext cx="7063409" cy="4572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C32AE-77DB-4327-92A5-FEA3F10BEF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851" y="6469063"/>
            <a:ext cx="2004567" cy="434973"/>
          </a:xfrm>
        </p:spPr>
        <p:txBody>
          <a:bodyPr/>
          <a:lstStyle/>
          <a:p>
            <a:fld id="{FF23B7D7-833D-4268-94B4-047AB8F711FE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9" y="152400"/>
            <a:ext cx="11463129" cy="990600"/>
          </a:xfrm>
        </p:spPr>
        <p:txBody>
          <a:bodyPr/>
          <a:lstStyle/>
          <a:p>
            <a:r>
              <a:rPr lang="en-US" dirty="0"/>
              <a:t>…CON’T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057400" y="1295400"/>
            <a:ext cx="8153400" cy="4629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/>
              <a:t>2) Storage Cost </a:t>
            </a:r>
            <a:endParaRPr lang="en-US" sz="2800" dirty="0"/>
          </a:p>
          <a:p>
            <a:r>
              <a:rPr lang="en-US" sz="2800" dirty="0"/>
              <a:t>While processing a query, as any query would be composed of many database operations, there could be one or more intermediate results before reaching the final output. </a:t>
            </a:r>
          </a:p>
          <a:p>
            <a:r>
              <a:rPr lang="en-US" sz="2800" dirty="0"/>
              <a:t>These intermediate results should be stored in primary memory for further processing. </a:t>
            </a:r>
          </a:p>
          <a:p>
            <a:r>
              <a:rPr lang="en-US" sz="2800" dirty="0"/>
              <a:t>The bigger the intermediate relation, the larger the memory requirement, which will have impact on the limited available space. </a:t>
            </a:r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57E5FC-44AA-44FD-A8A8-7D515A601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029B-DB06-40FD-8034-2ED20DD7A00D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78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Content Placeholder 2"/>
          <p:cNvSpPr>
            <a:spLocks noGrp="1"/>
          </p:cNvSpPr>
          <p:nvPr>
            <p:ph sz="quarter" idx="1"/>
          </p:nvPr>
        </p:nvSpPr>
        <p:spPr>
          <a:xfrm>
            <a:off x="637309" y="990600"/>
            <a:ext cx="11183629" cy="556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b="1" i="1" dirty="0"/>
              <a:t>3) Computation Cost </a:t>
            </a:r>
            <a:endParaRPr lang="en-US" sz="2100" dirty="0"/>
          </a:p>
          <a:p>
            <a:r>
              <a:rPr lang="en-US" sz="2100" dirty="0"/>
              <a:t>Query is composed of many operations. </a:t>
            </a:r>
          </a:p>
          <a:p>
            <a:r>
              <a:rPr lang="en-US" sz="2100" dirty="0"/>
              <a:t>The operations could be database operations like reading and writing to a disk, or mathematical and other operations like: </a:t>
            </a:r>
          </a:p>
          <a:p>
            <a:pPr lvl="2"/>
            <a:r>
              <a:rPr lang="en-US" sz="2100" dirty="0"/>
              <a:t>Searching </a:t>
            </a:r>
          </a:p>
          <a:p>
            <a:pPr lvl="2"/>
            <a:r>
              <a:rPr lang="en-US" sz="2100" dirty="0"/>
              <a:t>Sorting </a:t>
            </a:r>
          </a:p>
          <a:p>
            <a:pPr lvl="2"/>
            <a:r>
              <a:rPr lang="en-US" sz="2100" dirty="0"/>
              <a:t>Merging </a:t>
            </a:r>
          </a:p>
          <a:p>
            <a:pPr lvl="2"/>
            <a:r>
              <a:rPr lang="en-US" sz="2100" dirty="0"/>
              <a:t>computation on field values </a:t>
            </a:r>
          </a:p>
          <a:p>
            <a:pPr marL="0" indent="0">
              <a:buNone/>
            </a:pPr>
            <a:r>
              <a:rPr lang="en-US" sz="2100" b="1" i="1" dirty="0"/>
              <a:t>4) Communication Cost </a:t>
            </a:r>
            <a:endParaRPr lang="en-US" sz="2100" dirty="0"/>
          </a:p>
          <a:p>
            <a:r>
              <a:rPr lang="en-US" sz="2100" dirty="0"/>
              <a:t>In most database systems the database resides in on station and various queries originate from different terminals. </a:t>
            </a:r>
          </a:p>
          <a:p>
            <a:r>
              <a:rPr lang="en-US" sz="2100" dirty="0"/>
              <a:t>This will have impact on the performance of the system adding cost for query processing.  </a:t>
            </a:r>
          </a:p>
          <a:p>
            <a:r>
              <a:rPr lang="en-US" sz="2100" dirty="0"/>
              <a:t>Thus, the cost of transporting data between the database site and the terminal from where the query originate should be analyzed. </a:t>
            </a:r>
            <a:r>
              <a:rPr lang="en-US" sz="2100" b="1"/>
              <a:t/>
            </a:r>
            <a:br>
              <a:rPr lang="en-US" sz="2100" b="1"/>
            </a:br>
            <a:r>
              <a:rPr lang="en-US" sz="2100" b="1"/>
              <a:t> </a:t>
            </a:r>
            <a:endParaRPr lang="en-US" sz="21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7809" y="152400"/>
            <a:ext cx="11349281" cy="8382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8156" y="6400800"/>
            <a:ext cx="6414052" cy="304800"/>
          </a:xfrm>
        </p:spPr>
        <p:txBody>
          <a:bodyPr/>
          <a:lstStyle/>
          <a:p>
            <a:r>
              <a:rPr lang="en-US" dirty="0"/>
              <a:t>Query Processing and Optimization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52F5E-3D13-4F8E-835D-780D6D5AC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AD63-19B0-4DFE-B5A0-20BAEBE234D7}" type="datetime1">
              <a:rPr lang="en-US" smtClean="0"/>
              <a:t>10/20/2024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2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FF83E-6368-48C9-99E4-53F824F73E27}" type="datetime1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Query Processing and Optimization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40</a:t>
            </a:fld>
            <a:endParaRPr lang="en-US"/>
          </a:p>
        </p:txBody>
      </p:sp>
      <p:pic>
        <p:nvPicPr>
          <p:cNvPr id="10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0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12122</TotalTime>
  <Words>3500</Words>
  <Application>Microsoft Office PowerPoint</Application>
  <PresentationFormat>Widescreen</PresentationFormat>
  <Paragraphs>628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Arial</vt:lpstr>
      <vt:lpstr>Book Antiqua</vt:lpstr>
      <vt:lpstr>Calibri</vt:lpstr>
      <vt:lpstr>Calibri Light</vt:lpstr>
      <vt:lpstr>Century Gothic</vt:lpstr>
      <vt:lpstr>Century Schoolbook</vt:lpstr>
      <vt:lpstr>Courier New</vt:lpstr>
      <vt:lpstr>Symbol</vt:lpstr>
      <vt:lpstr>Tahoma</vt:lpstr>
      <vt:lpstr>Times New Roman</vt:lpstr>
      <vt:lpstr>Wingdings</vt:lpstr>
      <vt:lpstr>Wingdings 2</vt:lpstr>
      <vt:lpstr>Wingdings 3</vt:lpstr>
      <vt:lpstr>Office Theme</vt:lpstr>
      <vt:lpstr>Advanced Database Systems</vt:lpstr>
      <vt:lpstr>Query Processing </vt:lpstr>
      <vt:lpstr> Query Processing Steps</vt:lpstr>
      <vt:lpstr>…CON’T</vt:lpstr>
      <vt:lpstr>Phases of Query processing</vt:lpstr>
      <vt:lpstr>…CON’T</vt:lpstr>
      <vt:lpstr>…CON’T</vt:lpstr>
      <vt:lpstr>…CON’T</vt:lpstr>
      <vt:lpstr>…CON’T</vt:lpstr>
      <vt:lpstr>…CON’T</vt:lpstr>
      <vt:lpstr>…CON’T</vt:lpstr>
      <vt:lpstr>…CON’T</vt:lpstr>
      <vt:lpstr>Query Optimization </vt:lpstr>
      <vt:lpstr>…CON’T</vt:lpstr>
      <vt:lpstr>…CON’T</vt:lpstr>
      <vt:lpstr>…CON’T</vt:lpstr>
      <vt:lpstr>Approaches to Query Optimization </vt:lpstr>
      <vt:lpstr>…CON’T</vt:lpstr>
      <vt:lpstr>Transformation Rules for Relational Algebra </vt:lpstr>
      <vt:lpstr>PowerPoint Presentation</vt:lpstr>
      <vt:lpstr>…CON’T</vt:lpstr>
      <vt:lpstr>…CON’T</vt:lpstr>
      <vt:lpstr>…CON’T</vt:lpstr>
      <vt:lpstr>…CON’T</vt:lpstr>
      <vt:lpstr>Main Heuristic </vt:lpstr>
      <vt:lpstr>…CON’T</vt:lpstr>
      <vt:lpstr>…CON’T</vt:lpstr>
      <vt:lpstr>…CON’T</vt:lpstr>
      <vt:lpstr>…CON’T</vt:lpstr>
      <vt:lpstr>…CON’T</vt:lpstr>
      <vt:lpstr>…CON’T</vt:lpstr>
      <vt:lpstr>PowerPoint Presentation</vt:lpstr>
      <vt:lpstr>PowerPoint Presentation</vt:lpstr>
      <vt:lpstr>PowerPoint Presentation</vt:lpstr>
      <vt:lpstr>Cost Estimation Approach to Query Optimization </vt:lpstr>
      <vt:lpstr>…CON’T</vt:lpstr>
      <vt:lpstr>Cost Components for Query Optimization </vt:lpstr>
      <vt:lpstr>…CON’T</vt:lpstr>
      <vt:lpstr>…CON’T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of Database System</dc:title>
  <dc:creator>Sirage Ahmed</dc:creator>
  <cp:lastModifiedBy>Sirage Ahmed</cp:lastModifiedBy>
  <cp:revision>327</cp:revision>
  <dcterms:created xsi:type="dcterms:W3CDTF">2016-02-19T04:19:28Z</dcterms:created>
  <dcterms:modified xsi:type="dcterms:W3CDTF">2024-10-20T05:38:17Z</dcterms:modified>
</cp:coreProperties>
</file>