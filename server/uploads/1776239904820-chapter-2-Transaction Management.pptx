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322" r:id="rId3"/>
    <p:sldId id="353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409" r:id="rId13"/>
    <p:sldId id="481" r:id="rId14"/>
    <p:sldId id="331" r:id="rId15"/>
    <p:sldId id="447" r:id="rId16"/>
    <p:sldId id="462" r:id="rId17"/>
    <p:sldId id="332" r:id="rId18"/>
    <p:sldId id="334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471" r:id="rId34"/>
    <p:sldId id="476" r:id="rId35"/>
    <p:sldId id="477" r:id="rId36"/>
    <p:sldId id="483" r:id="rId37"/>
    <p:sldId id="30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33CCFF"/>
    <a:srgbClr val="0099CC"/>
    <a:srgbClr val="62FE80"/>
    <a:srgbClr val="97C9A6"/>
    <a:srgbClr val="75EB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9" autoAdjust="0"/>
    <p:restoredTop sz="92413" autoAdjust="0"/>
  </p:normalViewPr>
  <p:slideViewPr>
    <p:cSldViewPr snapToGrid="0">
      <p:cViewPr varScale="1">
        <p:scale>
          <a:sx n="105" d="100"/>
          <a:sy n="105" d="100"/>
        </p:scale>
        <p:origin x="96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FF468-C44E-3F49-9945-1ADBF9F21365}" type="datetimeFigureOut">
              <a:rPr lang="en-US" smtClean="0"/>
              <a:t>11/11/23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61724-19A4-D140-91C4-2CD686084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9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CCA0E-6F1F-4EEE-8BB6-A7581DDC4D56}" type="datetimeFigureOut">
              <a:rPr lang="en-US" smtClean="0"/>
              <a:t>11/11/23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39659-4191-431B-8A08-66C58FDA4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70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32FCA4-4474-4B78-8363-010E90F6698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0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DA73C6-8A2B-4EFA-B8CD-D92C06B9CB0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30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39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86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39659-4191-431B-8A08-66C58FDA4C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50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Dirty read. A transaction T1 may read the update of a transaction  T2, which has not yet committed. If T2 fails and is aborted, then T1 would have read a value that does not exist and is incorrect.</a:t>
            </a:r>
          </a:p>
          <a:p>
            <a:endParaRPr lang="en-US" dirty="0"/>
          </a:p>
          <a:p>
            <a:r>
              <a:rPr lang="en-US" dirty="0"/>
              <a:t>Nonrepeatable read  transaction T1 may read a given value from a table. If another transaction T2 later updates that value and T1</a:t>
            </a:r>
          </a:p>
          <a:p>
            <a:r>
              <a:rPr lang="en-US" dirty="0"/>
              <a:t>reads that value again, T1 will see a different value.</a:t>
            </a:r>
          </a:p>
          <a:p>
            <a:r>
              <a:rPr lang="en-US" dirty="0"/>
              <a:t>Phantoms. A transaction  T1 may read a set of rows from a table, perhaps based on some condition specified in the SQL WHERE-clause. Now suppose that a transaction  T2</a:t>
            </a:r>
          </a:p>
          <a:p>
            <a:r>
              <a:rPr lang="en-US" dirty="0"/>
              <a:t>inserts a new row that also satisfies the  WHERE-clause condition used in T1, into the table used by T1.If T1 is repeated, then  T1 will see a phantom, a row that previously did 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39659-4191-431B-8A08-66C58FDA4C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28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14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9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1064246"/>
          </a:xfrm>
          <a:solidFill>
            <a:srgbClr val="00B0F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462351"/>
            <a:ext cx="10515600" cy="797684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rgbClr val="00B0F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solidFill>
            <a:srgbClr val="00B0F0"/>
          </a:solidFill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7795279-9BDA-4A6F-89B5-491A38E95D7D}" type="datetime1">
              <a:rPr lang="en-US" smtClean="0"/>
              <a:t>11/11/23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3358" y="6356350"/>
            <a:ext cx="6904379" cy="365125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00B0F0"/>
          </a:solidFill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53930811-34CB-47CF-8264-0DC5C660161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47" y="3422477"/>
            <a:ext cx="1285714" cy="923810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3261817" y="4573309"/>
            <a:ext cx="6013174" cy="127045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Sirage Z.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Department of Computer Science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Debre Berhan University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4179570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463550" indent="-463550">
              <a:buClr>
                <a:srgbClr val="00B0F0"/>
              </a:buClr>
              <a:buFont typeface="Wingdings" panose="05000000000000000000" pitchFamily="2" charset="2"/>
              <a:buChar char="Ø"/>
              <a:defRPr sz="3200"/>
            </a:lvl1pPr>
            <a:lvl2pPr marL="795338" indent="-338138">
              <a:buClr>
                <a:srgbClr val="00B0F0"/>
              </a:buClr>
              <a:buFont typeface="Wingdings" panose="05000000000000000000" pitchFamily="2" charset="2"/>
              <a:buChar char="ü"/>
              <a:defRPr sz="2800"/>
            </a:lvl2pPr>
            <a:lvl3pPr marL="1258888" indent="-344488">
              <a:buClr>
                <a:srgbClr val="00B0F0"/>
              </a:buClr>
              <a:buFont typeface="Calibri" panose="020F0502020204030204" pitchFamily="34" charset="0"/>
              <a:buChar char="&gt;"/>
              <a:defRPr sz="2400"/>
            </a:lvl3pPr>
            <a:lvl4pPr marL="1484313" indent="-219075">
              <a:buClr>
                <a:srgbClr val="00B0F0"/>
              </a:buClr>
              <a:buFont typeface="Wingdings" panose="05000000000000000000" pitchFamily="2" charset="2"/>
              <a:buChar char="§"/>
              <a:defRPr sz="2000"/>
            </a:lvl4pPr>
            <a:lvl5pPr marL="1709738" indent="-173038">
              <a:buClr>
                <a:srgbClr val="00B0F0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F0D5-5215-4000-BFA0-7F88A592F287}" type="datetime1">
              <a:rPr lang="en-US" smtClean="0"/>
              <a:t>11/11/23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6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03346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9920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09D1-F8A2-4A72-8617-B69405459A8D}" type="datetime1">
              <a:rPr lang="en-US" smtClean="0"/>
              <a:t>11/11/23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1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01022"/>
            <a:ext cx="5181600" cy="5175941"/>
          </a:xfrm>
        </p:spPr>
        <p:txBody>
          <a:bodyPr>
            <a:normAutofit/>
          </a:bodyPr>
          <a:lstStyle>
            <a:lvl1pPr marL="457200" indent="-457200">
              <a:buClr>
                <a:srgbClr val="0099CC"/>
              </a:buClr>
              <a:buFont typeface="Wingdings" panose="05000000000000000000" pitchFamily="2" charset="2"/>
              <a:buChar char="Ø"/>
              <a:defRPr sz="3200"/>
            </a:lvl1pPr>
            <a:lvl2pPr marL="800100" indent="-342900">
              <a:buClr>
                <a:srgbClr val="0099CC"/>
              </a:buClr>
              <a:buFont typeface="Wingdings" panose="05000000000000000000" pitchFamily="2" charset="2"/>
              <a:buChar char="ü"/>
              <a:defRPr sz="2800"/>
            </a:lvl2pPr>
            <a:lvl3pPr marL="1257300" indent="-342900">
              <a:buClr>
                <a:srgbClr val="0099CC"/>
              </a:buClr>
              <a:buFont typeface="Calibri" panose="020F0502020204030204" pitchFamily="34" charset="0"/>
              <a:buChar char="&gt;"/>
              <a:defRPr sz="2400"/>
            </a:lvl3pPr>
            <a:lvl4pPr marL="1657350" indent="-285750">
              <a:buClr>
                <a:srgbClr val="0099CC"/>
              </a:buClr>
              <a:buFont typeface="Wingdings" panose="05000000000000000000" pitchFamily="2" charset="2"/>
              <a:buChar char="§"/>
              <a:defRPr sz="2000"/>
            </a:lvl4pPr>
            <a:lvl5pPr marL="2114550" indent="-285750">
              <a:buClr>
                <a:srgbClr val="0099CC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01023"/>
            <a:ext cx="5181600" cy="4034804"/>
          </a:xfrm>
        </p:spPr>
        <p:txBody>
          <a:bodyPr>
            <a:normAutofit/>
          </a:bodyPr>
          <a:lstStyle>
            <a:lvl1pPr marL="2286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3200"/>
            </a:lvl1pPr>
            <a:lvl2pPr marL="6858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800"/>
            </a:lvl2pPr>
            <a:lvl3pPr marL="11430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400"/>
            </a:lvl3pPr>
            <a:lvl4pPr marL="16002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4pPr>
            <a:lvl5pPr marL="20574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1324E-7B5E-47DF-8610-C13D0FDCDCEC}" type="datetime1">
              <a:rPr lang="en-US" smtClean="0"/>
              <a:t>11/11/23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6172200" y="5215214"/>
            <a:ext cx="5181600" cy="808384"/>
          </a:xfrm>
        </p:spPr>
        <p:txBody>
          <a:bodyPr>
            <a:normAutofit/>
          </a:bodyPr>
          <a:lstStyle>
            <a:lvl1pPr marL="0" indent="0">
              <a:buClr>
                <a:srgbClr val="0099CC"/>
              </a:buClr>
              <a:buFont typeface="Wingdings" panose="05000000000000000000" pitchFamily="2" charset="2"/>
              <a:buNone/>
              <a:defRPr sz="2400" i="1"/>
            </a:lvl1pPr>
            <a:lvl2pPr marL="6858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800"/>
            </a:lvl2pPr>
            <a:lvl3pPr marL="914400" indent="0">
              <a:buClr>
                <a:srgbClr val="0099CC"/>
              </a:buClr>
              <a:buFont typeface="Wingdings" panose="05000000000000000000" pitchFamily="2" charset="2"/>
              <a:buNone/>
              <a:defRPr sz="2400"/>
            </a:lvl3pPr>
            <a:lvl4pPr marL="1371600" indent="0">
              <a:buClr>
                <a:srgbClr val="0099CC"/>
              </a:buClr>
              <a:buFont typeface="Wingdings" panose="05000000000000000000" pitchFamily="2" charset="2"/>
              <a:buNone/>
              <a:defRPr sz="2000"/>
            </a:lvl4pPr>
            <a:lvl5pPr marL="20574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69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9" y="234056"/>
            <a:ext cx="11463129" cy="6670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7" y="1007582"/>
            <a:ext cx="5157787" cy="5520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666050"/>
            <a:ext cx="5157787" cy="4523613"/>
          </a:xfrm>
        </p:spPr>
        <p:txBody>
          <a:bodyPr>
            <a:normAutofit/>
          </a:bodyPr>
          <a:lstStyle>
            <a:lvl1pPr marL="2286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3200"/>
            </a:lvl1pPr>
            <a:lvl2pPr marL="6858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800"/>
            </a:lvl2pPr>
            <a:lvl3pPr marL="11430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400"/>
            </a:lvl3pPr>
            <a:lvl4pPr marL="16002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4pPr>
            <a:lvl5pPr marL="20574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07582"/>
            <a:ext cx="5183188" cy="5520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666050"/>
            <a:ext cx="5183188" cy="4523613"/>
          </a:xfrm>
        </p:spPr>
        <p:txBody>
          <a:bodyPr>
            <a:normAutofit/>
          </a:bodyPr>
          <a:lstStyle>
            <a:lvl1pPr marL="2286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3200"/>
            </a:lvl1pPr>
            <a:lvl2pPr marL="6858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800"/>
            </a:lvl2pPr>
            <a:lvl3pPr marL="11430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400"/>
            </a:lvl3pPr>
            <a:lvl4pPr marL="16002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4pPr>
            <a:lvl5pPr marL="20574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6FBC-EE98-4749-8FFE-F7296A339418}" type="datetime1">
              <a:rPr lang="en-US" smtClean="0"/>
              <a:t>11/11/23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1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0FC-3465-4141-8DF6-AFCEF696E23A}" type="datetime1">
              <a:rPr lang="en-US" smtClean="0"/>
              <a:t>11/11/23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4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262F-BF90-4881-9A3A-2BBA77C9F66D}" type="datetime1">
              <a:rPr lang="en-US" smtClean="0"/>
              <a:t>11/11/23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7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077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2817" y="457201"/>
            <a:ext cx="6372571" cy="5403850"/>
          </a:xfrm>
        </p:spPr>
        <p:txBody>
          <a:bodyPr/>
          <a:lstStyle>
            <a:lvl1pPr marL="2286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3200"/>
            </a:lvl1pPr>
            <a:lvl2pPr marL="6858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2800"/>
            </a:lvl2pPr>
            <a:lvl3pPr marL="11430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2400"/>
            </a:lvl3pPr>
            <a:lvl4pPr marL="16002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2000"/>
            </a:lvl4pPr>
            <a:lvl5pPr marL="20574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70991"/>
            <a:ext cx="3932237" cy="43979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1410B-DDD3-4892-B5B1-CC95C5D3CE7E}" type="datetime1">
              <a:rPr lang="en-US" smtClean="0"/>
              <a:t>11/11/23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4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9" y="274638"/>
            <a:ext cx="11463129" cy="70899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16557" y="1126435"/>
            <a:ext cx="6438831" cy="49695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126435"/>
            <a:ext cx="3932237" cy="49695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01F8C-B85B-460A-8E19-FF510D7A895C}" type="datetime1">
              <a:rPr lang="en-US" smtClean="0"/>
              <a:t>11/11/23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4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286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1pPr>
            <a:lvl2pPr marL="6858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2pPr>
            <a:lvl3pPr marL="11430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3pPr>
            <a:lvl4pPr marL="16002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C03D4-E2EE-4A1A-AEDA-E42961480009}" type="datetime1">
              <a:rPr lang="en-US" smtClean="0"/>
              <a:t>11/11/23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10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 marL="2286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1pPr>
            <a:lvl2pPr marL="6858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2pPr>
            <a:lvl3pPr marL="11430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3pPr>
            <a:lvl4pPr marL="16002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663A-072C-4559-9E03-8D3A4F1611CD}" type="datetime1">
              <a:rPr lang="en-US" smtClean="0"/>
              <a:t>11/11/23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52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E100-AEC8-49CC-A29D-4E7DDD22CFB4}" type="datetime1">
              <a:rPr lang="en-US" smtClean="0"/>
              <a:t>11/11/23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3352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fld id="{933C60EA-47F3-4972-8021-886372C380F4}" type="datetime1">
              <a:rPr lang="en-US" smtClean="0"/>
              <a:t>11/11/23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53930811-34CB-47CF-8264-0DC5C66016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6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Clr>
          <a:srgbClr val="33CCFF"/>
        </a:buClr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90000"/>
        </a:lnSpc>
        <a:spcBef>
          <a:spcPts val="500"/>
        </a:spcBef>
        <a:buClr>
          <a:srgbClr val="33CCFF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3CCFF"/>
        </a:buClr>
        <a:buFont typeface="Calibri" panose="020F0502020204030204" pitchFamily="34" charset="0"/>
        <a:buChar char="&gt;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3CCFF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3CC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1252" y="418979"/>
            <a:ext cx="10515600" cy="1064246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Advanced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Systems</a:t>
            </a:r>
            <a:endParaRPr lang="en-US" sz="199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A08961E-036D-4B85-A51D-47E924C18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612232"/>
            <a:ext cx="10515600" cy="1647803"/>
          </a:xfrm>
        </p:spPr>
        <p:txBody>
          <a:bodyPr>
            <a:normAutofit/>
          </a:bodyPr>
          <a:lstStyle/>
          <a:p>
            <a:r>
              <a:rPr lang="en-US" sz="36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Chapter 2</a:t>
            </a:r>
            <a:endParaRPr lang="en-US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Transaction</a:t>
            </a:r>
            <a:r>
              <a:rPr lang="en-US" sz="36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ET" sz="3600" b="1" dirty="0">
                <a:latin typeface="Times New Roman" panose="02020603050405020304" pitchFamily="18" charset="0"/>
              </a:rPr>
              <a:t>Processing Concepts </a:t>
            </a:r>
            <a:endParaRPr lang="en-US" sz="36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937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What is a transaction? </a:t>
            </a:r>
            <a:endParaRPr 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506437" y="928468"/>
            <a:ext cx="11314501" cy="5281834"/>
          </a:xfrm>
        </p:spPr>
        <p:txBody>
          <a:bodyPr>
            <a:noAutofit/>
          </a:bodyPr>
          <a:lstStyle/>
          <a:p>
            <a:r>
              <a:rPr lang="en-US" dirty="0"/>
              <a:t>A Transaction is a mechanism for applying the desired </a:t>
            </a:r>
            <a:r>
              <a:rPr lang="en-US" dirty="0">
                <a:solidFill>
                  <a:srgbClr val="FF0000"/>
                </a:solidFill>
              </a:rPr>
              <a:t>modifications/operations</a:t>
            </a:r>
            <a:r>
              <a:rPr lang="en-US" dirty="0"/>
              <a:t> to a database. </a:t>
            </a:r>
          </a:p>
          <a:p>
            <a:r>
              <a:rPr lang="en-US" dirty="0"/>
              <a:t>Action, or series of actions, carried out by a single user or application program, which accesses or changes contents of database. (i.e. Logical unit of work on the database.) </a:t>
            </a:r>
          </a:p>
          <a:p>
            <a:r>
              <a:rPr lang="en-US" dirty="0"/>
              <a:t>A transaction could be a whole program, part/module of a program or a single command. </a:t>
            </a:r>
          </a:p>
          <a:p>
            <a:r>
              <a:rPr lang="en-US" dirty="0"/>
              <a:t>Changes made in </a:t>
            </a:r>
            <a:r>
              <a:rPr lang="en-US" dirty="0">
                <a:solidFill>
                  <a:srgbClr val="FF0000"/>
                </a:solidFill>
              </a:rPr>
              <a:t>real time</a:t>
            </a:r>
            <a:r>
              <a:rPr lang="en-US" dirty="0"/>
              <a:t> to a database are called </a:t>
            </a:r>
            <a:r>
              <a:rPr lang="en-US" dirty="0">
                <a:solidFill>
                  <a:srgbClr val="FF0000"/>
                </a:solidFill>
              </a:rPr>
              <a:t>transactions.</a:t>
            </a:r>
          </a:p>
          <a:p>
            <a:r>
              <a:rPr lang="en-US" b="1" dirty="0"/>
              <a:t>Examples</a:t>
            </a:r>
            <a:r>
              <a:rPr lang="en-US" dirty="0"/>
              <a:t> include </a:t>
            </a:r>
            <a:r>
              <a:rPr lang="en-US" dirty="0">
                <a:solidFill>
                  <a:srgbClr val="FF0000"/>
                </a:solidFill>
              </a:rPr>
              <a:t>ATM transactions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credit card approvals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flight reservations,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hotel check-in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phone calls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supermarket canning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academic registration and billing</a:t>
            </a:r>
            <a:r>
              <a:rPr lang="en-US" dirty="0"/>
              <a:t>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B494B-CA35-46AD-BDCC-0351807F2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B6A9-644A-4C8C-9E2B-13E071B278EF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…Con’t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53218" y="1026942"/>
            <a:ext cx="11463130" cy="4992858"/>
          </a:xfrm>
        </p:spPr>
        <p:txBody>
          <a:bodyPr>
            <a:normAutofit lnSpcReduction="10000"/>
          </a:bodyPr>
          <a:lstStyle/>
          <a:p>
            <a:r>
              <a:rPr lang="en-US" sz="4000" dirty="0"/>
              <a:t>A transaction could be composed of one or more database and non-database operations. </a:t>
            </a:r>
          </a:p>
          <a:p>
            <a:r>
              <a:rPr lang="en-US" sz="4000" dirty="0"/>
              <a:t>Transforms database from one consistent state to another, although consistency may be </a:t>
            </a:r>
            <a:r>
              <a:rPr lang="en-US" sz="4000" dirty="0">
                <a:solidFill>
                  <a:srgbClr val="FF0000"/>
                </a:solidFill>
              </a:rPr>
              <a:t>violated</a:t>
            </a:r>
            <a:r>
              <a:rPr lang="en-US" sz="4000" dirty="0"/>
              <a:t> during transaction. </a:t>
            </a:r>
          </a:p>
          <a:p>
            <a:r>
              <a:rPr lang="en-US" sz="4000" dirty="0"/>
              <a:t>A database transaction is a unit of interaction with database management system or similar system that is treated in a coherent and reliable way independent of other transactions.</a:t>
            </a:r>
          </a:p>
          <a:p>
            <a:endParaRPr lang="en-US" sz="44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8A54AB-CB56-46D2-A90D-8698FC6A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1AC3-1E2E-41A7-8480-E3ABAFA866B2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7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Transaction Processing System </a:t>
            </a:r>
            <a:endParaRPr 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sz="quarter" idx="1"/>
          </p:nvPr>
        </p:nvSpPr>
        <p:spPr>
          <a:xfrm>
            <a:off x="520505" y="928468"/>
            <a:ext cx="11300433" cy="5427880"/>
          </a:xfrm>
        </p:spPr>
        <p:txBody>
          <a:bodyPr>
            <a:normAutofit/>
          </a:bodyPr>
          <a:lstStyle/>
          <a:p>
            <a:r>
              <a:rPr lang="en-US" sz="2800" dirty="0"/>
              <a:t>A system that manages transactions and controls their access to a DBMS is called a </a:t>
            </a:r>
            <a:r>
              <a:rPr lang="en-US" sz="2800" dirty="0">
                <a:solidFill>
                  <a:srgbClr val="FF0000"/>
                </a:solidFill>
              </a:rPr>
              <a:t>TP monitor</a:t>
            </a:r>
            <a:r>
              <a:rPr lang="en-US" sz="2800" dirty="0"/>
              <a:t>. </a:t>
            </a:r>
          </a:p>
          <a:p>
            <a:r>
              <a:rPr lang="en-US" sz="2800" dirty="0"/>
              <a:t>A transaction processing system (TPS) generally consists of a TP monitor, one or more DBMSs, and a set of application programs containing transaction.  </a:t>
            </a:r>
          </a:p>
          <a:p>
            <a:r>
              <a:rPr lang="en-US" sz="2800" dirty="0"/>
              <a:t>In database field, a transaction is a group of logical operations that must all </a:t>
            </a:r>
            <a:r>
              <a:rPr lang="en-US" sz="2800" dirty="0">
                <a:solidFill>
                  <a:srgbClr val="FF0000"/>
                </a:solidFill>
              </a:rPr>
              <a:t>succeed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FF0000"/>
                </a:solidFill>
              </a:rPr>
              <a:t>fail</a:t>
            </a:r>
            <a:r>
              <a:rPr lang="en-US" sz="2800" dirty="0"/>
              <a:t> as a group. </a:t>
            </a:r>
          </a:p>
          <a:p>
            <a:r>
              <a:rPr lang="en-US" sz="2800" dirty="0"/>
              <a:t>Systems dedicated to supporting such operations are known as </a:t>
            </a:r>
            <a:r>
              <a:rPr lang="en-US" sz="2800" b="1" dirty="0"/>
              <a:t>transaction processing systems</a:t>
            </a:r>
            <a:r>
              <a:rPr lang="en-US" sz="2800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DFC1BE-0864-45ED-9552-D6CC93DF1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E985-282E-4071-BA94-71F711EEC132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2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357808" y="835704"/>
            <a:ext cx="11613798" cy="5960166"/>
          </a:xfrm>
        </p:spPr>
        <p:txBody>
          <a:bodyPr>
            <a:normAutofit/>
          </a:bodyPr>
          <a:lstStyle/>
          <a:p>
            <a:r>
              <a:rPr lang="en-US" dirty="0"/>
              <a:t>Distinction between business transactions and online transactions:   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business transaction </a:t>
            </a:r>
            <a:r>
              <a:rPr lang="en-US" dirty="0"/>
              <a:t>is an interaction in the real world, usually between an enterprise and a person, where something is exchanged. Example : market  </a:t>
            </a:r>
          </a:p>
          <a:p>
            <a:pPr lvl="1"/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online transaction </a:t>
            </a:r>
            <a:r>
              <a:rPr lang="en-US" dirty="0"/>
              <a:t>is the execution of a program that performs an administrative or real-time function, often by accessing shared data sources, usually on behalf of an online user (although some transactions are run offline in batch).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E5F3B-2459-4132-9054-9272C46C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F4E3-6FE1-4D85-9E54-342F3CAAD752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3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371061" y="998806"/>
            <a:ext cx="11463129" cy="5782995"/>
          </a:xfrm>
        </p:spPr>
        <p:txBody>
          <a:bodyPr>
            <a:normAutofit/>
          </a:bodyPr>
          <a:lstStyle/>
          <a:p>
            <a:r>
              <a:rPr lang="en-US" sz="2400" dirty="0"/>
              <a:t>Transactions can be </a:t>
            </a:r>
            <a:r>
              <a:rPr lang="en-US" sz="2400" b="1" i="1" dirty="0"/>
              <a:t>started</a:t>
            </a:r>
            <a:r>
              <a:rPr lang="en-US" sz="2400" dirty="0"/>
              <a:t>, </a:t>
            </a:r>
            <a:r>
              <a:rPr lang="en-US" sz="2400" b="1" i="1" dirty="0"/>
              <a:t>attempted</a:t>
            </a:r>
            <a:r>
              <a:rPr lang="en-US" sz="2400" dirty="0"/>
              <a:t>, then </a:t>
            </a:r>
            <a:r>
              <a:rPr lang="en-US" sz="2400" b="1" i="1" dirty="0"/>
              <a:t>committed</a:t>
            </a:r>
            <a:r>
              <a:rPr lang="en-US" sz="2400" dirty="0"/>
              <a:t> or </a:t>
            </a:r>
            <a:r>
              <a:rPr lang="en-US" sz="2400" b="1" i="1" dirty="0"/>
              <a:t>aborted</a:t>
            </a:r>
            <a:r>
              <a:rPr lang="en-US" sz="2400" dirty="0"/>
              <a:t> via data manipulation commands of SQL. </a:t>
            </a:r>
          </a:p>
          <a:p>
            <a:r>
              <a:rPr lang="en-US" sz="2400" dirty="0"/>
              <a:t>Can have one of the two outcomes for any transaction: </a:t>
            </a:r>
          </a:p>
          <a:p>
            <a:pPr lvl="1"/>
            <a:r>
              <a:rPr lang="en-US" b="1" i="1" dirty="0"/>
              <a:t>Success</a:t>
            </a:r>
            <a:r>
              <a:rPr lang="en-US" dirty="0"/>
              <a:t> - transaction commits and database reaches a new consistent state </a:t>
            </a:r>
          </a:p>
          <a:p>
            <a:pPr lvl="2"/>
            <a:r>
              <a:rPr lang="en-US" dirty="0"/>
              <a:t>Committed transaction cannot be aborted or rolled back. </a:t>
            </a:r>
          </a:p>
          <a:p>
            <a:pPr lvl="1"/>
            <a:r>
              <a:rPr lang="en-US" b="1" i="1" dirty="0"/>
              <a:t>Failure</a:t>
            </a:r>
            <a:r>
              <a:rPr lang="en-US" dirty="0"/>
              <a:t> - transaction aborts, and database must be restored to consistent state before it started. </a:t>
            </a:r>
          </a:p>
          <a:p>
            <a:pPr lvl="3"/>
            <a:r>
              <a:rPr lang="en-US" sz="2400" dirty="0"/>
              <a:t>Such a transaction is rolled back or undone.  </a:t>
            </a:r>
          </a:p>
          <a:p>
            <a:r>
              <a:rPr lang="en-US" sz="2400" dirty="0"/>
              <a:t>Aborted transaction that is rolled back can be restarted later</a:t>
            </a:r>
            <a:r>
              <a:rPr lang="en-US" sz="2800" dirty="0"/>
              <a:t>. </a:t>
            </a:r>
            <a:endParaRPr lang="en-US" sz="24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9DAD7-12F3-478B-B389-D1D0B6CE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08EFB-8722-4458-927A-E47722091F08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5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</a:t>
            </a:r>
            <a:r>
              <a:rPr lang="en-US" dirty="0" err="1"/>
              <a:t>con’t</a:t>
            </a:r>
            <a:endParaRPr 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357808" y="1041010"/>
            <a:ext cx="11463130" cy="516929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The DBMS has no inherent way of knowing the logical grouping of operations that are supposed to be done together. </a:t>
            </a:r>
          </a:p>
          <a:p>
            <a:r>
              <a:rPr lang="en-US" sz="2800" dirty="0"/>
              <a:t>Hence, it must provide the users a means to logically group their operations. </a:t>
            </a:r>
          </a:p>
          <a:p>
            <a:r>
              <a:rPr lang="en-US" sz="2800" dirty="0"/>
              <a:t>Key words such as </a:t>
            </a:r>
            <a:r>
              <a:rPr lang="en-US" sz="2800" dirty="0">
                <a:solidFill>
                  <a:srgbClr val="FF0000"/>
                </a:solidFill>
              </a:rPr>
              <a:t>BEGIN TRANSACTION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COMMIT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ROLLBACK</a:t>
            </a:r>
            <a:r>
              <a:rPr lang="en-US" sz="2800" dirty="0"/>
              <a:t> (or their equivalents) are available in many data manipulation languages to delimit transactions. </a:t>
            </a:r>
          </a:p>
          <a:p>
            <a:r>
              <a:rPr lang="en-US" sz="2800" dirty="0"/>
              <a:t>A single transaction might require several queries, each reading and/or writing information in the database. </a:t>
            </a:r>
          </a:p>
          <a:p>
            <a:r>
              <a:rPr lang="en-US" sz="2800" dirty="0"/>
              <a:t>When this happens it is usually important to be sure that the database is not left with only some of the queries carried out.</a:t>
            </a:r>
          </a:p>
          <a:p>
            <a:r>
              <a:rPr lang="en-US" sz="2800" b="1" dirty="0"/>
              <a:t>For example</a:t>
            </a:r>
            <a:r>
              <a:rPr lang="en-US" sz="2800" dirty="0"/>
              <a:t>, when doing a money transfer, if the money was debited from one account, it is important that it also be credited to the depositing account. </a:t>
            </a:r>
          </a:p>
          <a:p>
            <a:r>
              <a:rPr lang="en-US" sz="2800" dirty="0"/>
              <a:t>Also, transactions should not interfere with each other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F1FA7-E29D-4072-BD7D-117BC132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A4D1-3D4E-41B0-8DEC-86C8545206A1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2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ET" sz="4400" dirty="0">
                <a:effectLst/>
                <a:latin typeface="TimesNewRomanPSMT"/>
                <a:ea typeface="Times New Roman" panose="02020603050405020304" pitchFamily="18" charset="0"/>
                <a:cs typeface="Times New Roman" panose="02020603050405020304" pitchFamily="18" charset="0"/>
              </a:rPr>
              <a:t>Properties of Transaction</a:t>
            </a:r>
            <a:endParaRPr lang="en-US" dirty="0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357808" y="1055078"/>
            <a:ext cx="11463130" cy="5155224"/>
          </a:xfrm>
        </p:spPr>
        <p:txBody>
          <a:bodyPr>
            <a:normAutofit/>
          </a:bodyPr>
          <a:lstStyle/>
          <a:p>
            <a:r>
              <a:rPr lang="en-US" sz="2800" dirty="0"/>
              <a:t>A transaction is expected to exhibit some basic features or properties to be considered as a valid transaction. </a:t>
            </a:r>
          </a:p>
          <a:p>
            <a:r>
              <a:rPr lang="en-US" sz="2800" dirty="0"/>
              <a:t>These features are: </a:t>
            </a:r>
          </a:p>
          <a:p>
            <a:pPr lvl="2"/>
            <a:r>
              <a:rPr lang="en-US" b="1" dirty="0"/>
              <a:t>A: Atomicity </a:t>
            </a:r>
            <a:endParaRPr lang="en-US" dirty="0"/>
          </a:p>
          <a:p>
            <a:pPr lvl="2"/>
            <a:r>
              <a:rPr lang="en-US" b="1" dirty="0"/>
              <a:t>C: Consistency </a:t>
            </a:r>
            <a:endParaRPr lang="en-US" dirty="0"/>
          </a:p>
          <a:p>
            <a:pPr lvl="2"/>
            <a:r>
              <a:rPr lang="en-US" b="1" dirty="0"/>
              <a:t>I: Isolation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D: Durability </a:t>
            </a:r>
            <a:endParaRPr lang="en-US" dirty="0"/>
          </a:p>
          <a:p>
            <a:r>
              <a:rPr lang="en-US" sz="2800" dirty="0"/>
              <a:t>It is referred to as </a:t>
            </a:r>
            <a:r>
              <a:rPr lang="en-US" sz="2800" dirty="0">
                <a:solidFill>
                  <a:srgbClr val="FF0000"/>
                </a:solidFill>
              </a:rPr>
              <a:t>ACID</a:t>
            </a:r>
            <a:r>
              <a:rPr lang="en-US" sz="2800" dirty="0"/>
              <a:t> property of a transaction.</a:t>
            </a:r>
          </a:p>
          <a:p>
            <a:r>
              <a:rPr lang="en-US" sz="2800" dirty="0"/>
              <a:t>Without the ACID property, the integrity of the database cannot be guaranteed. 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F4D0B-37C1-4CEA-BA9D-D5D2679F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1D6E-FF6A-40FB-B768-F3936E7C03C8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82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Atomicity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357808" y="1026942"/>
            <a:ext cx="11463130" cy="522145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Is </a:t>
            </a:r>
            <a:r>
              <a:rPr lang="en-US" b="1" i="1" dirty="0"/>
              <a:t>All</a:t>
            </a:r>
            <a:r>
              <a:rPr lang="en-US" dirty="0"/>
              <a:t> or </a:t>
            </a:r>
            <a:r>
              <a:rPr lang="en-US" b="1" i="1" dirty="0"/>
              <a:t>None</a:t>
            </a:r>
            <a:r>
              <a:rPr lang="en-US" dirty="0"/>
              <a:t> property </a:t>
            </a:r>
          </a:p>
          <a:p>
            <a:r>
              <a:rPr lang="en-US" dirty="0"/>
              <a:t>Every transaction should be considered as an atomic process which cannot be sub divided into small tasks.</a:t>
            </a:r>
          </a:p>
          <a:p>
            <a:pPr lvl="1"/>
            <a:r>
              <a:rPr lang="en-US" sz="3600" dirty="0"/>
              <a:t> Due to this property, just like an atom which exists or does not exist, a transaction has only two states. </a:t>
            </a:r>
          </a:p>
          <a:p>
            <a:pPr lvl="2"/>
            <a:r>
              <a:rPr lang="en-US" sz="3200" b="1" dirty="0"/>
              <a:t>Done or Never Started</a:t>
            </a:r>
            <a:r>
              <a:rPr lang="en-US" sz="3200" dirty="0"/>
              <a:t>.  </a:t>
            </a:r>
          </a:p>
          <a:p>
            <a:pPr lvl="2"/>
            <a:r>
              <a:rPr lang="en-US" sz="3200" b="1" dirty="0"/>
              <a:t>Done</a:t>
            </a:r>
            <a:r>
              <a:rPr lang="en-US" sz="3200" dirty="0"/>
              <a:t> - a transaction must complete successfully and its effect should be visible in the database. </a:t>
            </a:r>
          </a:p>
          <a:p>
            <a:pPr lvl="2"/>
            <a:r>
              <a:rPr lang="en-US" sz="3200" b="1" dirty="0"/>
              <a:t>Never Started</a:t>
            </a:r>
            <a:r>
              <a:rPr lang="en-US" sz="3200" dirty="0"/>
              <a:t> - If a transaction fails during execution then all its modifications must be undone to bring back the database to the last consistent state, i.e., remove the effect of failed transaction. </a:t>
            </a:r>
          </a:p>
          <a:p>
            <a:r>
              <a:rPr lang="en-US" dirty="0"/>
              <a:t>No state between Done and Never Started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3C080-740B-4315-AE4C-32C18761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1478-D02C-4DEE-A585-94E1774A4BD7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70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Consistency</a:t>
            </a:r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39151" y="1026942"/>
            <a:ext cx="11581787" cy="515932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/>
              <a:t>If the transaction code is correct then a transaction, at the end of its execution, must leave the database consistent. </a:t>
            </a:r>
          </a:p>
          <a:p>
            <a:pPr>
              <a:defRPr/>
            </a:pPr>
            <a:r>
              <a:rPr lang="en-US" sz="2800" dirty="0"/>
              <a:t>A transaction should transform a database from one previous consistent state to another consistent state. </a:t>
            </a:r>
          </a:p>
          <a:p>
            <a:pPr marL="0" indent="0">
              <a:buNone/>
              <a:defRPr/>
            </a:pPr>
            <a:r>
              <a:rPr lang="en-US" sz="2800" b="1" dirty="0"/>
              <a:t>Isolation</a:t>
            </a:r>
            <a:r>
              <a:rPr lang="en-US" sz="2800" dirty="0"/>
              <a:t>  </a:t>
            </a:r>
          </a:p>
          <a:p>
            <a:pPr>
              <a:defRPr/>
            </a:pPr>
            <a:r>
              <a:rPr lang="en-US" sz="2800" dirty="0"/>
              <a:t>A transaction must execute without interference from other concurrent transactions and its intermediate or partial modifications to data must not be visible to other transactions. </a:t>
            </a:r>
          </a:p>
          <a:p>
            <a:pPr>
              <a:defRPr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92B79-BD56-4048-AE6B-2FB7F1B6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FF339-F28F-4063-A605-CEEBD0B088E4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78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Durability</a:t>
            </a:r>
            <a:r>
              <a:rPr lang="en-US" dirty="0"/>
              <a:t> 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371061" y="984738"/>
            <a:ext cx="11463129" cy="5797063"/>
          </a:xfrm>
        </p:spPr>
        <p:txBody>
          <a:bodyPr>
            <a:normAutofit/>
          </a:bodyPr>
          <a:lstStyle/>
          <a:p>
            <a:r>
              <a:rPr lang="en-US" sz="3600" dirty="0"/>
              <a:t>The effect of a completed transaction must persist in the database, </a:t>
            </a:r>
          </a:p>
          <a:p>
            <a:pPr lvl="1"/>
            <a:r>
              <a:rPr lang="en-US" sz="3600" dirty="0"/>
              <a:t>i.e., its updates must be available to other transaction immediately after the end of its execution, and is should not be affected due to failures after the completion of the transaction. </a:t>
            </a:r>
          </a:p>
          <a:p>
            <a:r>
              <a:rPr lang="en-US" sz="3600" dirty="0"/>
              <a:t>In practice, these properties are often relaxed somewhat to provide better </a:t>
            </a:r>
            <a:r>
              <a:rPr lang="en-US" sz="3600" b="1" dirty="0"/>
              <a:t>performance</a:t>
            </a:r>
            <a:r>
              <a:rPr lang="en-US" sz="3600" dirty="0"/>
              <a:t>. </a:t>
            </a:r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0769B1-534D-4F53-8243-30D813DE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4A22-E6E1-4C0F-94C9-0EA751187342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9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Transaction Support 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dirty="0"/>
              <a:t>No explicit Begin Transaction statement</a:t>
            </a:r>
          </a:p>
          <a:p>
            <a:r>
              <a:rPr lang="en-US" altLang="en-US" dirty="0"/>
              <a:t>Transaction initiation is done implicitly when particular SQL statements are encountered.</a:t>
            </a:r>
          </a:p>
          <a:p>
            <a:r>
              <a:rPr lang="en-US" altLang="en-US" dirty="0"/>
              <a:t>Every transaction must have an explicit end statement</a:t>
            </a:r>
          </a:p>
          <a:p>
            <a:pPr lvl="1"/>
            <a:r>
              <a:rPr lang="en-US" altLang="en-US" dirty="0"/>
              <a:t>COMMIT</a:t>
            </a:r>
          </a:p>
          <a:p>
            <a:pPr lvl="1"/>
            <a:r>
              <a:rPr lang="en-US" altLang="en-US" dirty="0"/>
              <a:t>ROLLBACK</a:t>
            </a:r>
          </a:p>
          <a:p>
            <a:r>
              <a:rPr lang="en-US" altLang="en-US" sz="3600" dirty="0"/>
              <a:t>Every transaction has certain characteristics attributed to it. </a:t>
            </a:r>
          </a:p>
          <a:p>
            <a:r>
              <a:rPr lang="en-US" altLang="en-US" dirty="0"/>
              <a:t>These characteristics are specified by a  SET TRANSACTION statement in SQL. </a:t>
            </a:r>
          </a:p>
          <a:p>
            <a:r>
              <a:rPr lang="en-US" altLang="en-US" dirty="0"/>
              <a:t>The characteristics are </a:t>
            </a:r>
          </a:p>
          <a:p>
            <a:pPr lvl="1"/>
            <a:r>
              <a:rPr lang="en-US" altLang="en-US" dirty="0"/>
              <a:t>the access mode </a:t>
            </a:r>
          </a:p>
          <a:p>
            <a:pPr lvl="1"/>
            <a:r>
              <a:rPr lang="en-US" altLang="en-US" dirty="0"/>
              <a:t>the  diagnostic area size</a:t>
            </a:r>
          </a:p>
          <a:p>
            <a:pPr lvl="1"/>
            <a:r>
              <a:rPr lang="en-US" altLang="en-US" dirty="0"/>
              <a:t>the  isolation level.</a:t>
            </a:r>
          </a:p>
          <a:p>
            <a:r>
              <a:rPr lang="en-US" altLang="en-US" dirty="0"/>
              <a:t>Access mode is READ ONLY or READ WRITE</a:t>
            </a:r>
          </a:p>
          <a:p>
            <a:r>
              <a:rPr lang="en-US" altLang="en-US" dirty="0"/>
              <a:t>Diagnostic area size option</a:t>
            </a:r>
          </a:p>
          <a:p>
            <a:pPr lvl="1"/>
            <a:r>
              <a:rPr lang="en-US" altLang="en-US" dirty="0"/>
              <a:t>Integer value indicating number of conditions held simultaneously in the diagnostic area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F6EF9-D2E3-43F5-BB08-9D0109AF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356349"/>
            <a:ext cx="292872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7A572-46E0-4DF2-8E55-DAD87794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78157" y="6356350"/>
            <a:ext cx="6414052" cy="365125"/>
          </a:xfrm>
        </p:spPr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AC4C0AD-7C33-4A56-9A1B-EF716FC5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7809" y="6356350"/>
            <a:ext cx="2120347" cy="365125"/>
          </a:xfrm>
        </p:spPr>
        <p:txBody>
          <a:bodyPr/>
          <a:lstStyle/>
          <a:p>
            <a:fld id="{2B464A22-E6E1-4C0F-94C9-0EA751187342}" type="datetime1">
              <a:rPr lang="en-US" smtClean="0"/>
              <a:t>11/11/23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Transaction Support  </a:t>
            </a:r>
            <a:r>
              <a:rPr lang="en-US" dirty="0"/>
              <a:t>…</a:t>
            </a:r>
            <a:r>
              <a:rPr lang="en-US" dirty="0" err="1"/>
              <a:t>con’t</a:t>
            </a:r>
            <a:endParaRPr lang="en-US" altLang="en-US" dirty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/>
              <a:t>Isolation level option</a:t>
            </a:r>
          </a:p>
          <a:p>
            <a:pPr lvl="1"/>
            <a:r>
              <a:rPr lang="en-US" altLang="en-US" dirty="0"/>
              <a:t>Dirty read</a:t>
            </a:r>
          </a:p>
          <a:p>
            <a:pPr lvl="1"/>
            <a:r>
              <a:rPr lang="en-US" altLang="en-US" dirty="0"/>
              <a:t>Nonrepeatable read</a:t>
            </a:r>
          </a:p>
          <a:p>
            <a:pPr lvl="1"/>
            <a:r>
              <a:rPr lang="en-US" altLang="en-US" dirty="0"/>
              <a:t>Phantoms</a:t>
            </a:r>
          </a:p>
          <a:p>
            <a:r>
              <a:rPr lang="en-US" dirty="0"/>
              <a:t> </a:t>
            </a:r>
            <a:r>
              <a:rPr lang="en-US" b="1" dirty="0"/>
              <a:t>Dirty read </a:t>
            </a:r>
            <a:r>
              <a:rPr lang="en-US" dirty="0"/>
              <a:t>A transaction T1 may read the update of a transaction  T2, which has not yet committed. If T2 fails and is aborted, then T1 would have read a value that does not exist and is incorrect.</a:t>
            </a:r>
          </a:p>
          <a:p>
            <a:r>
              <a:rPr lang="en-US" b="1" dirty="0"/>
              <a:t>Nonrepeatable</a:t>
            </a:r>
            <a:r>
              <a:rPr lang="en-US" dirty="0"/>
              <a:t> read  transaction T1 may read a given value from a table. If another transaction T2 later updates that value and T1 reads that value again, T1 will see a different value.</a:t>
            </a:r>
          </a:p>
          <a:p>
            <a:r>
              <a:rPr lang="en-US" b="1" dirty="0"/>
              <a:t>Phantoms </a:t>
            </a:r>
            <a:r>
              <a:rPr lang="en-US" dirty="0"/>
              <a:t>A transaction T1 may read a set of rows from a table, perhaps based on some condition specified in the SQL WHERE-clause. Now suppose that a transaction  T2 inserts a new row that also satisfies the  WHERE-clause condition used in T1, into the table used by T1. If T1 is repeated, then  T1 will see a phantom, a row that previously did not exist.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AAAD55E-2794-4045-9709-921E0EEF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356349"/>
            <a:ext cx="292872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7028A50-8BAD-43D1-9B9C-510A4ADB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78157" y="6356349"/>
            <a:ext cx="6414052" cy="365125"/>
          </a:xfrm>
        </p:spPr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EBAB59A7-50B5-4C5C-91B4-942CC422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7809" y="6356350"/>
            <a:ext cx="2120347" cy="365125"/>
          </a:xfrm>
        </p:spPr>
        <p:txBody>
          <a:bodyPr/>
          <a:lstStyle/>
          <a:p>
            <a:fld id="{2B464A22-E6E1-4C0F-94C9-0EA751187342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4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112543" y="905898"/>
            <a:ext cx="11721648" cy="5799704"/>
          </a:xfrm>
        </p:spPr>
        <p:txBody>
          <a:bodyPr/>
          <a:lstStyle/>
          <a:p>
            <a:r>
              <a:rPr lang="en-US" dirty="0"/>
              <a:t>The transaction sub system of a DBMS is depicted in the following.</a:t>
            </a:r>
          </a:p>
          <a:p>
            <a:endParaRPr lang="en-US" dirty="0"/>
          </a:p>
        </p:txBody>
      </p:sp>
      <p:grpSp>
        <p:nvGrpSpPr>
          <p:cNvPr id="22533" name="Group 4"/>
          <p:cNvGrpSpPr>
            <a:grpSpLocks/>
          </p:cNvGrpSpPr>
          <p:nvPr/>
        </p:nvGrpSpPr>
        <p:grpSpPr bwMode="auto">
          <a:xfrm>
            <a:off x="1505243" y="1392702"/>
            <a:ext cx="10058399" cy="4906459"/>
            <a:chOff x="0" y="0"/>
            <a:chExt cx="4168956" cy="3900896"/>
          </a:xfrm>
        </p:grpSpPr>
        <p:sp>
          <p:nvSpPr>
            <p:cNvPr id="7" name="Rectangle 6"/>
            <p:cNvSpPr/>
            <p:nvPr/>
          </p:nvSpPr>
          <p:spPr>
            <a:xfrm>
              <a:off x="459877" y="0"/>
              <a:ext cx="57902" cy="231287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35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2535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70814"/>
              <a:ext cx="4111752" cy="1697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6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868550"/>
              <a:ext cx="4111752" cy="2010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Shape 84500"/>
            <p:cNvSpPr/>
            <p:nvPr/>
          </p:nvSpPr>
          <p:spPr>
            <a:xfrm>
              <a:off x="0" y="3587068"/>
              <a:ext cx="4112168" cy="9933"/>
            </a:xfrm>
            <a:custGeom>
              <a:avLst/>
              <a:gdLst/>
              <a:ahLst/>
              <a:cxnLst/>
              <a:rect l="0" t="0" r="0" b="0"/>
              <a:pathLst>
                <a:path w="4111752" h="9144">
                  <a:moveTo>
                    <a:pt x="0" y="0"/>
                  </a:moveTo>
                  <a:lnTo>
                    <a:pt x="4111752" y="0"/>
                  </a:lnTo>
                  <a:lnTo>
                    <a:pt x="4111752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2168" y="3438081"/>
              <a:ext cx="56788" cy="22986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3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9404" y="3649502"/>
              <a:ext cx="445421" cy="229867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350" dirty="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Fig. 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3153" y="3649501"/>
              <a:ext cx="2395145" cy="22986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350" i="1" dirty="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the transaction sub system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233687" y="3649501"/>
              <a:ext cx="57902" cy="22986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35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83634" y="3634899"/>
              <a:ext cx="1312840" cy="24447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350" i="1" dirty="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of 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60485" y="3671028"/>
              <a:ext cx="1002153" cy="22986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350" i="1" dirty="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the DBMS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196868" y="3649501"/>
              <a:ext cx="57902" cy="22986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35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6D3203-13E2-4B3A-9520-26E2D58A2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E219-078F-4702-A1E3-51E999633267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12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96949" y="303215"/>
            <a:ext cx="11268220" cy="63769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 Transaction and System Concepts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System must keep track of when each transaction starts, terminates, commits, and/or aborts</a:t>
            </a:r>
          </a:p>
          <a:p>
            <a:pPr lvl="1"/>
            <a:r>
              <a:rPr lang="en-US" altLang="en-US" dirty="0"/>
              <a:t>BEGIN_TRANSACTION</a:t>
            </a:r>
          </a:p>
          <a:p>
            <a:pPr lvl="1"/>
            <a:r>
              <a:rPr lang="en-US" altLang="en-US" dirty="0"/>
              <a:t>READ or WRITE</a:t>
            </a:r>
          </a:p>
          <a:p>
            <a:pPr lvl="1"/>
            <a:r>
              <a:rPr lang="en-US" altLang="en-US" dirty="0"/>
              <a:t>END_TRANSACTION</a:t>
            </a:r>
          </a:p>
          <a:p>
            <a:pPr lvl="1"/>
            <a:r>
              <a:rPr lang="en-US" altLang="en-US" dirty="0"/>
              <a:t>COMMIT_TRANSACTION</a:t>
            </a:r>
          </a:p>
          <a:p>
            <a:pPr lvl="1"/>
            <a:r>
              <a:rPr lang="en-US" altLang="en-US" dirty="0"/>
              <a:t>ROLLBACK (or ABORT)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ABC09-F3F4-45EB-87CB-64FD394D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356349"/>
            <a:ext cx="292872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96B8E-31CE-4F44-BF83-F6250771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78157" y="6356350"/>
            <a:ext cx="6414052" cy="365125"/>
          </a:xfrm>
        </p:spPr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57EEB157-7EFE-4EDB-B7E1-983E946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7809" y="6356350"/>
            <a:ext cx="2120347" cy="365125"/>
          </a:xfrm>
        </p:spPr>
        <p:txBody>
          <a:bodyPr/>
          <a:lstStyle/>
          <a:p>
            <a:fld id="{2B464A22-E6E1-4C0F-94C9-0EA751187342}" type="datetime1">
              <a:rPr lang="en-US" smtClean="0"/>
              <a:t>11/11/23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Transaction and System Concepts (cont’d.)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8" y="2209800"/>
            <a:ext cx="8277225" cy="2590800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733800" y="5561557"/>
            <a:ext cx="44952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2.4 </a:t>
            </a:r>
            <a:r>
              <a:rPr lang="en-US" sz="1600" dirty="0">
                <a:solidFill>
                  <a:schemeClr val="tx1"/>
                </a:solidFill>
              </a:rPr>
              <a:t>State transition diagram illustrating the states for transaction execution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8531BB7-2335-4C16-855D-682360F2D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356349"/>
            <a:ext cx="292872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D0DD899-6974-4B5C-B4B5-83995EAA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78157" y="6356350"/>
            <a:ext cx="6414052" cy="365125"/>
          </a:xfrm>
        </p:spPr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44C17D4D-12A7-4415-AD8E-2C64405EF4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7809" y="6356350"/>
            <a:ext cx="2120347" cy="365125"/>
          </a:xfrm>
        </p:spPr>
        <p:txBody>
          <a:bodyPr/>
          <a:lstStyle/>
          <a:p>
            <a:fld id="{2B464A22-E6E1-4C0F-94C9-0EA751187342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36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State of a Transaction </a:t>
            </a:r>
            <a:endParaRPr lang="en-US" dirty="0"/>
          </a:p>
        </p:txBody>
      </p:sp>
      <p:sp>
        <p:nvSpPr>
          <p:cNvPr id="23555" name="Content Placeholder 2"/>
          <p:cNvSpPr>
            <a:spLocks noGrp="1"/>
          </p:cNvSpPr>
          <p:nvPr>
            <p:ph sz="quarter" idx="1"/>
          </p:nvPr>
        </p:nvSpPr>
        <p:spPr>
          <a:xfrm>
            <a:off x="0" y="928468"/>
            <a:ext cx="11820938" cy="5281833"/>
          </a:xfrm>
        </p:spPr>
        <p:txBody>
          <a:bodyPr>
            <a:normAutofit/>
          </a:bodyPr>
          <a:lstStyle/>
          <a:p>
            <a:r>
              <a:rPr lang="en-US" dirty="0"/>
              <a:t>A transaction is an atomic operation from the users’ perspective. But it has a collection of operations and it can have a number of states during its execution. </a:t>
            </a:r>
          </a:p>
          <a:p>
            <a:r>
              <a:rPr lang="en-US" dirty="0"/>
              <a:t>A transaction can end in three possible ways. </a:t>
            </a:r>
          </a:p>
          <a:p>
            <a:pPr marL="823913" lvl="1" indent="-457200">
              <a:buFont typeface="Century Schoolbook" panose="02040604050505020304" pitchFamily="18" charset="0"/>
              <a:buAutoNum type="arabicPeriod"/>
            </a:pPr>
            <a:r>
              <a:rPr lang="en-US" b="1" dirty="0"/>
              <a:t>Successful Termination</a:t>
            </a:r>
            <a:r>
              <a:rPr lang="en-US" dirty="0"/>
              <a:t>: when a transaction completes the execution of all operations in it and reaches the COMMIT command. </a:t>
            </a:r>
          </a:p>
          <a:p>
            <a:pPr marL="823913" lvl="1" indent="-457200">
              <a:buFont typeface="Century Schoolbook" panose="02040604050505020304" pitchFamily="18" charset="0"/>
              <a:buAutoNum type="arabicPeriod"/>
            </a:pPr>
            <a:r>
              <a:rPr lang="en-US" b="1" dirty="0"/>
              <a:t>Suicidal Termination</a:t>
            </a:r>
            <a:r>
              <a:rPr lang="en-US" dirty="0"/>
              <a:t>: when the transaction detects an error during its processing and decide to quick itself before the end of the transaction and perform a ROLL BACK </a:t>
            </a:r>
          </a:p>
          <a:p>
            <a:pPr marL="823913" lvl="1" indent="-457200">
              <a:buFont typeface="Century Schoolbook" panose="02040604050505020304" pitchFamily="18" charset="0"/>
              <a:buAutoNum type="arabicPeriod"/>
            </a:pPr>
            <a:r>
              <a:rPr lang="en-US" b="1" dirty="0"/>
              <a:t>Murderous Termination</a:t>
            </a:r>
            <a:r>
              <a:rPr lang="en-US" dirty="0"/>
              <a:t>: When the DBMS or the system force the execution to abort for any reason. And hence, rolled back.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AF450-1494-4DA0-AF34-9A82DD35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76C54-DF54-4135-8D39-3D5632D4F30C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47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Ways of Transaction Execution </a:t>
            </a:r>
            <a:endParaRPr lang="en-US" dirty="0"/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357808" y="928468"/>
            <a:ext cx="11463130" cy="5853333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There are two ways of executing a set of transactions:  </a:t>
            </a:r>
          </a:p>
          <a:p>
            <a:pPr lvl="1">
              <a:defRPr/>
            </a:pPr>
            <a:r>
              <a:rPr lang="en-US" sz="2000" b="1" i="1" dirty="0"/>
              <a:t>(a) Serially</a:t>
            </a:r>
            <a:r>
              <a:rPr lang="en-US" sz="2000" dirty="0"/>
              <a:t>: Serial Execution: In a serial execution transactions are executed strictly serially. </a:t>
            </a:r>
          </a:p>
          <a:p>
            <a:pPr lvl="2">
              <a:defRPr/>
            </a:pPr>
            <a:r>
              <a:rPr lang="en-US" dirty="0"/>
              <a:t>Thus, Transaction Ti completes and writes its results to the database then only the next transaction </a:t>
            </a:r>
            <a:r>
              <a:rPr lang="en-US" dirty="0" err="1"/>
              <a:t>T</a:t>
            </a:r>
            <a:r>
              <a:rPr lang="en-US" b="1" i="1" baseline="-25000" dirty="0" err="1"/>
              <a:t>j</a:t>
            </a:r>
            <a:r>
              <a:rPr lang="en-US" dirty="0"/>
              <a:t> is scheduled for execution. </a:t>
            </a:r>
          </a:p>
          <a:p>
            <a:pPr lvl="2">
              <a:defRPr/>
            </a:pPr>
            <a:r>
              <a:rPr lang="en-US" dirty="0"/>
              <a:t>This means at one time there is </a:t>
            </a:r>
            <a:r>
              <a:rPr lang="en-US" dirty="0">
                <a:solidFill>
                  <a:srgbClr val="FF0000"/>
                </a:solidFill>
              </a:rPr>
              <a:t>only one </a:t>
            </a:r>
            <a:r>
              <a:rPr lang="en-US" dirty="0"/>
              <a:t>transaction is being executed in the system. </a:t>
            </a:r>
          </a:p>
          <a:p>
            <a:pPr lvl="2">
              <a:defRPr/>
            </a:pPr>
            <a:r>
              <a:rPr lang="en-US" dirty="0"/>
              <a:t>The data is not shared between transactions at one specific time. </a:t>
            </a:r>
          </a:p>
          <a:p>
            <a:pPr marL="0" indent="0">
              <a:buNone/>
              <a:defRPr/>
            </a:pPr>
            <a:r>
              <a:rPr lang="en-US" dirty="0"/>
              <a:t> 	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4" y="4257454"/>
            <a:ext cx="5500687" cy="206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B361D-1544-4503-BCC0-42812226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7735-1D55-4AF5-950D-FFC8E36CA481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9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...con’t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sz="quarter" idx="1"/>
          </p:nvPr>
        </p:nvSpPr>
        <p:spPr>
          <a:xfrm>
            <a:off x="357809" y="1026942"/>
            <a:ext cx="11463130" cy="5831059"/>
          </a:xfrm>
        </p:spPr>
        <p:txBody>
          <a:bodyPr/>
          <a:lstStyle/>
          <a:p>
            <a:r>
              <a:rPr lang="en-US" dirty="0"/>
              <a:t>In Serial transaction execution, one transaction being executed does not </a:t>
            </a:r>
            <a:r>
              <a:rPr lang="en-US" i="1" dirty="0"/>
              <a:t>interfere </a:t>
            </a:r>
            <a:r>
              <a:rPr lang="en-US" dirty="0"/>
              <a:t>the execution of any other transaction.  </a:t>
            </a:r>
            <a:endParaRPr lang="en-US" sz="2000" dirty="0"/>
          </a:p>
          <a:p>
            <a:r>
              <a:rPr lang="en-US" dirty="0"/>
              <a:t>Good things about serial execution </a:t>
            </a:r>
            <a:endParaRPr lang="en-US" sz="2000" dirty="0"/>
          </a:p>
          <a:p>
            <a:pPr lvl="1"/>
            <a:r>
              <a:rPr lang="en-US" sz="2000" dirty="0"/>
              <a:t>Correct execution, i.e., if the input is correct then output will be correct. </a:t>
            </a:r>
            <a:endParaRPr lang="en-US" sz="1800" dirty="0"/>
          </a:p>
          <a:p>
            <a:pPr lvl="1"/>
            <a:r>
              <a:rPr lang="en-US" sz="2000" dirty="0"/>
              <a:t>Fast execution, since all the resources are available to the active. </a:t>
            </a:r>
          </a:p>
          <a:p>
            <a:pPr lvl="1"/>
            <a:r>
              <a:rPr lang="en-US" sz="2000" dirty="0"/>
              <a:t>The worst thing about serial execution is very inefficient resource utilization. i.e. reduced parallelism. </a:t>
            </a:r>
            <a:endParaRPr lang="en-US" sz="1800" dirty="0"/>
          </a:p>
          <a:p>
            <a:r>
              <a:rPr lang="en-US" i="1" dirty="0"/>
              <a:t>Notations:</a:t>
            </a:r>
            <a:r>
              <a:rPr lang="en-US" dirty="0"/>
              <a:t>  	</a:t>
            </a:r>
          </a:p>
          <a:p>
            <a:pPr lvl="2"/>
            <a:r>
              <a:rPr lang="en-US" b="1" i="1" dirty="0"/>
              <a:t>Read(x)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read data item x from database </a:t>
            </a:r>
            <a:endParaRPr lang="en-US" sz="1400" dirty="0"/>
          </a:p>
          <a:p>
            <a:pPr lvl="2"/>
            <a:r>
              <a:rPr lang="en-US" b="1" i="1" dirty="0"/>
              <a:t>Write(x)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write data item x into the database  </a:t>
            </a:r>
            <a:endParaRPr lang="en-US" sz="1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C7254-3302-4816-BE19-D2F30B36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D03C-C77A-491C-9D48-D7B828FE2041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58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9" y="152399"/>
            <a:ext cx="11463129" cy="91757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48639" y="1069976"/>
            <a:ext cx="11285551" cy="5559425"/>
          </a:xfrm>
        </p:spPr>
        <p:txBody>
          <a:bodyPr/>
          <a:lstStyle/>
          <a:p>
            <a:pPr>
              <a:defRPr/>
            </a:pPr>
            <a:r>
              <a:rPr lang="en-US" sz="2000" b="1" dirty="0"/>
              <a:t>Example of a serial execution </a:t>
            </a:r>
            <a:endParaRPr lang="en-US" sz="2000" dirty="0"/>
          </a:p>
          <a:p>
            <a:pPr>
              <a:defRPr/>
            </a:pPr>
            <a:r>
              <a:rPr lang="en-US" sz="1800" dirty="0"/>
              <a:t>Suppose data items X = 10, Y = 6, and N =1 and T</a:t>
            </a:r>
            <a:r>
              <a:rPr lang="en-US" sz="1800" b="1" i="1" baseline="-25000" dirty="0"/>
              <a:t>1 </a:t>
            </a:r>
            <a:r>
              <a:rPr lang="en-US" sz="1800" dirty="0"/>
              <a:t>and T</a:t>
            </a:r>
            <a:r>
              <a:rPr lang="en-US" sz="1800" b="1" i="1" baseline="-25000" dirty="0"/>
              <a:t>2</a:t>
            </a:r>
            <a:r>
              <a:rPr lang="en-US" sz="1800" dirty="0"/>
              <a:t> are transactions. </a:t>
            </a: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 marL="0" indent="0">
              <a:buNone/>
              <a:defRPr/>
            </a:pPr>
            <a:endParaRPr lang="en-US" sz="2000" dirty="0"/>
          </a:p>
          <a:p>
            <a:pPr marL="0" indent="0">
              <a:buNone/>
              <a:defRPr/>
            </a:pPr>
            <a:endParaRPr lang="en-US" sz="2000" dirty="0"/>
          </a:p>
          <a:p>
            <a:pPr marL="0" indent="0">
              <a:buNone/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Final values of X, Y at the end of T</a:t>
            </a:r>
            <a:r>
              <a:rPr lang="en-US" sz="2000" b="1" i="1" baseline="-25000" dirty="0"/>
              <a:t>1</a:t>
            </a:r>
            <a:r>
              <a:rPr lang="en-US" sz="2000" dirty="0"/>
              <a:t> and T</a:t>
            </a:r>
            <a:r>
              <a:rPr lang="en-US" sz="2000" b="1" i="1" baseline="-25000" dirty="0"/>
              <a:t>2</a:t>
            </a:r>
            <a:r>
              <a:rPr lang="en-US" sz="2000" dirty="0"/>
              <a:t>: </a:t>
            </a:r>
          </a:p>
          <a:p>
            <a:pPr lvl="1">
              <a:defRPr/>
            </a:pPr>
            <a:r>
              <a:rPr lang="en-US" sz="1800" dirty="0"/>
              <a:t>X = 12 and Y = 7. </a:t>
            </a:r>
          </a:p>
          <a:p>
            <a:pPr lvl="1">
              <a:defRPr/>
            </a:pPr>
            <a:r>
              <a:rPr lang="en-US" sz="1800" dirty="0"/>
              <a:t>Thus in serial execution of transaction, if we have two transactions T</a:t>
            </a:r>
            <a:r>
              <a:rPr lang="en-US" sz="1800" b="1" i="1" baseline="-25000" dirty="0"/>
              <a:t>i</a:t>
            </a:r>
            <a:r>
              <a:rPr lang="en-US" sz="1800" dirty="0"/>
              <a:t> and T</a:t>
            </a:r>
            <a:r>
              <a:rPr lang="en-US" sz="1800" baseline="-25000" dirty="0"/>
              <a:t>i+1</a:t>
            </a:r>
            <a:r>
              <a:rPr lang="en-US" sz="1800" dirty="0"/>
              <a:t>, then T</a:t>
            </a:r>
            <a:r>
              <a:rPr lang="en-US" sz="1800" baseline="-25000" dirty="0"/>
              <a:t>i+1</a:t>
            </a:r>
            <a:r>
              <a:rPr lang="en-US" sz="1800" dirty="0"/>
              <a:t> will only be executed after the completion of Ti. </a:t>
            </a:r>
          </a:p>
          <a:p>
            <a:pPr>
              <a:defRPr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55838" y="2092326"/>
          <a:ext cx="3200400" cy="1717674"/>
        </p:xfrm>
        <a:graphic>
          <a:graphicData uri="http://schemas.openxmlformats.org/drawingml/2006/table">
            <a:tbl>
              <a:tblPr firstRow="1" firstCol="1" bandRow="1"/>
              <a:tblGrid>
                <a:gridCol w="165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3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lang="en-US" sz="1400" b="1" i="1" baseline="-250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1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lang="en-US" sz="1400" b="1" i="1" baseline="-250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2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(X)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(X)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X := X+N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X := X+N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(X)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(X)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(Y)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Y := Y+N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(Y)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310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898648"/>
          <a:ext cx="3810000" cy="2825752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44">
                <a:tc>
                  <a:txBody>
                    <a:bodyPr/>
                    <a:lstStyle>
                      <a:lvl1pPr marL="47625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47625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Time</a:t>
                      </a:r>
                      <a:r>
                        <a:rPr kumimoji="0" 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kumimoji="0" lang="en-US" sz="1200" b="1" i="1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kumimoji="0" lang="en-US" sz="1200" b="1" i="1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44">
                <a:tc rowSpan="9">
                  <a:txBody>
                    <a:bodyPr/>
                    <a:lstStyle>
                      <a:lvl1pPr marL="3175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3175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(X) {X = 10}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X := X+N {X = 11}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(X) {X = 11}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(Y) {Y = 6}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Y := Y+N {Y = 7}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(Y) {Y = 7}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(X) {X = 11}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X := X+N {X = 12}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5240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15240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(X)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6735762" y="2324100"/>
            <a:ext cx="152400" cy="2209800"/>
            <a:chOff x="0" y="0"/>
            <a:chExt cx="73152" cy="1673351"/>
          </a:xfrm>
        </p:grpSpPr>
        <p:sp>
          <p:nvSpPr>
            <p:cNvPr id="11" name="Shape 1142"/>
            <p:cNvSpPr/>
            <p:nvPr/>
          </p:nvSpPr>
          <p:spPr>
            <a:xfrm>
              <a:off x="0" y="0"/>
              <a:ext cx="73152" cy="1673351"/>
            </a:xfrm>
            <a:custGeom>
              <a:avLst/>
              <a:gdLst/>
              <a:ahLst/>
              <a:cxnLst/>
              <a:rect l="0" t="0" r="0" b="0"/>
              <a:pathLst>
                <a:path w="73152" h="1673351">
                  <a:moveTo>
                    <a:pt x="36576" y="0"/>
                  </a:moveTo>
                  <a:lnTo>
                    <a:pt x="42672" y="6096"/>
                  </a:lnTo>
                  <a:lnTo>
                    <a:pt x="42672" y="1600200"/>
                  </a:lnTo>
                  <a:lnTo>
                    <a:pt x="73152" y="1600200"/>
                  </a:lnTo>
                  <a:lnTo>
                    <a:pt x="36576" y="1673351"/>
                  </a:lnTo>
                  <a:lnTo>
                    <a:pt x="0" y="1600200"/>
                  </a:lnTo>
                  <a:lnTo>
                    <a:pt x="33528" y="1600200"/>
                  </a:lnTo>
                  <a:lnTo>
                    <a:pt x="33528" y="6096"/>
                  </a:lnTo>
                  <a:lnTo>
                    <a:pt x="3657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2" name="Right Arrow 11"/>
          <p:cNvSpPr/>
          <p:nvPr/>
        </p:nvSpPr>
        <p:spPr>
          <a:xfrm>
            <a:off x="5562600" y="2362201"/>
            <a:ext cx="533400" cy="5318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3001B-CEB0-4771-9174-C4720364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3B15-F478-412F-A354-2172FE1657FE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364435" y="821636"/>
            <a:ext cx="11463129" cy="5374598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000" b="1" i="1" dirty="0"/>
              <a:t>(b) Concurrently</a:t>
            </a:r>
            <a:r>
              <a:rPr lang="en-US" sz="2000" dirty="0"/>
              <a:t>: is the reverse of serially executable transactions, </a:t>
            </a:r>
          </a:p>
          <a:p>
            <a:pPr lvl="1"/>
            <a:r>
              <a:rPr lang="en-US" sz="2000" dirty="0"/>
              <a:t>In this scheme the individual operations of transactions, i.e., reads and writes are interleaved in some order. 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r>
              <a:rPr lang="en-US" sz="2000" b="1" dirty="0"/>
              <a:t>Final values at the end of T</a:t>
            </a:r>
            <a:r>
              <a:rPr lang="en-US" sz="2000" b="1" i="1" baseline="-25000" dirty="0"/>
              <a:t>1</a:t>
            </a:r>
            <a:r>
              <a:rPr lang="en-US" sz="2000" b="1" dirty="0"/>
              <a:t> and T</a:t>
            </a:r>
            <a:r>
              <a:rPr lang="en-US" sz="2000" b="1" i="1" baseline="-25000" dirty="0"/>
              <a:t>2</a:t>
            </a:r>
            <a:r>
              <a:rPr lang="en-US" sz="2000" b="1" dirty="0"/>
              <a:t>:</a:t>
            </a:r>
            <a:r>
              <a:rPr lang="en-US" sz="2000" dirty="0"/>
              <a:t> X = 11, and Y = 7. </a:t>
            </a:r>
          </a:p>
          <a:p>
            <a:r>
              <a:rPr lang="en-US" sz="2000" dirty="0"/>
              <a:t>This improves resource utilization, unfortunately gives incorrect result.  </a:t>
            </a:r>
            <a:endParaRPr lang="en-US" sz="1600" dirty="0"/>
          </a:p>
          <a:p>
            <a:r>
              <a:rPr lang="en-US" sz="2000" dirty="0"/>
              <a:t>The correct value of X is 12 but in concurrent execution X =11, which is incorrect. </a:t>
            </a:r>
          </a:p>
          <a:p>
            <a:r>
              <a:rPr lang="en-US" sz="2000" dirty="0"/>
              <a:t>The reason for this error is incorrect sharing of X by T</a:t>
            </a:r>
            <a:r>
              <a:rPr lang="en-US" sz="2000" b="1" i="1" baseline="-25000" dirty="0"/>
              <a:t>1</a:t>
            </a:r>
            <a:r>
              <a:rPr lang="en-US" sz="2000" dirty="0"/>
              <a:t> and T</a:t>
            </a:r>
            <a:r>
              <a:rPr lang="en-US" sz="2000" b="1" i="1" baseline="-25000" dirty="0"/>
              <a:t>2</a:t>
            </a:r>
            <a:r>
              <a:rPr lang="en-US" sz="2000" dirty="0"/>
              <a:t>.  </a:t>
            </a:r>
            <a:endParaRPr lang="en-US" sz="1800" dirty="0"/>
          </a:p>
          <a:p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944133"/>
              </p:ext>
            </p:extLst>
          </p:nvPr>
        </p:nvGraphicFramePr>
        <p:xfrm>
          <a:off x="3886199" y="1688122"/>
          <a:ext cx="6031523" cy="2630660"/>
        </p:xfrm>
        <a:graphic>
          <a:graphicData uri="http://schemas.openxmlformats.org/drawingml/2006/table">
            <a:tbl>
              <a:tblPr/>
              <a:tblGrid>
                <a:gridCol w="1779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6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066">
                <a:tc>
                  <a:txBody>
                    <a:bodyPr/>
                    <a:lstStyle>
                      <a:lvl1pPr marL="47625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47625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Time</a:t>
                      </a: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kumimoji="0" lang="en-US" sz="12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kumimoji="0" lang="en-US" sz="1200" b="1" i="1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066">
                <a:tc rowSpan="9">
                  <a:txBody>
                    <a:bodyPr/>
                    <a:lstStyle>
                      <a:lvl1pPr marL="3175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3175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(X) {X = 10}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0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(X) {X = 10}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0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X := X+N {X = 11}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0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X := X+N {X = 11}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0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(X) {X = 11}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0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(X) (X=11)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0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(Y) {Y = 6}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0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Y := Y+N {Y = 7}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5240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15240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0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635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635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(Y) {Y = 7}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5240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defRPr>
                      </a:lvl9pPr>
                    </a:lstStyle>
                    <a:p>
                      <a:pPr marL="15240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135" marR="7302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8715" name="Group 5"/>
          <p:cNvGrpSpPr>
            <a:grpSpLocks/>
          </p:cNvGrpSpPr>
          <p:nvPr/>
        </p:nvGrpSpPr>
        <p:grpSpPr bwMode="auto">
          <a:xfrm>
            <a:off x="4453596" y="1984935"/>
            <a:ext cx="371621" cy="2193170"/>
            <a:chOff x="0" y="0"/>
            <a:chExt cx="73152" cy="1493520"/>
          </a:xfrm>
        </p:grpSpPr>
        <p:sp>
          <p:nvSpPr>
            <p:cNvPr id="7" name="Shape 1143"/>
            <p:cNvSpPr/>
            <p:nvPr/>
          </p:nvSpPr>
          <p:spPr>
            <a:xfrm>
              <a:off x="0" y="0"/>
              <a:ext cx="73152" cy="1493520"/>
            </a:xfrm>
            <a:custGeom>
              <a:avLst/>
              <a:gdLst/>
              <a:ahLst/>
              <a:cxnLst/>
              <a:rect l="0" t="0" r="0" b="0"/>
              <a:pathLst>
                <a:path w="73152" h="1493520">
                  <a:moveTo>
                    <a:pt x="36576" y="0"/>
                  </a:moveTo>
                  <a:lnTo>
                    <a:pt x="42672" y="3048"/>
                  </a:lnTo>
                  <a:lnTo>
                    <a:pt x="42672" y="1420368"/>
                  </a:lnTo>
                  <a:lnTo>
                    <a:pt x="73152" y="1420368"/>
                  </a:lnTo>
                  <a:lnTo>
                    <a:pt x="36576" y="1493520"/>
                  </a:lnTo>
                  <a:lnTo>
                    <a:pt x="0" y="1420368"/>
                  </a:lnTo>
                  <a:lnTo>
                    <a:pt x="33528" y="1420368"/>
                  </a:lnTo>
                  <a:lnTo>
                    <a:pt x="33528" y="3048"/>
                  </a:lnTo>
                  <a:lnTo>
                    <a:pt x="3657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999C4-A6AC-448D-9660-E6B57CCF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8598-A7C1-4884-9C06-06E032CEB199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74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>
          <a:xfrm>
            <a:off x="357809" y="928468"/>
            <a:ext cx="11463129" cy="5243733"/>
          </a:xfrm>
        </p:spPr>
        <p:txBody>
          <a:bodyPr>
            <a:noAutofit/>
          </a:bodyPr>
          <a:lstStyle/>
          <a:p>
            <a:r>
              <a:rPr lang="en-US" sz="2400" dirty="0"/>
              <a:t>In serial execution </a:t>
            </a:r>
          </a:p>
          <a:p>
            <a:pPr lvl="1"/>
            <a:r>
              <a:rPr lang="en-US" sz="2400" dirty="0"/>
              <a:t>T</a:t>
            </a:r>
            <a:r>
              <a:rPr lang="en-US" sz="2400" b="1" i="1" baseline="-25000" dirty="0"/>
              <a:t>2</a:t>
            </a:r>
            <a:r>
              <a:rPr lang="en-US" sz="2400" dirty="0"/>
              <a:t> read the value of X written by T</a:t>
            </a:r>
            <a:r>
              <a:rPr lang="en-US" sz="2400" b="1" i="1" baseline="-25000" dirty="0"/>
              <a:t>1</a:t>
            </a:r>
            <a:r>
              <a:rPr lang="en-US" sz="2400" dirty="0"/>
              <a:t> (i.e., 11) </a:t>
            </a:r>
          </a:p>
          <a:p>
            <a:r>
              <a:rPr lang="en-US" sz="2400" dirty="0"/>
              <a:t>In concurrent execution </a:t>
            </a:r>
          </a:p>
          <a:p>
            <a:pPr lvl="1"/>
            <a:r>
              <a:rPr lang="en-US" sz="2400" dirty="0"/>
              <a:t>T</a:t>
            </a:r>
            <a:r>
              <a:rPr lang="en-US" sz="2400" b="1" i="1" baseline="-25000" dirty="0"/>
              <a:t>2</a:t>
            </a:r>
            <a:r>
              <a:rPr lang="en-US" sz="2400" dirty="0"/>
              <a:t> read the same value of X (i.e., 10) as T</a:t>
            </a:r>
            <a:r>
              <a:rPr lang="en-US" sz="2400" b="1" i="1" baseline="-25000" dirty="0"/>
              <a:t>1</a:t>
            </a:r>
            <a:r>
              <a:rPr lang="en-US" sz="2400" dirty="0"/>
              <a:t> did and the update made by T</a:t>
            </a:r>
            <a:r>
              <a:rPr lang="en-US" sz="2400" b="1" i="1" baseline="-25000" dirty="0"/>
              <a:t>1</a:t>
            </a:r>
            <a:r>
              <a:rPr lang="en-US" sz="2400" dirty="0"/>
              <a:t> was overwritten by T</a:t>
            </a:r>
            <a:r>
              <a:rPr lang="en-US" sz="2400" b="1" i="1" baseline="-25000" dirty="0"/>
              <a:t>2</a:t>
            </a:r>
            <a:r>
              <a:rPr lang="en-US" sz="2400" dirty="0"/>
              <a:t>’s update. </a:t>
            </a:r>
          </a:p>
          <a:p>
            <a:r>
              <a:rPr lang="en-US" sz="2400" dirty="0"/>
              <a:t>This is the reason the final value of X is one less than what is produced by serial execution. </a:t>
            </a:r>
          </a:p>
          <a:p>
            <a:r>
              <a:rPr lang="en-US" sz="2400" dirty="0"/>
              <a:t>But, why concurrent execution? Reasons: </a:t>
            </a:r>
          </a:p>
          <a:p>
            <a:pPr lvl="1"/>
            <a:r>
              <a:rPr lang="en-US" sz="2400" dirty="0"/>
              <a:t>Many systems have an independent component to handle I/O like DMA (Direct Memory Access) module. </a:t>
            </a:r>
          </a:p>
          <a:p>
            <a:pPr lvl="1"/>
            <a:r>
              <a:rPr lang="en-US" sz="2400" dirty="0"/>
              <a:t>CPU may process other transactions while one is in I/O operation </a:t>
            </a:r>
          </a:p>
          <a:p>
            <a:pPr lvl="1"/>
            <a:r>
              <a:rPr lang="en-US" sz="2400" dirty="0"/>
              <a:t>Improves resource utilization </a:t>
            </a:r>
          </a:p>
          <a:p>
            <a:pPr lvl="1"/>
            <a:r>
              <a:rPr lang="en-US" sz="2400" dirty="0"/>
              <a:t>Increases the throughput of the system.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C01ED-8F40-43CA-A760-4B1EE94D9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09AD-0F24-4128-91A0-FE9E469C77BE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79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948" y="152400"/>
            <a:ext cx="11623990" cy="59318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/>
              <a:t>Problems Associated with Concurrent Transaction Processing 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sz="quarter" idx="1"/>
          </p:nvPr>
        </p:nvSpPr>
        <p:spPr>
          <a:xfrm>
            <a:off x="196949" y="900332"/>
            <a:ext cx="11623990" cy="5805269"/>
          </a:xfrm>
        </p:spPr>
        <p:txBody>
          <a:bodyPr/>
          <a:lstStyle/>
          <a:p>
            <a:r>
              <a:rPr lang="en-US" sz="2200" dirty="0"/>
              <a:t>Two transactions may be correct when inserting of operations may produce an incorrect result which needs control over access. </a:t>
            </a:r>
          </a:p>
          <a:p>
            <a:r>
              <a:rPr lang="en-US" sz="2200" dirty="0"/>
              <a:t>Having a concurrent transaction processing, one can enhance the </a:t>
            </a:r>
            <a:r>
              <a:rPr lang="en-US" sz="2200" b="1" i="1" dirty="0"/>
              <a:t>throughput</a:t>
            </a:r>
            <a:r>
              <a:rPr lang="en-US" sz="2200" dirty="0"/>
              <a:t> of the system.</a:t>
            </a:r>
          </a:p>
          <a:p>
            <a:r>
              <a:rPr lang="en-US" sz="2200" dirty="0"/>
              <a:t>As reading and writing is performed from and on secondary storage, the system will not be idle during these operations if there is a concurrent processing. </a:t>
            </a:r>
          </a:p>
          <a:p>
            <a:r>
              <a:rPr lang="en-US" sz="2200" dirty="0"/>
              <a:t>Every transaction is correct when executed alone.</a:t>
            </a:r>
          </a:p>
          <a:p>
            <a:r>
              <a:rPr lang="en-US" sz="2200" dirty="0"/>
              <a:t>The three potential problems caused by concurrency are: </a:t>
            </a:r>
          </a:p>
          <a:p>
            <a:pPr lvl="2"/>
            <a:r>
              <a:rPr lang="en-US" sz="2200" dirty="0"/>
              <a:t>Lost Update Problem </a:t>
            </a:r>
          </a:p>
          <a:p>
            <a:pPr lvl="2"/>
            <a:r>
              <a:rPr lang="en-US" sz="2200" dirty="0"/>
              <a:t>Uncommitted Dependency Problem</a:t>
            </a:r>
          </a:p>
          <a:p>
            <a:pPr lvl="2"/>
            <a:r>
              <a:rPr lang="en-US" sz="2200" dirty="0"/>
              <a:t>Inconsistent Analysis Problem.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FE401-4F16-4BF4-9E02-CAC82787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6BD4-0245-4A39-8DFA-F156F6EE562E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09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Lost Update Problem </a:t>
            </a:r>
            <a:endParaRPr lang="en-US" dirty="0"/>
          </a:p>
        </p:txBody>
      </p:sp>
      <p:sp>
        <p:nvSpPr>
          <p:cNvPr id="31747" name="Content Placeholder 2"/>
          <p:cNvSpPr>
            <a:spLocks noGrp="1"/>
          </p:cNvSpPr>
          <p:nvPr>
            <p:ph sz="quarter" idx="1"/>
          </p:nvPr>
        </p:nvSpPr>
        <p:spPr>
          <a:xfrm>
            <a:off x="357809" y="956604"/>
            <a:ext cx="11463129" cy="5253698"/>
          </a:xfrm>
        </p:spPr>
        <p:txBody>
          <a:bodyPr>
            <a:normAutofit/>
          </a:bodyPr>
          <a:lstStyle/>
          <a:p>
            <a:r>
              <a:rPr lang="en-US" dirty="0"/>
              <a:t>Successfully completed update on a data set by one transaction is overridden by another transaction/user. </a:t>
            </a:r>
          </a:p>
          <a:p>
            <a:r>
              <a:rPr lang="en-US" dirty="0"/>
              <a:t>E.g. Account with balance A=100. </a:t>
            </a:r>
            <a:endParaRPr lang="en-US" sz="2000" dirty="0"/>
          </a:p>
          <a:p>
            <a:pPr lvl="2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reads the account A </a:t>
            </a:r>
            <a:endParaRPr lang="en-US" sz="1600" dirty="0"/>
          </a:p>
          <a:p>
            <a:pPr lvl="2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withdraws 10 from A  </a:t>
            </a:r>
            <a:endParaRPr lang="en-US" sz="1600" dirty="0"/>
          </a:p>
          <a:p>
            <a:pPr lvl="2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makes the update in the Database  </a:t>
            </a:r>
            <a:endParaRPr lang="en-US" sz="1600" dirty="0"/>
          </a:p>
          <a:p>
            <a:pPr lvl="2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reads the account A </a:t>
            </a:r>
            <a:endParaRPr lang="en-US" sz="1600" dirty="0"/>
          </a:p>
          <a:p>
            <a:pPr lvl="2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adds 100 on A </a:t>
            </a:r>
            <a:endParaRPr lang="en-US" sz="1600" dirty="0"/>
          </a:p>
          <a:p>
            <a:pPr lvl="2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makes the update in the Database </a:t>
            </a:r>
            <a:endParaRPr lang="en-US" sz="1600" dirty="0"/>
          </a:p>
          <a:p>
            <a:r>
              <a:rPr lang="en-US" sz="2000" dirty="0"/>
              <a:t>In the above case, if done one after the other (serially) then we have no problem.   </a:t>
            </a:r>
            <a:endParaRPr lang="en-US" sz="1800" dirty="0"/>
          </a:p>
          <a:p>
            <a:pPr lvl="1"/>
            <a:r>
              <a:rPr lang="en-US" sz="2000" dirty="0"/>
              <a:t>If the execution is T</a:t>
            </a:r>
            <a:r>
              <a:rPr lang="en-US" sz="2000" baseline="-25000" dirty="0"/>
              <a:t>1</a:t>
            </a:r>
            <a:r>
              <a:rPr lang="en-US" sz="2000" dirty="0"/>
              <a:t> followed by T</a:t>
            </a:r>
            <a:r>
              <a:rPr lang="en-US" sz="2000" baseline="-25000" dirty="0"/>
              <a:t>2</a:t>
            </a:r>
            <a:r>
              <a:rPr lang="en-US" sz="2000" dirty="0"/>
              <a:t> then A=190 </a:t>
            </a:r>
            <a:endParaRPr lang="en-US" sz="1800" dirty="0"/>
          </a:p>
          <a:p>
            <a:pPr lvl="1"/>
            <a:r>
              <a:rPr lang="en-US" sz="2000" dirty="0"/>
              <a:t>If the execution is T</a:t>
            </a:r>
            <a:r>
              <a:rPr lang="en-US" sz="2000" baseline="-25000" dirty="0"/>
              <a:t>2</a:t>
            </a:r>
            <a:r>
              <a:rPr lang="en-US" sz="2000" dirty="0"/>
              <a:t> followed by T</a:t>
            </a:r>
            <a:r>
              <a:rPr lang="en-US" sz="2000" baseline="-25000" dirty="0"/>
              <a:t>1</a:t>
            </a:r>
            <a:r>
              <a:rPr lang="en-US" sz="2000" dirty="0"/>
              <a:t> then A=190 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FAA8B-728D-49E6-9DF7-68B34E53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10F9-C2D8-473C-9BBA-FCFE273533D5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31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sz="quarter" idx="1"/>
          </p:nvPr>
        </p:nvSpPr>
        <p:spPr>
          <a:xfrm>
            <a:off x="787791" y="1069146"/>
            <a:ext cx="10846191" cy="5141156"/>
          </a:xfrm>
        </p:spPr>
        <p:txBody>
          <a:bodyPr>
            <a:normAutofit/>
          </a:bodyPr>
          <a:lstStyle/>
          <a:p>
            <a:r>
              <a:rPr lang="en-US" dirty="0"/>
              <a:t>But if they start at the same time in the following sequence:  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reads the account A=100 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withdraws 10 making the balance A=90 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reads the account A=100 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adds 100 making A=200 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makes the update in the Database A=90 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makes the update in the Database A=200 </a:t>
            </a:r>
          </a:p>
          <a:p>
            <a:pPr lvl="1"/>
            <a:r>
              <a:rPr lang="en-US" dirty="0"/>
              <a:t>After the successful completion of the operation in this schedule, the final value of A will be 200 which override the update made by the first transaction that changed the value from 100 to 90.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E2D9F-AB45-4C9D-A4E9-61766734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EB4E3-064E-4782-95AF-195EBB15F191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81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Uncommitted Dependency Problem </a:t>
            </a:r>
            <a:endParaRPr lang="en-US" dirty="0"/>
          </a:p>
        </p:txBody>
      </p:sp>
      <p:sp>
        <p:nvSpPr>
          <p:cNvPr id="33795" name="Content Placeholder 2"/>
          <p:cNvSpPr>
            <a:spLocks noGrp="1"/>
          </p:cNvSpPr>
          <p:nvPr>
            <p:ph sz="quarter" idx="1"/>
          </p:nvPr>
        </p:nvSpPr>
        <p:spPr>
          <a:xfrm>
            <a:off x="553942" y="1025523"/>
            <a:ext cx="11463130" cy="5330825"/>
          </a:xfrm>
        </p:spPr>
        <p:txBody>
          <a:bodyPr/>
          <a:lstStyle/>
          <a:p>
            <a:r>
              <a:rPr lang="en-US" dirty="0"/>
              <a:t>Occurs when one transaction can see intermediate results of another transaction before it is committed. </a:t>
            </a:r>
          </a:p>
          <a:p>
            <a:r>
              <a:rPr lang="en-US" dirty="0"/>
              <a:t>E.g. 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increases 100 making it 200 but then aborts the transaction before it is committed.  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gets 200, subtracts 10 and make it 190. But the actual balance should be 90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B92A3-4D79-47C9-A3F6-02874BF8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3130E-CF3B-4CC6-94B6-21A5FB215BF2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9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Inconsistent Analysis Problem </a:t>
            </a:r>
            <a:endParaRPr lang="en-US" dirty="0"/>
          </a:p>
        </p:txBody>
      </p:sp>
      <p:sp>
        <p:nvSpPr>
          <p:cNvPr id="34819" name="Content Placeholder 2"/>
          <p:cNvSpPr>
            <a:spLocks noGrp="1"/>
          </p:cNvSpPr>
          <p:nvPr>
            <p:ph sz="quarter" idx="1"/>
          </p:nvPr>
        </p:nvSpPr>
        <p:spPr>
          <a:xfrm>
            <a:off x="357808" y="984738"/>
            <a:ext cx="11463130" cy="5035063"/>
          </a:xfrm>
        </p:spPr>
        <p:txBody>
          <a:bodyPr>
            <a:noAutofit/>
          </a:bodyPr>
          <a:lstStyle/>
          <a:p>
            <a:r>
              <a:rPr lang="en-US" sz="2400" dirty="0"/>
              <a:t>Occurs when transaction reads several values but second transaction updates some of them during execution and before the completion of the first. </a:t>
            </a:r>
          </a:p>
          <a:p>
            <a:endParaRPr lang="en-US" sz="2400" dirty="0"/>
          </a:p>
          <a:p>
            <a:r>
              <a:rPr lang="en-US" sz="2400" dirty="0"/>
              <a:t>As discussed above, the objective of Concurrency Control Protocol is to schedule transactions in such a way as to avoid any interference between them. </a:t>
            </a:r>
          </a:p>
          <a:p>
            <a:pPr lvl="1"/>
            <a:r>
              <a:rPr lang="en-US" sz="2400" dirty="0"/>
              <a:t>This demands a new principle in transaction processing, which is </a:t>
            </a:r>
            <a:r>
              <a:rPr lang="en-US" sz="2400" dirty="0" err="1"/>
              <a:t>serializability</a:t>
            </a:r>
            <a:r>
              <a:rPr lang="en-US" sz="2400" dirty="0"/>
              <a:t> of the schedule of execution of multiple transactions. </a:t>
            </a:r>
          </a:p>
          <a:p>
            <a:r>
              <a:rPr lang="en-US" sz="2400" dirty="0"/>
              <a:t>Related with the inconsistent analysis problem we have the </a:t>
            </a:r>
            <a:r>
              <a:rPr lang="en-US" sz="2400" b="1" i="1" dirty="0"/>
              <a:t>phantom read</a:t>
            </a:r>
            <a:r>
              <a:rPr lang="en-US" sz="2400" dirty="0"/>
              <a:t> and the </a:t>
            </a:r>
            <a:r>
              <a:rPr lang="en-US" sz="2400" b="1" i="1" dirty="0"/>
              <a:t>fuzzy(unclear) read</a:t>
            </a:r>
            <a:r>
              <a:rPr lang="en-US" sz="2400" dirty="0"/>
              <a:t> problems 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B80978-6DF5-4248-8735-0291E708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F05A-2C60-4AD2-BAFD-117C6320D319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32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err="1"/>
              <a:t>Serializability</a:t>
            </a:r>
            <a:endParaRPr lang="en-US" dirty="0"/>
          </a:p>
        </p:txBody>
      </p:sp>
      <p:sp>
        <p:nvSpPr>
          <p:cNvPr id="35843" name="Content Placeholder 2"/>
          <p:cNvSpPr>
            <a:spLocks noGrp="1"/>
          </p:cNvSpPr>
          <p:nvPr>
            <p:ph sz="quarter" idx="1"/>
          </p:nvPr>
        </p:nvSpPr>
        <p:spPr>
          <a:xfrm>
            <a:off x="357808" y="970672"/>
            <a:ext cx="11463130" cy="5887330"/>
          </a:xfrm>
        </p:spPr>
        <p:txBody>
          <a:bodyPr>
            <a:normAutofit/>
          </a:bodyPr>
          <a:lstStyle/>
          <a:p>
            <a:r>
              <a:rPr lang="en-US" dirty="0"/>
              <a:t>In any transaction processing system, if concurrent processing is implemented, there will be concept called </a:t>
            </a:r>
            <a:r>
              <a:rPr lang="en-US" b="1" dirty="0"/>
              <a:t>schedule</a:t>
            </a:r>
            <a:r>
              <a:rPr lang="en-US" dirty="0"/>
              <a:t> having or determining the execution sequence of operations in different transactions.  </a:t>
            </a:r>
          </a:p>
          <a:p>
            <a:r>
              <a:rPr lang="en-US" b="1" i="1" u="sng" dirty="0"/>
              <a:t>Schedule</a:t>
            </a:r>
            <a:r>
              <a:rPr lang="en-US" dirty="0"/>
              <a:t>: time-ordered sequence of the important actions taken by one or more transitions. </a:t>
            </a:r>
          </a:p>
          <a:p>
            <a:pPr lvl="1"/>
            <a:r>
              <a:rPr lang="en-US" sz="2400" dirty="0"/>
              <a:t>Schedule represents the order in which instructions are executed in the system in chronological ordering. </a:t>
            </a:r>
          </a:p>
          <a:p>
            <a:pPr lvl="1"/>
            <a:r>
              <a:rPr lang="en-US" sz="2400" dirty="0"/>
              <a:t>The scheduler component of a DBMS must ensure that the individual steps of different transactions preserve consistency.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C9A06-CCD1-4EB6-B61F-E94EAB3F5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2D081-8E95-4F92-9BB9-FF6344CC3076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37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>
          <a:xfrm>
            <a:off x="357808" y="821636"/>
            <a:ext cx="11463130" cy="5388666"/>
          </a:xfrm>
        </p:spPr>
        <p:txBody>
          <a:bodyPr>
            <a:noAutofit/>
          </a:bodyPr>
          <a:lstStyle/>
          <a:p>
            <a:pPr lvl="1"/>
            <a:r>
              <a:rPr lang="en-US" sz="2400" b="1" i="1" u="sng" dirty="0"/>
              <a:t>1) Serial Schedule</a:t>
            </a:r>
            <a:r>
              <a:rPr lang="en-US" sz="2400" dirty="0"/>
              <a:t>: a schedule where the operations of each transaction are executed consecutively without any interleaved operations from other transactions. </a:t>
            </a:r>
          </a:p>
          <a:p>
            <a:pPr lvl="1"/>
            <a:r>
              <a:rPr lang="en-US" sz="2400" b="1" i="1" u="sng" dirty="0"/>
              <a:t>2) Non-serial Schedule</a:t>
            </a:r>
            <a:r>
              <a:rPr lang="en-US" sz="2400" dirty="0"/>
              <a:t>: Schedule where operations from a set of concurrent transactions are interleaved. </a:t>
            </a:r>
          </a:p>
          <a:p>
            <a:pPr lvl="2"/>
            <a:r>
              <a:rPr lang="en-US" sz="2800" dirty="0"/>
              <a:t>The objective of </a:t>
            </a:r>
            <a:r>
              <a:rPr lang="en-US" sz="2800" dirty="0" err="1"/>
              <a:t>serializability</a:t>
            </a:r>
            <a:r>
              <a:rPr lang="en-US" sz="2800" dirty="0"/>
              <a:t> is to find non-serial schedules that allow transactions to execute concurrently without interfering with one another.</a:t>
            </a:r>
          </a:p>
          <a:p>
            <a:r>
              <a:rPr lang="en-US" sz="2400" dirty="0"/>
              <a:t>If a non serial schedule can come up with a result equivalent to some serial schedule, we call the schedule </a:t>
            </a:r>
            <a:r>
              <a:rPr lang="en-US" sz="2400" b="1" dirty="0" err="1"/>
              <a:t>Serializable</a:t>
            </a:r>
            <a:r>
              <a:rPr lang="en-US" sz="2400" dirty="0"/>
              <a:t>. </a:t>
            </a:r>
          </a:p>
          <a:p>
            <a:r>
              <a:rPr lang="en-US" sz="2400" dirty="0"/>
              <a:t>Sequence of the execution of the operations will result in a value identical with serially executed transaction, which always is correct. </a:t>
            </a:r>
          </a:p>
          <a:p>
            <a:r>
              <a:rPr lang="en-US" sz="2400" b="1" i="1" dirty="0" err="1"/>
              <a:t>Serializability</a:t>
            </a:r>
            <a:r>
              <a:rPr lang="en-US" sz="2400" dirty="0"/>
              <a:t> identifies those concurrent executions of transactions guaranteed to ensure consistency. 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34068F-7D70-452D-87EA-3F9C84985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BDD5-81AE-4A21-9C07-592A80E7211A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179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Serialization </a:t>
            </a:r>
            <a:endParaRPr lang="en-US" dirty="0"/>
          </a:p>
        </p:txBody>
      </p:sp>
      <p:sp>
        <p:nvSpPr>
          <p:cNvPr id="37891" name="Content Placeholder 2"/>
          <p:cNvSpPr>
            <a:spLocks noGrp="1"/>
          </p:cNvSpPr>
          <p:nvPr>
            <p:ph sz="quarter" idx="1"/>
          </p:nvPr>
        </p:nvSpPr>
        <p:spPr>
          <a:xfrm>
            <a:off x="357807" y="942536"/>
            <a:ext cx="11463130" cy="591546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Objective of serialization is to find schedules that allow transactions to execute concurrently without interfering with one another. </a:t>
            </a:r>
          </a:p>
          <a:p>
            <a:pPr algn="just"/>
            <a:r>
              <a:rPr lang="en-US" dirty="0"/>
              <a:t>If two transactions only read data, order is not important. </a:t>
            </a:r>
          </a:p>
          <a:p>
            <a:pPr algn="just"/>
            <a:r>
              <a:rPr lang="en-US" dirty="0"/>
              <a:t>If two transactions either read or write completely separate data items, they do not conflict and order is not important. </a:t>
            </a:r>
          </a:p>
          <a:p>
            <a:pPr algn="just"/>
            <a:r>
              <a:rPr lang="en-US" dirty="0"/>
              <a:t>If one transaction writes a data item and another reads or writes the same data item, order of execution is important </a:t>
            </a:r>
          </a:p>
          <a:p>
            <a:pPr algn="just"/>
            <a:r>
              <a:rPr lang="en-US" b="1" dirty="0"/>
              <a:t>Possible solution</a:t>
            </a:r>
            <a:r>
              <a:rPr lang="en-US" dirty="0"/>
              <a:t>: Run all transactions serially. </a:t>
            </a:r>
          </a:p>
          <a:p>
            <a:pPr algn="just"/>
            <a:r>
              <a:rPr lang="en-US" dirty="0"/>
              <a:t>This is often too restrictive as it limits degree of concurrency or parallelism in system.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EDA9F-EE51-4DBD-BC21-E58B6421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6EFE-0BFA-4B67-AB1D-207B56A7BB42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0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Test for Serializability 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sz="quarter" idx="1"/>
          </p:nvPr>
        </p:nvSpPr>
        <p:spPr>
          <a:xfrm>
            <a:off x="357809" y="1025523"/>
            <a:ext cx="11641933" cy="5330825"/>
          </a:xfrm>
        </p:spPr>
        <p:txBody>
          <a:bodyPr>
            <a:normAutofit/>
          </a:bodyPr>
          <a:lstStyle/>
          <a:p>
            <a:pPr lvl="1"/>
            <a:r>
              <a:rPr lang="en-US" i="1" dirty="0"/>
              <a:t>Constrained write rule</a:t>
            </a:r>
            <a:r>
              <a:rPr lang="en-US" dirty="0"/>
              <a:t>: transaction updates data item based on its old value, which is first read by the transaction. </a:t>
            </a:r>
          </a:p>
          <a:p>
            <a:pPr lvl="1"/>
            <a:r>
              <a:rPr lang="en-US" i="1" dirty="0"/>
              <a:t>Under the constrained</a:t>
            </a:r>
            <a:r>
              <a:rPr lang="en-US" dirty="0"/>
              <a:t> write rule we can use precedence graph to test for </a:t>
            </a:r>
            <a:r>
              <a:rPr lang="en-US" dirty="0" err="1"/>
              <a:t>serializability</a:t>
            </a:r>
            <a:r>
              <a:rPr lang="en-US" dirty="0"/>
              <a:t>. </a:t>
            </a:r>
          </a:p>
          <a:p>
            <a:r>
              <a:rPr lang="en-US" sz="2400" dirty="0"/>
              <a:t>A non serial schedule can be tasted for </a:t>
            </a:r>
            <a:r>
              <a:rPr lang="en-US" sz="2400" dirty="0" err="1"/>
              <a:t>serializability</a:t>
            </a:r>
            <a:r>
              <a:rPr lang="en-US" sz="2400" dirty="0"/>
              <a:t> by using a method called </a:t>
            </a:r>
            <a:r>
              <a:rPr lang="en-US" sz="2400" b="1" i="1" dirty="0"/>
              <a:t>precedence graph</a:t>
            </a:r>
            <a:r>
              <a:rPr lang="en-US" sz="2400" dirty="0"/>
              <a:t>. </a:t>
            </a:r>
          </a:p>
          <a:p>
            <a:r>
              <a:rPr lang="en-US" sz="2400" dirty="0"/>
              <a:t>A precedence graph is composed of: </a:t>
            </a:r>
          </a:p>
          <a:p>
            <a:pPr lvl="1"/>
            <a:r>
              <a:rPr lang="en-US" b="1" i="1" dirty="0"/>
              <a:t>Nodes</a:t>
            </a:r>
            <a:r>
              <a:rPr lang="en-US" dirty="0"/>
              <a:t> to represent the transactions, and </a:t>
            </a:r>
          </a:p>
          <a:p>
            <a:pPr lvl="1"/>
            <a:r>
              <a:rPr lang="en-US" b="1" i="1" dirty="0"/>
              <a:t>Arc(</a:t>
            </a:r>
            <a:r>
              <a:rPr lang="en-US" i="1" dirty="0"/>
              <a:t>directed edge</a:t>
            </a:r>
            <a:r>
              <a:rPr lang="en-US" b="1" i="1" dirty="0"/>
              <a:t>)</a:t>
            </a:r>
            <a:r>
              <a:rPr lang="en-US" dirty="0"/>
              <a:t> to connect nodes indicating the order of execution for the transactions  </a:t>
            </a:r>
          </a:p>
          <a:p>
            <a:pPr lvl="1"/>
            <a:r>
              <a:rPr lang="en-US" i="1" dirty="0"/>
              <a:t>So that the directed edge </a:t>
            </a:r>
            <a:r>
              <a:rPr lang="en-US" i="1" dirty="0" err="1"/>
              <a:t>Ti</a:t>
            </a:r>
            <a:r>
              <a:rPr lang="en-US" i="1" dirty="0" err="1">
                <a:sym typeface="Wingdings" panose="05000000000000000000" pitchFamily="2" charset="2"/>
              </a:rPr>
              <a:t></a:t>
            </a:r>
            <a:r>
              <a:rPr lang="en-US" b="1" i="1" dirty="0" err="1"/>
              <a:t>T</a:t>
            </a:r>
            <a:r>
              <a:rPr lang="en-US" b="1" i="1" baseline="-25000" dirty="0" err="1"/>
              <a:t>j</a:t>
            </a:r>
            <a:r>
              <a:rPr lang="en-US" b="1" i="1" dirty="0"/>
              <a:t> implies,</a:t>
            </a:r>
            <a:r>
              <a:rPr lang="en-US" i="1" dirty="0"/>
              <a:t> </a:t>
            </a:r>
            <a:r>
              <a:rPr lang="en-US" dirty="0"/>
              <a:t>in an equivalent serial execution T</a:t>
            </a:r>
            <a:r>
              <a:rPr lang="en-US" baseline="-25000" dirty="0"/>
              <a:t>i  </a:t>
            </a:r>
            <a:r>
              <a:rPr lang="en-US" dirty="0"/>
              <a:t> must be executed before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.</a:t>
            </a:r>
            <a:r>
              <a:rPr lang="en-US" i="1" dirty="0"/>
              <a:t> </a:t>
            </a:r>
            <a:endParaRPr lang="en-US" dirty="0"/>
          </a:p>
          <a:p>
            <a:pPr marL="32004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3130D-BC43-4E71-9AE5-535C52FE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4BD5-2901-4187-A0B0-9DC04A8B1C11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92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9" y="152400"/>
            <a:ext cx="11463129" cy="60725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The rules of precedence graph: </a:t>
            </a:r>
            <a:endParaRPr lang="en-US" dirty="0"/>
          </a:p>
        </p:txBody>
      </p:sp>
      <p:sp>
        <p:nvSpPr>
          <p:cNvPr id="39939" name="Content Placeholder 2"/>
          <p:cNvSpPr>
            <a:spLocks noGrp="1"/>
          </p:cNvSpPr>
          <p:nvPr>
            <p:ph sz="quarter" idx="1"/>
          </p:nvPr>
        </p:nvSpPr>
        <p:spPr>
          <a:xfrm>
            <a:off x="357809" y="896937"/>
            <a:ext cx="11834191" cy="5064125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/>
              <a:t>Represent each transaction in the schedule with a node. </a:t>
            </a:r>
          </a:p>
          <a:p>
            <a:r>
              <a:rPr lang="en-US" sz="3600" dirty="0"/>
              <a:t>Then draw a directed arc from T</a:t>
            </a:r>
            <a:r>
              <a:rPr lang="en-US" sz="3600" baseline="-25000" dirty="0"/>
              <a:t>i</a:t>
            </a:r>
            <a:r>
              <a:rPr lang="en-US" sz="3600" dirty="0"/>
              <a:t> to </a:t>
            </a:r>
            <a:r>
              <a:rPr lang="en-US" sz="3600" dirty="0" err="1"/>
              <a:t>T</a:t>
            </a:r>
            <a:r>
              <a:rPr lang="en-US" sz="3600" baseline="-25000" dirty="0" err="1"/>
              <a:t>j</a:t>
            </a:r>
            <a:r>
              <a:rPr lang="en-US" sz="3600" dirty="0"/>
              <a:t>  (that is T</a:t>
            </a:r>
            <a:r>
              <a:rPr lang="en-US" sz="3600" baseline="-25000" dirty="0"/>
              <a:t>i</a:t>
            </a:r>
            <a:r>
              <a:rPr lang="en-US" sz="3600" dirty="0"/>
              <a:t> </a:t>
            </a:r>
            <a:r>
              <a:rPr lang="en-US" sz="3600" dirty="0">
                <a:sym typeface="Wingdings" panose="05000000000000000000" pitchFamily="2" charset="2"/>
              </a:rPr>
              <a:t></a:t>
            </a:r>
            <a:r>
              <a:rPr lang="en-US" sz="3600" dirty="0"/>
              <a:t>to </a:t>
            </a:r>
            <a:r>
              <a:rPr lang="en-US" sz="3600" dirty="0" err="1"/>
              <a:t>T</a:t>
            </a:r>
            <a:r>
              <a:rPr lang="en-US" sz="3600" baseline="-25000" dirty="0" err="1"/>
              <a:t>j</a:t>
            </a:r>
            <a:r>
              <a:rPr lang="en-US" sz="3600" dirty="0"/>
              <a:t> ) if: </a:t>
            </a:r>
            <a:endParaRPr lang="en-US" dirty="0"/>
          </a:p>
          <a:p>
            <a:pPr marL="709613" lvl="1" indent="-342900">
              <a:buFont typeface="Century Schoolbook" panose="02040604050505020304" pitchFamily="18" charset="0"/>
              <a:buAutoNum type="arabicPeriod"/>
            </a:pPr>
            <a:r>
              <a:rPr lang="en-US" sz="3200" dirty="0" err="1"/>
              <a:t>T</a:t>
            </a:r>
            <a:r>
              <a:rPr lang="en-US" sz="3200" baseline="-25000" dirty="0" err="1"/>
              <a:t>j</a:t>
            </a:r>
            <a:r>
              <a:rPr lang="en-US" sz="3200" dirty="0"/>
              <a:t> </a:t>
            </a:r>
            <a:r>
              <a:rPr lang="en-US" sz="3200" b="1" dirty="0"/>
              <a:t>Reads</a:t>
            </a:r>
            <a:r>
              <a:rPr lang="en-US" sz="3200" dirty="0"/>
              <a:t> an item that is already </a:t>
            </a:r>
            <a:r>
              <a:rPr lang="en-US" sz="3200" b="1" dirty="0"/>
              <a:t>Written</a:t>
            </a:r>
            <a:r>
              <a:rPr lang="en-US" sz="3200" dirty="0"/>
              <a:t> by T</a:t>
            </a:r>
            <a:r>
              <a:rPr lang="en-US" sz="3200" baseline="-25000" dirty="0"/>
              <a:t>i</a:t>
            </a:r>
            <a:r>
              <a:rPr lang="en-US" sz="3200" dirty="0"/>
              <a:t> </a:t>
            </a:r>
            <a:endParaRPr lang="en-US" dirty="0"/>
          </a:p>
          <a:p>
            <a:pPr lvl="2"/>
            <a:r>
              <a:rPr lang="en-US" sz="3200" dirty="0"/>
              <a:t>T</a:t>
            </a:r>
            <a:r>
              <a:rPr lang="en-US" sz="3200" baseline="-25000" dirty="0"/>
              <a:t>i</a:t>
            </a:r>
            <a:r>
              <a:rPr lang="en-US" sz="3200" dirty="0"/>
              <a:t>  </a:t>
            </a:r>
            <a:r>
              <a:rPr lang="en-US" sz="3200" b="1" dirty="0"/>
              <a:t>Write(x) </a:t>
            </a:r>
            <a:r>
              <a:rPr lang="en-US" sz="3200" dirty="0"/>
              <a:t>Then</a:t>
            </a:r>
            <a:r>
              <a:rPr lang="en-US" sz="3200" b="1" dirty="0"/>
              <a:t> </a:t>
            </a:r>
            <a:r>
              <a:rPr lang="en-US" sz="3200" dirty="0"/>
              <a:t> </a:t>
            </a:r>
            <a:r>
              <a:rPr lang="en-US" sz="3200" dirty="0" err="1"/>
              <a:t>T</a:t>
            </a:r>
            <a:r>
              <a:rPr lang="en-US" sz="3200" baseline="-25000" dirty="0" err="1"/>
              <a:t>j</a:t>
            </a:r>
            <a:r>
              <a:rPr lang="en-US" sz="3200" dirty="0"/>
              <a:t> </a:t>
            </a:r>
            <a:r>
              <a:rPr lang="en-US" sz="3200" b="1" dirty="0"/>
              <a:t>Read(x)</a:t>
            </a:r>
            <a:r>
              <a:rPr lang="en-US" sz="3200" dirty="0"/>
              <a:t> </a:t>
            </a:r>
            <a:endParaRPr lang="en-US" sz="2800" dirty="0"/>
          </a:p>
          <a:p>
            <a:pPr marL="709613" lvl="1" indent="-342900">
              <a:buFont typeface="Century Schoolbook" panose="02040604050505020304" pitchFamily="18" charset="0"/>
              <a:buAutoNum type="arabicPeriod"/>
            </a:pPr>
            <a:r>
              <a:rPr lang="en-US" sz="3200" dirty="0" err="1"/>
              <a:t>T</a:t>
            </a:r>
            <a:r>
              <a:rPr lang="en-US" sz="3200" baseline="-25000" dirty="0" err="1"/>
              <a:t>j</a:t>
            </a:r>
            <a:r>
              <a:rPr lang="en-US" sz="3200" baseline="-25000" dirty="0"/>
              <a:t> </a:t>
            </a:r>
            <a:r>
              <a:rPr lang="en-US" sz="3200" b="1" dirty="0"/>
              <a:t>Writes</a:t>
            </a:r>
            <a:r>
              <a:rPr lang="en-US" sz="3200" dirty="0"/>
              <a:t> an item that already has been </a:t>
            </a:r>
            <a:r>
              <a:rPr lang="en-US" sz="3200" b="1" dirty="0"/>
              <a:t>Read</a:t>
            </a:r>
            <a:r>
              <a:rPr lang="en-US" sz="3200" dirty="0"/>
              <a:t> by T</a:t>
            </a:r>
            <a:r>
              <a:rPr lang="en-US" sz="3200" baseline="-25000" dirty="0"/>
              <a:t>i</a:t>
            </a:r>
            <a:r>
              <a:rPr lang="en-US" sz="3200" dirty="0"/>
              <a:t>, or </a:t>
            </a:r>
            <a:endParaRPr lang="en-US" dirty="0"/>
          </a:p>
          <a:p>
            <a:pPr lvl="2"/>
            <a:r>
              <a:rPr lang="en-US" sz="3200" dirty="0"/>
              <a:t>T</a:t>
            </a:r>
            <a:r>
              <a:rPr lang="en-US" sz="3200" baseline="-25000" dirty="0"/>
              <a:t>i</a:t>
            </a:r>
            <a:r>
              <a:rPr lang="en-US" sz="3200" dirty="0"/>
              <a:t>  </a:t>
            </a:r>
            <a:r>
              <a:rPr lang="en-US" sz="3200" b="1" dirty="0"/>
              <a:t>Read(x)</a:t>
            </a:r>
            <a:r>
              <a:rPr lang="en-US" sz="3200" dirty="0"/>
              <a:t> Then  </a:t>
            </a:r>
            <a:r>
              <a:rPr lang="en-US" sz="3200" dirty="0" err="1"/>
              <a:t>T</a:t>
            </a:r>
            <a:r>
              <a:rPr lang="en-US" sz="3200" baseline="-25000" dirty="0" err="1"/>
              <a:t>j</a:t>
            </a:r>
            <a:r>
              <a:rPr lang="en-US" sz="3200" dirty="0"/>
              <a:t> </a:t>
            </a:r>
            <a:r>
              <a:rPr lang="en-US" sz="3200" b="1" dirty="0"/>
              <a:t>Write(x</a:t>
            </a:r>
            <a:r>
              <a:rPr lang="en-US" sz="3200" dirty="0"/>
              <a:t>)  </a:t>
            </a:r>
            <a:endParaRPr lang="en-US" sz="2800" dirty="0"/>
          </a:p>
          <a:p>
            <a:pPr marL="709613" lvl="1" indent="-342900">
              <a:buFont typeface="Century Schoolbook" panose="02040604050505020304" pitchFamily="18" charset="0"/>
              <a:buAutoNum type="arabicPeriod"/>
            </a:pPr>
            <a:r>
              <a:rPr lang="en-US" sz="3200" dirty="0" err="1"/>
              <a:t>T</a:t>
            </a:r>
            <a:r>
              <a:rPr lang="en-US" sz="3200" baseline="-25000" dirty="0" err="1"/>
              <a:t>j</a:t>
            </a:r>
            <a:r>
              <a:rPr lang="en-US" sz="3200" baseline="-25000" dirty="0"/>
              <a:t> </a:t>
            </a:r>
            <a:r>
              <a:rPr lang="en-US" sz="3200" b="1" dirty="0"/>
              <a:t>Writes</a:t>
            </a:r>
            <a:r>
              <a:rPr lang="en-US" sz="3200" dirty="0"/>
              <a:t> an item that already has been </a:t>
            </a:r>
            <a:r>
              <a:rPr lang="en-US" sz="3200" b="1" dirty="0"/>
              <a:t>Written</a:t>
            </a:r>
            <a:r>
              <a:rPr lang="en-US" sz="3200" dirty="0"/>
              <a:t> by T</a:t>
            </a:r>
            <a:r>
              <a:rPr lang="en-US" sz="3200" baseline="-25000" dirty="0"/>
              <a:t>i</a:t>
            </a:r>
            <a:r>
              <a:rPr lang="en-US" sz="3200" dirty="0"/>
              <a:t> </a:t>
            </a:r>
            <a:endParaRPr lang="en-US" dirty="0"/>
          </a:p>
          <a:p>
            <a:pPr lvl="2"/>
            <a:r>
              <a:rPr lang="en-US" sz="3200" dirty="0"/>
              <a:t>T</a:t>
            </a:r>
            <a:r>
              <a:rPr lang="en-US" sz="3200" baseline="-25000" dirty="0"/>
              <a:t>i</a:t>
            </a:r>
            <a:r>
              <a:rPr lang="en-US" sz="3200" dirty="0"/>
              <a:t>  </a:t>
            </a:r>
            <a:r>
              <a:rPr lang="en-US" sz="3200" b="1" dirty="0"/>
              <a:t>Write(x) </a:t>
            </a:r>
            <a:r>
              <a:rPr lang="en-US" sz="3200" dirty="0"/>
              <a:t>Then  </a:t>
            </a:r>
            <a:r>
              <a:rPr lang="en-US" sz="3200" dirty="0" err="1"/>
              <a:t>T</a:t>
            </a:r>
            <a:r>
              <a:rPr lang="en-US" sz="3200" baseline="-25000" dirty="0" err="1"/>
              <a:t>j</a:t>
            </a:r>
            <a:r>
              <a:rPr lang="en-US" sz="3200" dirty="0"/>
              <a:t> </a:t>
            </a:r>
            <a:r>
              <a:rPr lang="en-US" sz="3200" b="1" dirty="0"/>
              <a:t>Write(x) </a:t>
            </a:r>
            <a:r>
              <a:rPr lang="en-US" sz="3200" dirty="0"/>
              <a:t> </a:t>
            </a:r>
          </a:p>
          <a:p>
            <a:r>
              <a:rPr lang="en-US" sz="3600" dirty="0"/>
              <a:t>After drawing the precedence graph, if there is any </a:t>
            </a:r>
            <a:r>
              <a:rPr lang="en-US" sz="3600" dirty="0">
                <a:solidFill>
                  <a:srgbClr val="FF0000"/>
                </a:solidFill>
              </a:rPr>
              <a:t>cycle</a:t>
            </a:r>
            <a:r>
              <a:rPr lang="en-US" sz="3600" dirty="0"/>
              <a:t> in the graph, the schedule is said to be </a:t>
            </a:r>
            <a:r>
              <a:rPr lang="en-US" sz="3600" dirty="0">
                <a:solidFill>
                  <a:srgbClr val="FF0000"/>
                </a:solidFill>
              </a:rPr>
              <a:t>Non Serializable</a:t>
            </a:r>
            <a:r>
              <a:rPr lang="en-US" sz="3600" dirty="0"/>
              <a:t>. </a:t>
            </a:r>
          </a:p>
          <a:p>
            <a:r>
              <a:rPr lang="en-US" sz="3600" dirty="0"/>
              <a:t>Otherwise, if there is no cycle in the graph, the schedule is equivalent with some serial schedule and is serializable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F1CD3-C3CE-483B-BDDA-B856D0EA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E8DF-076A-4F5C-914E-9ED37339B29D}" type="datetime1">
              <a:rPr lang="en-US" smtClean="0"/>
              <a:t>11/11/23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99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478" y="109106"/>
            <a:ext cx="6705600" cy="5349159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78156" y="5505876"/>
            <a:ext cx="7772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2.5 </a:t>
            </a:r>
            <a:r>
              <a:rPr lang="en-US" sz="1600" dirty="0">
                <a:solidFill>
                  <a:schemeClr val="tx1"/>
                </a:solidFill>
              </a:rPr>
              <a:t>Examples of serial and nonserial schedules involving transactions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1 and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2 (a) Serial schedule A: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1 followed by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2 (b) Serial schedule B: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2 followed by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1 (c) Two nonserial schedules C and D with interleaving of operations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AE37821-17E7-4625-8E1A-5B2F13F3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356349"/>
            <a:ext cx="292872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33B2887-676B-4EF2-9410-C168E623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78157" y="6356350"/>
            <a:ext cx="6414052" cy="365125"/>
          </a:xfrm>
        </p:spPr>
        <p:txBody>
          <a:bodyPr/>
          <a:lstStyle/>
          <a:p>
            <a:pPr algn="ctr">
              <a:defRPr/>
            </a:pPr>
            <a:r>
              <a:rPr lang="en-US" dirty="0"/>
              <a:t>Transactions processing and concurrency Management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DF473A07-6ECC-4F98-9B40-BC89260D0B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7809" y="6356350"/>
            <a:ext cx="2120347" cy="365125"/>
          </a:xfrm>
        </p:spPr>
        <p:txBody>
          <a:bodyPr/>
          <a:lstStyle/>
          <a:p>
            <a:fld id="{BC29E24D-2839-4A4C-A99E-84D19E339815}" type="datetime1">
              <a:rPr lang="en-US" smtClean="0"/>
              <a:t>11/11/23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882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dirty="0"/>
              <a:t>Characterizing Schedules Based </a:t>
            </a:r>
            <a:r>
              <a:rPr lang="en-US" altLang="en-US" sz="3600"/>
              <a:t>on Serializability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Testing for serializability of a schedule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9" y="1477108"/>
            <a:ext cx="11248037" cy="4499826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958305" y="5976934"/>
            <a:ext cx="59055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Algorithm 2.1 </a:t>
            </a:r>
            <a:r>
              <a:rPr lang="en-US" sz="1600" dirty="0">
                <a:solidFill>
                  <a:schemeClr val="tx1"/>
                </a:solidFill>
              </a:rPr>
              <a:t>Testing conflict serializability of a schedule S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149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dirty="0"/>
              <a:t>Characterizing Schedules Based on Serializability (cont’d.)</a:t>
            </a:r>
            <a:endParaRPr lang="en-US" sz="3600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981200" y="5515741"/>
            <a:ext cx="8229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2.7 </a:t>
            </a:r>
            <a:r>
              <a:rPr lang="en-US" sz="1600" dirty="0">
                <a:solidFill>
                  <a:schemeClr val="tx1"/>
                </a:solidFill>
              </a:rPr>
              <a:t>Constructing the precedence graphs for schedules A to D from Figure 20.5 to test for conflict serializability (a) Precedence graph for serial schedule A (b) Precedence graph for serial schedule B (c) Precedence graph for schedule C (not serializable) (d) Precedence graph for schedule D (serializable, equivalent to schedule A)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123" y="1570974"/>
            <a:ext cx="6439692" cy="361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043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63DC-4167-4517-AAB7-C22A2B55C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30321-4E7F-4DD3-97C5-A3604BE2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0FC-3465-4141-8DF6-AFCEF696E23A}" type="datetime1">
              <a:rPr lang="en-US" smtClean="0"/>
              <a:t>11/11/23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607C00-9ED9-40B3-9233-F072C076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0A052-FEC7-4DF6-A00A-343E7FD6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1313F-823C-44AD-AEE5-21EE93C84C91}"/>
              </a:ext>
            </a:extLst>
          </p:cNvPr>
          <p:cNvSpPr txBox="1"/>
          <p:nvPr/>
        </p:nvSpPr>
        <p:spPr>
          <a:xfrm>
            <a:off x="721529" y="1071212"/>
            <a:ext cx="1109940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Ex1: </a:t>
            </a:r>
            <a:endParaRPr lang="en-US" sz="3200" dirty="0"/>
          </a:p>
          <a:p>
            <a:r>
              <a:rPr lang="en-US" sz="4000" dirty="0"/>
              <a:t>R1(x) W2(x) W1(x) </a:t>
            </a:r>
            <a:endParaRPr lang="en-US" sz="3200" dirty="0"/>
          </a:p>
          <a:p>
            <a:r>
              <a:rPr lang="en-US" sz="4000" dirty="0"/>
              <a:t>Check:  T</a:t>
            </a:r>
            <a:r>
              <a:rPr lang="en-US" sz="4000" baseline="-25000" dirty="0"/>
              <a:t>1</a:t>
            </a:r>
            <a:r>
              <a:rPr lang="en-US" sz="4000" dirty="0">
                <a:sym typeface="Wingdings" panose="05000000000000000000" pitchFamily="2" charset="2"/>
              </a:rPr>
              <a:t></a:t>
            </a:r>
            <a:r>
              <a:rPr lang="en-US" sz="4000" dirty="0"/>
              <a:t>T</a:t>
            </a:r>
            <a:r>
              <a:rPr lang="en-US" sz="4000" baseline="-25000" dirty="0"/>
              <a:t>2</a:t>
            </a:r>
            <a:r>
              <a:rPr lang="en-US" sz="4000" dirty="0"/>
              <a:t> and T</a:t>
            </a:r>
            <a:r>
              <a:rPr lang="en-US" sz="4000" baseline="-25000" dirty="0"/>
              <a:t>2</a:t>
            </a:r>
            <a:r>
              <a:rPr lang="en-US" sz="4000" dirty="0">
                <a:sym typeface="Wingdings" panose="05000000000000000000" pitchFamily="2" charset="2"/>
              </a:rPr>
              <a:t></a:t>
            </a:r>
            <a:r>
              <a:rPr lang="en-US" sz="4000" dirty="0"/>
              <a:t>T</a:t>
            </a:r>
            <a:r>
              <a:rPr lang="en-US" sz="4000" baseline="-25000" dirty="0"/>
              <a:t>1</a:t>
            </a:r>
            <a:r>
              <a:rPr lang="en-US" sz="4000" dirty="0"/>
              <a:t> </a:t>
            </a:r>
            <a:endParaRPr lang="en-US" sz="3200" dirty="0"/>
          </a:p>
          <a:p>
            <a:r>
              <a:rPr lang="en-US" sz="4000" b="1" dirty="0"/>
              <a:t>Ex2: </a:t>
            </a:r>
            <a:endParaRPr lang="en-US" sz="3200" dirty="0"/>
          </a:p>
          <a:p>
            <a:r>
              <a:rPr lang="en-US" sz="4000" dirty="0"/>
              <a:t>R1(x)W2(x)W1(x)W3(x) </a:t>
            </a:r>
            <a:endParaRPr lang="en-US" sz="3200" dirty="0"/>
          </a:p>
          <a:p>
            <a:r>
              <a:rPr lang="en-US" sz="4000" dirty="0"/>
              <a:t>Check:  T</a:t>
            </a:r>
            <a:r>
              <a:rPr lang="en-US" sz="4000" baseline="-25000" dirty="0"/>
              <a:t>1</a:t>
            </a:r>
            <a:r>
              <a:rPr lang="en-US" sz="4000" dirty="0">
                <a:sym typeface="Wingdings" panose="05000000000000000000" pitchFamily="2" charset="2"/>
              </a:rPr>
              <a:t></a:t>
            </a:r>
            <a:r>
              <a:rPr lang="en-US" sz="4000" dirty="0"/>
              <a:t>T</a:t>
            </a:r>
            <a:r>
              <a:rPr lang="en-US" sz="4000" baseline="-25000" dirty="0"/>
              <a:t>2</a:t>
            </a:r>
            <a:r>
              <a:rPr lang="en-US" sz="4000" dirty="0"/>
              <a:t>, T</a:t>
            </a:r>
            <a:r>
              <a:rPr lang="en-US" sz="4000" baseline="-25000" dirty="0"/>
              <a:t>2</a:t>
            </a:r>
            <a:r>
              <a:rPr lang="en-US" sz="4000" dirty="0">
                <a:sym typeface="Wingdings" panose="05000000000000000000" pitchFamily="2" charset="2"/>
              </a:rPr>
              <a:t></a:t>
            </a:r>
            <a:r>
              <a:rPr lang="en-US" sz="4000" dirty="0"/>
              <a:t>T</a:t>
            </a:r>
            <a:r>
              <a:rPr lang="en-US" sz="4000" baseline="-25000" dirty="0"/>
              <a:t>1</a:t>
            </a:r>
            <a:r>
              <a:rPr lang="en-US" sz="4000" dirty="0"/>
              <a:t>, T</a:t>
            </a:r>
            <a:r>
              <a:rPr lang="en-US" sz="4000" baseline="-25000" dirty="0"/>
              <a:t>2</a:t>
            </a:r>
            <a:r>
              <a:rPr lang="en-US" sz="4000" dirty="0">
                <a:sym typeface="Wingdings" panose="05000000000000000000" pitchFamily="2" charset="2"/>
              </a:rPr>
              <a:t></a:t>
            </a:r>
            <a:r>
              <a:rPr lang="en-US" sz="4000" dirty="0"/>
              <a:t>T</a:t>
            </a:r>
            <a:r>
              <a:rPr lang="en-US" sz="4000" baseline="-25000" dirty="0"/>
              <a:t>3</a:t>
            </a:r>
            <a:r>
              <a:rPr lang="en-US" sz="4000" dirty="0"/>
              <a:t>, T</a:t>
            </a:r>
            <a:r>
              <a:rPr lang="en-US" sz="4000" baseline="-25000" dirty="0"/>
              <a:t>3</a:t>
            </a:r>
            <a:r>
              <a:rPr lang="en-US" sz="4000" dirty="0">
                <a:sym typeface="Wingdings" panose="05000000000000000000" pitchFamily="2" charset="2"/>
              </a:rPr>
              <a:t></a:t>
            </a:r>
            <a:r>
              <a:rPr lang="en-US" sz="4000" dirty="0"/>
              <a:t>T</a:t>
            </a:r>
            <a:r>
              <a:rPr lang="en-US" sz="4000" baseline="-25000" dirty="0"/>
              <a:t>2</a:t>
            </a:r>
            <a:r>
              <a:rPr lang="en-US" sz="4000" dirty="0"/>
              <a:t>, T</a:t>
            </a:r>
            <a:r>
              <a:rPr lang="en-US" sz="4000" baseline="-25000" dirty="0"/>
              <a:t>1</a:t>
            </a:r>
            <a:r>
              <a:rPr lang="en-US" sz="4000" dirty="0">
                <a:sym typeface="Wingdings" panose="05000000000000000000" pitchFamily="2" charset="2"/>
              </a:rPr>
              <a:t></a:t>
            </a:r>
            <a:r>
              <a:rPr lang="en-US" sz="4000" dirty="0"/>
              <a:t>T</a:t>
            </a:r>
            <a:r>
              <a:rPr lang="en-US" sz="4000" baseline="-25000" dirty="0"/>
              <a:t>3</a:t>
            </a:r>
            <a:r>
              <a:rPr lang="en-US" sz="4000" dirty="0"/>
              <a:t>, and T</a:t>
            </a:r>
            <a:r>
              <a:rPr lang="en-US" sz="4000" baseline="-25000" dirty="0"/>
              <a:t>3</a:t>
            </a:r>
            <a:r>
              <a:rPr lang="en-US" sz="4000" dirty="0">
                <a:sym typeface="Wingdings" panose="05000000000000000000" pitchFamily="2" charset="2"/>
              </a:rPr>
              <a:t></a:t>
            </a:r>
            <a:r>
              <a:rPr lang="en-US" sz="4000" dirty="0"/>
              <a:t>T</a:t>
            </a:r>
            <a:r>
              <a:rPr lang="en-US" sz="4000" baseline="-25000" dirty="0"/>
              <a:t>1</a:t>
            </a:r>
            <a:r>
              <a:rPr lang="en-US" sz="4000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08027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05D-8223-45F3-9EF9-6AC4CAAC9684}" type="datetime1">
              <a:rPr lang="en-US" smtClean="0"/>
              <a:t>11/11/23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37</a:t>
            </a:fld>
            <a:endParaRPr lang="en-US"/>
          </a:p>
        </p:txBody>
      </p:sp>
      <p:pic>
        <p:nvPicPr>
          <p:cNvPr id="10" name="Content Placeholder 1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0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12301</TotalTime>
  <Words>3696</Words>
  <Application>Microsoft Macintosh PowerPoint</Application>
  <PresentationFormat>Widescreen</PresentationFormat>
  <Paragraphs>436</Paragraphs>
  <Slides>37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Book Antiqua</vt:lpstr>
      <vt:lpstr>Calibri</vt:lpstr>
      <vt:lpstr>Calibri Light</vt:lpstr>
      <vt:lpstr>Century Schoolbook</vt:lpstr>
      <vt:lpstr>Courier New</vt:lpstr>
      <vt:lpstr>Times New Roman</vt:lpstr>
      <vt:lpstr>TimesNewRomanPSMT</vt:lpstr>
      <vt:lpstr>Wingdings</vt:lpstr>
      <vt:lpstr>Office Theme</vt:lpstr>
      <vt:lpstr>Advanced Database Systems</vt:lpstr>
      <vt:lpstr>What is a transaction? </vt:lpstr>
      <vt:lpstr>…Con’t</vt:lpstr>
      <vt:lpstr>Transaction Processing System </vt:lpstr>
      <vt:lpstr>…con’t</vt:lpstr>
      <vt:lpstr>…con’t</vt:lpstr>
      <vt:lpstr>…con’t</vt:lpstr>
      <vt:lpstr>Properties of Transaction</vt:lpstr>
      <vt:lpstr>Atomicity</vt:lpstr>
      <vt:lpstr>Consistency  </vt:lpstr>
      <vt:lpstr>Durability </vt:lpstr>
      <vt:lpstr>Transaction Support </vt:lpstr>
      <vt:lpstr>Transaction Support  …con’t</vt:lpstr>
      <vt:lpstr>…con’t</vt:lpstr>
      <vt:lpstr> Transaction and System Concepts</vt:lpstr>
      <vt:lpstr>Transaction and System Concepts (cont’d.)</vt:lpstr>
      <vt:lpstr>State of a Transaction </vt:lpstr>
      <vt:lpstr>Ways of Transaction Execution </vt:lpstr>
      <vt:lpstr>...con’t</vt:lpstr>
      <vt:lpstr>…con’t</vt:lpstr>
      <vt:lpstr>…con’t</vt:lpstr>
      <vt:lpstr>…con’t</vt:lpstr>
      <vt:lpstr>Problems Associated with Concurrent Transaction Processing </vt:lpstr>
      <vt:lpstr>Lost Update Problem </vt:lpstr>
      <vt:lpstr>…con’t</vt:lpstr>
      <vt:lpstr>Uncommitted Dependency Problem </vt:lpstr>
      <vt:lpstr>Inconsistent Analysis Problem </vt:lpstr>
      <vt:lpstr>Serializability</vt:lpstr>
      <vt:lpstr>…con’t</vt:lpstr>
      <vt:lpstr>Serialization </vt:lpstr>
      <vt:lpstr>Test for Serializability </vt:lpstr>
      <vt:lpstr>The rules of precedence graph: </vt:lpstr>
      <vt:lpstr>PowerPoint Presentation</vt:lpstr>
      <vt:lpstr>Characterizing Schedules Based on Serializability</vt:lpstr>
      <vt:lpstr>Characterizing Schedules Based on Serializability (cont’d.)</vt:lpstr>
      <vt:lpstr>Exercise 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of Database System</dc:title>
  <dc:creator>Sirage Ahmed</dc:creator>
  <cp:lastModifiedBy>Sirage Ahmed</cp:lastModifiedBy>
  <cp:revision>300</cp:revision>
  <dcterms:created xsi:type="dcterms:W3CDTF">2016-02-19T04:19:28Z</dcterms:created>
  <dcterms:modified xsi:type="dcterms:W3CDTF">2023-11-11T06:13:15Z</dcterms:modified>
</cp:coreProperties>
</file>