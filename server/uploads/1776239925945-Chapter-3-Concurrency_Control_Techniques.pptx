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4"/>
  </p:notesMasterIdLst>
  <p:handoutMasterIdLst>
    <p:handoutMasterId r:id="rId35"/>
  </p:handoutMasterIdLst>
  <p:sldIdLst>
    <p:sldId id="256" r:id="rId2"/>
    <p:sldId id="323" r:id="rId3"/>
    <p:sldId id="324" r:id="rId4"/>
    <p:sldId id="325" r:id="rId5"/>
    <p:sldId id="326" r:id="rId6"/>
    <p:sldId id="327" r:id="rId7"/>
    <p:sldId id="328" r:id="rId8"/>
    <p:sldId id="329" r:id="rId9"/>
    <p:sldId id="330" r:id="rId10"/>
    <p:sldId id="331" r:id="rId11"/>
    <p:sldId id="332" r:id="rId12"/>
    <p:sldId id="352" r:id="rId13"/>
    <p:sldId id="350" r:id="rId14"/>
    <p:sldId id="351" r:id="rId15"/>
    <p:sldId id="334" r:id="rId16"/>
    <p:sldId id="335" r:id="rId17"/>
    <p:sldId id="336" r:id="rId18"/>
    <p:sldId id="337" r:id="rId19"/>
    <p:sldId id="338" r:id="rId20"/>
    <p:sldId id="339" r:id="rId21"/>
    <p:sldId id="340" r:id="rId22"/>
    <p:sldId id="341" r:id="rId23"/>
    <p:sldId id="353" r:id="rId24"/>
    <p:sldId id="342" r:id="rId25"/>
    <p:sldId id="343" r:id="rId26"/>
    <p:sldId id="344" r:id="rId27"/>
    <p:sldId id="345" r:id="rId28"/>
    <p:sldId id="346" r:id="rId29"/>
    <p:sldId id="347" r:id="rId30"/>
    <p:sldId id="348" r:id="rId31"/>
    <p:sldId id="349" r:id="rId32"/>
    <p:sldId id="320" r:id="rId3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88386" autoAdjust="0"/>
  </p:normalViewPr>
  <p:slideViewPr>
    <p:cSldViewPr>
      <p:cViewPr varScale="1">
        <p:scale>
          <a:sx n="75" d="100"/>
          <a:sy n="75" d="100"/>
        </p:scale>
        <p:origin x="12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047DC57-3A9A-43C8-BCD8-E21D228709B1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054A49-6FFB-4FFD-95AE-FCC3498B17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75959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3CAAC6-8130-4E09-AB9C-3CCA30E3C854}" type="datetimeFigureOut">
              <a:rPr lang="en-US" smtClean="0"/>
              <a:t>11/24/2024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CD4775-F372-411F-9B54-3480B23057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921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3" name="Rounded Rectangle 12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95400" y="3200400"/>
            <a:ext cx="6400800" cy="1600200"/>
          </a:xfrm>
        </p:spPr>
        <p:txBody>
          <a:bodyPr/>
          <a:lstStyle>
            <a:lvl1pPr marL="0" indent="0" algn="ctr">
              <a:buNone/>
              <a:defRPr sz="260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BFF7D-1284-499C-B66D-5F0478526F04}" type="datetime1">
              <a:rPr lang="en-US" smtClean="0"/>
              <a:t>11/24/2024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/>
        <p:txBody>
          <a:bodyPr lIns="0" tIns="0" rIns="0" bIns="0">
            <a:noAutofit/>
          </a:bodyPr>
          <a:lstStyle>
            <a:lvl1pPr>
              <a:defRPr sz="1400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62931" y="1449303"/>
            <a:ext cx="9021537" cy="1527349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62931" y="1396720"/>
            <a:ext cx="9021537" cy="120580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62931" y="2976649"/>
            <a:ext cx="9021537" cy="110532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57200" y="1505930"/>
            <a:ext cx="8229600" cy="1470025"/>
          </a:xfrm>
        </p:spPr>
        <p:txBody>
          <a:bodyPr anchor="ctr"/>
          <a:lstStyle>
            <a:lvl1pPr algn="ctr">
              <a:defRPr lang="en-US" dirty="0">
                <a:solidFill>
                  <a:srgbClr val="FFFFFF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4638"/>
            <a:ext cx="8534400" cy="1143000"/>
          </a:xfrm>
          <a:solidFill>
            <a:schemeClr val="accent1"/>
          </a:solidFill>
          <a:ln w="19050">
            <a:solidFill>
              <a:srgbClr val="0070C0"/>
            </a:solidFill>
          </a:ln>
          <a:effectLst>
            <a:innerShdw blurRad="63500" dist="50800" dir="16200000">
              <a:prstClr val="black">
                <a:alpha val="50000"/>
              </a:prstClr>
            </a:inn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txBody>
          <a:bodyPr/>
          <a:lstStyle>
            <a:lvl1pPr algn="ctr">
              <a:defRPr b="1" cap="none" spc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r>
              <a:rPr kumimoji="0"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423EEF-B96B-48E3-B005-D2FB77D3F06D}" type="datetime1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419600" cy="457200"/>
          </a:xfrm>
        </p:spPr>
        <p:txBody>
          <a:bodyPr/>
          <a:lstStyle>
            <a:lvl1pPr>
              <a:defRPr sz="1400"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77724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push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10" name="Rounded Rectangle 9"/>
          <p:cNvSpPr/>
          <p:nvPr/>
        </p:nvSpPr>
        <p:spPr>
          <a:xfrm>
            <a:off x="65313" y="69755"/>
            <a:ext cx="9013372" cy="6692201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3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952500"/>
            <a:ext cx="77724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547938"/>
            <a:ext cx="77724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4F027-10E6-428A-AAB2-B8944512DE59}" type="datetime1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00100" y="6172200"/>
            <a:ext cx="45339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 flipV="1">
            <a:off x="69412" y="2376830"/>
            <a:ext cx="9013515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69146" y="2341475"/>
            <a:ext cx="9013781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>
          <a:xfrm>
            <a:off x="68306" y="2468880"/>
            <a:ext cx="9014621" cy="45720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push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3763B9-C879-47C5-AA4D-0FD84AD89DD5}" type="datetime1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4196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91440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933950" y="1447800"/>
            <a:ext cx="374904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push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953000" y="1447800"/>
            <a:ext cx="3733800" cy="762000"/>
          </a:xfrm>
          <a:noFill/>
          <a:ln w="12700" cap="sq" cmpd="sng" algn="ctr">
            <a:noFill/>
            <a:prstDash val="solid"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E85CCD-D51B-47B8-9671-EEBFE7D6D40D}" type="datetime1">
              <a:rPr lang="en-US" smtClean="0"/>
              <a:t>11/24/2024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2"/>
          </p:nvPr>
        </p:nvSpPr>
        <p:spPr>
          <a:xfrm>
            <a:off x="9144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4"/>
          </p:nvPr>
        </p:nvSpPr>
        <p:spPr>
          <a:xfrm>
            <a:off x="4953000" y="2247900"/>
            <a:ext cx="3733800" cy="38862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push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A50F4-5656-48C9-BB3F-4E346837DFD6}" type="datetime1">
              <a:rPr lang="en-US" smtClean="0"/>
              <a:t>11/24/2024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0F90D-179F-4878-A533-DDF464DC557C}" type="datetime1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73050"/>
            <a:ext cx="7772400" cy="1143000"/>
          </a:xfrm>
        </p:spPr>
        <p:txBody>
          <a:bodyPr anchor="b" anchorCtr="0"/>
          <a:lstStyle>
            <a:lvl1pPr algn="l">
              <a:buNone/>
              <a:defRPr sz="40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914400" y="1600200"/>
            <a:ext cx="1905000" cy="4495800"/>
          </a:xfrm>
        </p:spPr>
        <p:txBody>
          <a:bodyPr/>
          <a:lstStyle>
            <a:lvl1pPr marL="0" indent="0"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A6D09-D28A-4A3F-A296-18EDF5A9558E}" type="datetime1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"/>
          </p:nvPr>
        </p:nvSpPr>
        <p:spPr>
          <a:xfrm>
            <a:off x="2971800" y="1600200"/>
            <a:ext cx="5715000" cy="44958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  <p:transition spd="slow">
    <p:push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900550"/>
            <a:ext cx="7315200" cy="522288"/>
          </a:xfrm>
        </p:spPr>
        <p:txBody>
          <a:bodyPr anchor="ctr">
            <a:noAutofit/>
          </a:bodyPr>
          <a:lstStyle>
            <a:lvl1pPr algn="l">
              <a:buNone/>
              <a:defRPr sz="2800" b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5445825"/>
            <a:ext cx="7315200" cy="685800"/>
          </a:xfrm>
        </p:spPr>
        <p:txBody>
          <a:bodyPr/>
          <a:lstStyle>
            <a:lvl1pPr marL="0" indent="0">
              <a:buFontTx/>
              <a:buNone/>
              <a:defRPr sz="16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EE8983-7B69-488E-A563-CA30CC67C0A7}" type="datetime1">
              <a:rPr lang="en-US" smtClean="0"/>
              <a:t>11/24/2024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914400" y="6172200"/>
            <a:ext cx="4343400" cy="457200"/>
          </a:xfrm>
        </p:spPr>
        <p:txBody>
          <a:bodyPr/>
          <a:lstStyle>
            <a:lvl1pPr>
              <a:defRPr>
                <a:solidFill>
                  <a:schemeClr val="accent2">
                    <a:lumMod val="60000"/>
                    <a:lumOff val="40000"/>
                  </a:schemeClr>
                </a:solidFill>
              </a:defRPr>
            </a:lvl1pPr>
          </a:lstStyle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46304" y="6208776"/>
            <a:ext cx="457200" cy="45720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 flipV="1">
            <a:off x="68307" y="4683555"/>
            <a:ext cx="9006840" cy="9144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>
          <a:xfrm>
            <a:off x="68508" y="4650474"/>
            <a:ext cx="9006639" cy="45719"/>
          </a:xfrm>
          <a:prstGeom prst="rect">
            <a:avLst/>
          </a:prstGeom>
          <a:solidFill>
            <a:schemeClr val="accent1">
              <a:tint val="60000"/>
            </a:schemeClr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68510" y="4773224"/>
            <a:ext cx="9006637" cy="48807"/>
          </a:xfrm>
          <a:prstGeom prst="rect">
            <a:avLst/>
          </a:prstGeom>
          <a:solidFill>
            <a:schemeClr val="accent5"/>
          </a:solidFill>
          <a:ln w="19050" cap="sq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308" y="66675"/>
            <a:ext cx="9001873" cy="4581525"/>
          </a:xfrm>
          <a:prstGeom prst="round2SameRect">
            <a:avLst>
              <a:gd name="adj1" fmla="val 7101"/>
              <a:gd name="adj2" fmla="val 0"/>
            </a:avLst>
          </a:prstGeom>
          <a:solidFill>
            <a:schemeClr val="bg2"/>
          </a:solidFill>
          <a:ln w="6350">
            <a:solidFill>
              <a:schemeClr val="tx1"/>
            </a:solidFill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</p:spTree>
  </p:cSld>
  <p:clrMapOvr>
    <a:masterClrMapping/>
  </p:clrMapOvr>
  <p:transition spd="slow">
    <p:push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6936EF-1333-4EFC-AE36-56589C74E3A3}" type="datetime1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1"/>
            <a:ext cx="201168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4400" y="274640"/>
            <a:ext cx="55626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AF831-A96E-41D4-9123-4CBA3061C460}" type="datetime1">
              <a:rPr lang="en-US" smtClean="0"/>
              <a:t>11/24/2024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Transactions processing and concurrency Management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slow">
    <p:push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 w="1270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64008" y="69755"/>
            <a:ext cx="9013372" cy="6693408"/>
          </a:xfrm>
          <a:prstGeom prst="roundRect">
            <a:avLst>
              <a:gd name="adj" fmla="val 4929"/>
            </a:avLst>
          </a:prstGeom>
          <a:ln w="6350" cap="sq" cmpd="sng" algn="ctr">
            <a:solidFill>
              <a:schemeClr val="tx1"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001">
            <a:schemeClr val="l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914400" y="274638"/>
            <a:ext cx="7772400" cy="1143000"/>
          </a:xfrm>
          <a:prstGeom prst="rect">
            <a:avLst/>
          </a:prstGeom>
        </p:spPr>
        <p:txBody>
          <a:bodyPr bIns="91440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914400" y="1447800"/>
            <a:ext cx="7772400" cy="4572000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172200" y="6191250"/>
            <a:ext cx="2476500" cy="476250"/>
          </a:xfrm>
          <a:prstGeom prst="rect">
            <a:avLst/>
          </a:prstGeom>
        </p:spPr>
        <p:txBody>
          <a:bodyPr anchor="ctr" anchorCtr="0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A95ED63C-FB00-4D26-AFEE-E859A0B8F0A9}" type="datetime1">
              <a:rPr lang="en-US" smtClean="0"/>
              <a:t>11/24/2024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914400" y="6172200"/>
            <a:ext cx="3962400" cy="457200"/>
          </a:xfrm>
          <a:prstGeom prst="rect">
            <a:avLst/>
          </a:prstGeom>
        </p:spPr>
        <p:txBody>
          <a:bodyPr anchor="ctr" anchorCtr="0"/>
          <a:lstStyle>
            <a:lvl1pPr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Transactions processing and concurrency Management</a:t>
            </a:r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146304" y="6210300"/>
            <a:ext cx="457200" cy="457200"/>
          </a:xfrm>
          <a:prstGeom prst="ellipse">
            <a:avLst/>
          </a:prstGeom>
          <a:solidFill>
            <a:schemeClr val="accent1"/>
          </a:solidFill>
        </p:spPr>
        <p:txBody>
          <a:bodyPr wrap="none" lIns="0" tIns="0" rIns="0" bIns="0" anchor="ctr" anchorCtr="1">
            <a:noAutofit/>
          </a:bodyPr>
          <a:lstStyle>
            <a:lvl1pPr algn="ctr" eaLnBrk="1" latinLnBrk="0" hangingPunct="1">
              <a:defRPr kumimoji="0" sz="14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 spd="slow">
    <p:push/>
  </p:transition>
  <p:hf hdr="0" dt="0"/>
  <p:txStyles>
    <p:titleStyle>
      <a:lvl1pPr algn="l" rtl="0" eaLnBrk="1" latinLnBrk="0" hangingPunct="1">
        <a:spcBef>
          <a:spcPct val="0"/>
        </a:spcBef>
        <a:buNone/>
        <a:defRPr kumimoji="0" sz="40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580"/>
        </a:spcBef>
        <a:buClr>
          <a:schemeClr val="accent1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28600" algn="l" rtl="0" eaLnBrk="1" latinLnBrk="0" hangingPunct="1">
        <a:spcBef>
          <a:spcPts val="370"/>
        </a:spcBef>
        <a:buClr>
          <a:schemeClr val="accent2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SzPct val="8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370"/>
        </a:spcBef>
        <a:buClr>
          <a:schemeClr val="accent3"/>
        </a:buClr>
        <a:buSzPct val="80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70"/>
        </a:spcBef>
        <a:buClr>
          <a:schemeClr val="accent3"/>
        </a:buClr>
        <a:buFontTx/>
        <a:buChar char="o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228600" algn="l" rtl="0" eaLnBrk="1" latinLnBrk="0" hangingPunct="1">
        <a:spcBef>
          <a:spcPts val="370"/>
        </a:spcBef>
        <a:buClr>
          <a:schemeClr val="accent3"/>
        </a:buClr>
        <a:buChar char="•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228600" algn="l" rtl="0" eaLnBrk="1" latinLnBrk="0" hangingPunct="1">
        <a:spcBef>
          <a:spcPts val="370"/>
        </a:spcBef>
        <a:buClr>
          <a:schemeClr val="accent2"/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228600" algn="l" rtl="0" eaLnBrk="1" latinLnBrk="0" hangingPunct="1">
        <a:spcBef>
          <a:spcPts val="370"/>
        </a:spcBef>
        <a:buClr>
          <a:schemeClr val="accent1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228600" algn="l" rtl="0" eaLnBrk="1" latinLnBrk="0" hangingPunct="1">
        <a:spcBef>
          <a:spcPts val="370"/>
        </a:spcBef>
        <a:buClr>
          <a:schemeClr val="accent2">
            <a:tint val="60000"/>
          </a:schemeClr>
        </a:buClr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3200400"/>
            <a:ext cx="8382000" cy="2743200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  <a:defRPr/>
            </a:pPr>
            <a:r>
              <a:rPr lang="en-US" sz="6000" dirty="0">
                <a:latin typeface="Georgia" panose="02040502050405020303" pitchFamily="18" charset="0"/>
              </a:rPr>
              <a:t>Concurrency </a:t>
            </a:r>
            <a:r>
              <a:rPr lang="en-US" sz="6000">
                <a:latin typeface="Georgia" panose="02040502050405020303" pitchFamily="18" charset="0"/>
              </a:rPr>
              <a:t>Control </a:t>
            </a:r>
            <a:r>
              <a:rPr lang="en-US" sz="6000" smtClean="0">
                <a:latin typeface="Georgia" panose="02040502050405020303" pitchFamily="18" charset="0"/>
              </a:rPr>
              <a:t>Techniques</a:t>
            </a:r>
            <a:endParaRPr lang="en-US" sz="6000" dirty="0">
              <a:latin typeface="Georgia" panose="02040502050405020303" pitchFamily="18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900" b="1"/>
              <a:t>Chapter </a:t>
            </a:r>
            <a:r>
              <a:rPr lang="en-US" sz="5900" b="1"/>
              <a:t>3</a:t>
            </a:r>
            <a:r>
              <a:rPr lang="en-US" sz="5900" b="1" smtClean="0"/>
              <a:t> </a:t>
            </a:r>
            <a:endParaRPr lang="en-US" sz="5900" b="1" dirty="0"/>
          </a:p>
        </p:txBody>
      </p:sp>
    </p:spTree>
    <p:extLst>
      <p:ext uri="{BB962C8B-B14F-4D97-AF65-F5344CB8AC3E}">
        <p14:creationId xmlns:p14="http://schemas.microsoft.com/office/powerpoint/2010/main" val="374193710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dirty="0"/>
              <a:t>Concurrency Control</a:t>
            </a:r>
          </a:p>
        </p:txBody>
      </p:sp>
      <p:sp>
        <p:nvSpPr>
          <p:cNvPr id="1126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17638"/>
            <a:ext cx="8229600" cy="5056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is the process of managing simultaneous operations on the database without having them interfere with one another. </a:t>
            </a:r>
          </a:p>
          <a:p>
            <a:r>
              <a:rPr lang="en-US" dirty="0"/>
              <a:t>Prevents interference when two or more users are accessing database simultaneously and at least one is updating data. </a:t>
            </a:r>
          </a:p>
          <a:p>
            <a:r>
              <a:rPr lang="en-US" dirty="0"/>
              <a:t>Although two transactions may be correct in themselves, interleaving of operations may produce an </a:t>
            </a:r>
            <a:r>
              <a:rPr lang="en-US" b="1" dirty="0"/>
              <a:t>incorrect result</a:t>
            </a:r>
            <a:r>
              <a:rPr lang="en-US" dirty="0"/>
              <a:t>. </a:t>
            </a:r>
          </a:p>
          <a:p>
            <a:r>
              <a:rPr lang="en-US" dirty="0"/>
              <a:t>Three basic concurrency control techniques: </a:t>
            </a:r>
          </a:p>
          <a:p>
            <a:pPr lvl="1"/>
            <a:r>
              <a:rPr lang="en-US" b="1" dirty="0"/>
              <a:t>Locking methods </a:t>
            </a:r>
            <a:endParaRPr lang="en-US" dirty="0"/>
          </a:p>
          <a:p>
            <a:pPr lvl="1"/>
            <a:r>
              <a:rPr lang="en-US" b="1" dirty="0"/>
              <a:t>Time stamping </a:t>
            </a:r>
            <a:endParaRPr lang="en-US" dirty="0"/>
          </a:p>
          <a:p>
            <a:pPr lvl="1"/>
            <a:r>
              <a:rPr lang="en-US" b="1" dirty="0"/>
              <a:t>Optimistic </a:t>
            </a:r>
            <a:endParaRPr lang="en-US" dirty="0"/>
          </a:p>
          <a:p>
            <a:endParaRPr lang="en-US" dirty="0"/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6630D9B-928C-4748-BE9B-1D07F6C83484}" type="slidenum">
              <a:rPr lang="en-US" smtClean="0">
                <a:solidFill>
                  <a:srgbClr val="FFFFFF"/>
                </a:solidFill>
              </a:rPr>
              <a:pPr/>
              <a:t>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0565885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192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229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153400" cy="4873625"/>
          </a:xfrm>
        </p:spPr>
        <p:txBody>
          <a:bodyPr/>
          <a:lstStyle/>
          <a:p>
            <a:r>
              <a:rPr lang="en-US" b="1" dirty="0"/>
              <a:t>Locking</a:t>
            </a:r>
            <a:r>
              <a:rPr lang="en-US" dirty="0"/>
              <a:t> and </a:t>
            </a:r>
            <a:r>
              <a:rPr lang="en-US" b="1" dirty="0"/>
              <a:t>Time stamping </a:t>
            </a:r>
            <a:r>
              <a:rPr lang="en-US" dirty="0"/>
              <a:t>are pessimistic approaches since they delay transactions.  </a:t>
            </a:r>
          </a:p>
          <a:p>
            <a:r>
              <a:rPr lang="en-US" dirty="0"/>
              <a:t>Both Locking and Time stamping are conservative approaches: </a:t>
            </a:r>
          </a:p>
          <a:p>
            <a:pPr lvl="1"/>
            <a:r>
              <a:rPr lang="en-US" dirty="0"/>
              <a:t>delay transactions in case they conflict with other transactions. </a:t>
            </a:r>
          </a:p>
          <a:p>
            <a:r>
              <a:rPr lang="en-US" dirty="0"/>
              <a:t>The optimistic approach allows us to proceed and check conflicts at the end. </a:t>
            </a:r>
          </a:p>
          <a:p>
            <a:r>
              <a:rPr lang="en-US" dirty="0"/>
              <a:t>Optimistic methods assume conflict is </a:t>
            </a:r>
            <a:r>
              <a:rPr lang="en-US" b="1" i="1" dirty="0"/>
              <a:t>rare </a:t>
            </a:r>
            <a:r>
              <a:rPr lang="en-US" dirty="0"/>
              <a:t>and only check for conflicts at commit. </a:t>
            </a:r>
          </a:p>
          <a:p>
            <a:endParaRPr lang="en-US" dirty="0"/>
          </a:p>
        </p:txBody>
      </p:sp>
      <p:sp>
        <p:nvSpPr>
          <p:cNvPr id="1229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D3C37C5-7F9A-453D-9E0C-5D7CD8E441BA}" type="slidenum">
              <a:rPr lang="en-US" smtClean="0">
                <a:solidFill>
                  <a:srgbClr val="FFFFFF"/>
                </a:solidFill>
              </a:rPr>
              <a:pPr/>
              <a:t>3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655477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b="1" dirty="0"/>
              <a:t>Locking Method </a:t>
            </a:r>
            <a:endParaRPr lang="en-US" dirty="0"/>
          </a:p>
        </p:txBody>
      </p:sp>
      <p:sp>
        <p:nvSpPr>
          <p:cNvPr id="13315" name="Content Placeholder 2"/>
          <p:cNvSpPr>
            <a:spLocks noGrp="1"/>
          </p:cNvSpPr>
          <p:nvPr>
            <p:ph sz="quarter" idx="1"/>
          </p:nvPr>
        </p:nvSpPr>
        <p:spPr>
          <a:xfrm>
            <a:off x="685800" y="1484312"/>
            <a:ext cx="8229600" cy="4949825"/>
          </a:xfrm>
        </p:spPr>
        <p:txBody>
          <a:bodyPr>
            <a:noAutofit/>
          </a:bodyPr>
          <a:lstStyle/>
          <a:p>
            <a:r>
              <a:rPr lang="en-US" sz="2200" dirty="0"/>
              <a:t>The locking method is a mechanism for preventing simultaneous access on a shared resource for a critical operation </a:t>
            </a:r>
          </a:p>
          <a:p>
            <a:r>
              <a:rPr lang="en-US" sz="2200" dirty="0"/>
              <a:t>A </a:t>
            </a:r>
            <a:r>
              <a:rPr lang="en-US" sz="2200" b="1" dirty="0"/>
              <a:t>LOCK</a:t>
            </a:r>
            <a:r>
              <a:rPr lang="en-US" sz="2200" dirty="0"/>
              <a:t> is a mechanism for enforcing limits on access to a resource in an environment where there are many threads of execution. </a:t>
            </a:r>
          </a:p>
          <a:p>
            <a:r>
              <a:rPr lang="en-US" sz="2200" dirty="0"/>
              <a:t>Locks are one way of enforcing concurrency control policies.</a:t>
            </a:r>
          </a:p>
          <a:p>
            <a:r>
              <a:rPr lang="en-US" sz="2200" dirty="0"/>
              <a:t>Transaction uses locks to deny access to other transactions and  prevent </a:t>
            </a:r>
            <a:r>
              <a:rPr lang="en-US" sz="2200" b="1" dirty="0"/>
              <a:t>incorrect</a:t>
            </a:r>
            <a:r>
              <a:rPr lang="en-US" sz="2200" dirty="0"/>
              <a:t> updates. </a:t>
            </a:r>
          </a:p>
          <a:p>
            <a:r>
              <a:rPr lang="en-US" sz="2200" dirty="0"/>
              <a:t>Lock prevents another transaction from modifying item or even reading it, in the case of a write lock. </a:t>
            </a:r>
          </a:p>
          <a:p>
            <a:r>
              <a:rPr lang="en-US" sz="2200" b="1" dirty="0"/>
              <a:t>Lock (X): </a:t>
            </a:r>
            <a:r>
              <a:rPr lang="en-US" sz="2200" dirty="0"/>
              <a:t>If a transaction T</a:t>
            </a:r>
            <a:r>
              <a:rPr lang="en-US" sz="2200" baseline="-25000" dirty="0"/>
              <a:t>1</a:t>
            </a:r>
            <a:r>
              <a:rPr lang="en-US" sz="2200" dirty="0"/>
              <a:t> applies Lock on data item X, then X is locked and it is not available to any other transaction. </a:t>
            </a:r>
          </a:p>
          <a:p>
            <a:r>
              <a:rPr lang="en-US" sz="2200" b="1" dirty="0"/>
              <a:t>Unlock (X): </a:t>
            </a:r>
            <a:r>
              <a:rPr lang="en-US" sz="2200" dirty="0"/>
              <a:t>T</a:t>
            </a:r>
            <a:r>
              <a:rPr lang="en-US" sz="2200" baseline="-25000" dirty="0"/>
              <a:t>1</a:t>
            </a:r>
            <a:r>
              <a:rPr lang="en-US" sz="2200" dirty="0"/>
              <a:t> Unlocks X. X is available to other transactions. </a:t>
            </a:r>
          </a:p>
          <a:p>
            <a:endParaRPr lang="en-US" sz="2200" dirty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818D6B7-5B99-45F1-8C74-A0C7495A3BEA}" type="slidenum">
              <a:rPr lang="en-US" smtClean="0">
                <a:solidFill>
                  <a:srgbClr val="FFFFFF"/>
                </a:solidFill>
              </a:rPr>
              <a:pPr/>
              <a:t>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138059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b="1" dirty="0"/>
              <a:t>Types of a Lock </a:t>
            </a:r>
            <a:endParaRPr lang="en-US" dirty="0"/>
          </a:p>
        </p:txBody>
      </p:sp>
      <p:sp>
        <p:nvSpPr>
          <p:cNvPr id="14339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524000"/>
            <a:ext cx="8001000" cy="4949825"/>
          </a:xfrm>
        </p:spPr>
        <p:txBody>
          <a:bodyPr>
            <a:normAutofit fontScale="92500" lnSpcReduction="10000"/>
          </a:bodyPr>
          <a:lstStyle/>
          <a:p>
            <a:r>
              <a:rPr lang="en-US" b="1" i="1" dirty="0"/>
              <a:t>Shared lock</a:t>
            </a:r>
            <a:r>
              <a:rPr lang="en-US" i="1" dirty="0"/>
              <a:t>:</a:t>
            </a:r>
            <a:r>
              <a:rPr lang="en-US" dirty="0"/>
              <a:t> A Read operation does not change the value of a data item.</a:t>
            </a:r>
          </a:p>
          <a:p>
            <a:pPr lvl="1"/>
            <a:r>
              <a:rPr lang="en-US" dirty="0"/>
              <a:t>Hence a data item can be read by two different transactions simultaneously under share lock mode. </a:t>
            </a:r>
          </a:p>
          <a:p>
            <a:pPr lvl="1"/>
            <a:r>
              <a:rPr lang="en-US" dirty="0"/>
              <a:t>So only to read a data item T</a:t>
            </a:r>
            <a:r>
              <a:rPr lang="en-US" baseline="-25000" dirty="0"/>
              <a:t>1</a:t>
            </a:r>
            <a:r>
              <a:rPr lang="en-US" dirty="0"/>
              <a:t> will do: </a:t>
            </a:r>
          </a:p>
          <a:p>
            <a:pPr lvl="1"/>
            <a:r>
              <a:rPr lang="en-US" i="1" dirty="0"/>
              <a:t>Share lock (X), then Read (X), and finally Unlock (X). </a:t>
            </a:r>
            <a:endParaRPr lang="en-US" dirty="0"/>
          </a:p>
          <a:p>
            <a:r>
              <a:rPr lang="en-US" b="1" i="1" dirty="0"/>
              <a:t>Exclusive lock:</a:t>
            </a:r>
            <a:r>
              <a:rPr lang="en-US" b="1" dirty="0"/>
              <a:t> </a:t>
            </a:r>
            <a:r>
              <a:rPr lang="en-US" dirty="0"/>
              <a:t>A write operation changes the value of the data item. </a:t>
            </a:r>
          </a:p>
          <a:p>
            <a:pPr lvl="1"/>
            <a:r>
              <a:rPr lang="en-US" dirty="0"/>
              <a:t>Hence two write operations from two different transactions or a write from T</a:t>
            </a:r>
            <a:r>
              <a:rPr lang="en-US" baseline="-25000" dirty="0"/>
              <a:t>1</a:t>
            </a:r>
            <a:r>
              <a:rPr lang="en-US" dirty="0"/>
              <a:t> and a read from T</a:t>
            </a:r>
            <a:r>
              <a:rPr lang="en-US" baseline="-25000" dirty="0"/>
              <a:t>2</a:t>
            </a:r>
            <a:r>
              <a:rPr lang="en-US" dirty="0"/>
              <a:t> are not allowed. </a:t>
            </a:r>
          </a:p>
          <a:p>
            <a:pPr lvl="1"/>
            <a:r>
              <a:rPr lang="en-US" dirty="0"/>
              <a:t>A data item can be modified only under Exclusive lock.</a:t>
            </a:r>
          </a:p>
          <a:p>
            <a:pPr lvl="1"/>
            <a:r>
              <a:rPr lang="en-US" dirty="0"/>
              <a:t>To modify a data item T</a:t>
            </a:r>
            <a:r>
              <a:rPr lang="en-US" baseline="-25000" dirty="0"/>
              <a:t>1</a:t>
            </a:r>
            <a:r>
              <a:rPr lang="en-US" dirty="0"/>
              <a:t> will do:</a:t>
            </a:r>
          </a:p>
          <a:p>
            <a:pPr lvl="2"/>
            <a:r>
              <a:rPr lang="en-US" dirty="0"/>
              <a:t> </a:t>
            </a:r>
            <a:r>
              <a:rPr lang="en-US" i="1" dirty="0"/>
              <a:t>Exclusive lock (X), then Write (X) and finally Unlock (X). </a:t>
            </a:r>
            <a:endParaRPr lang="en-US" dirty="0"/>
          </a:p>
          <a:p>
            <a:endParaRPr lang="en-US" dirty="0"/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B996C94-DEC0-4A7B-A904-F4F91CC78A4C}" type="slidenum">
              <a:rPr lang="en-US" smtClean="0">
                <a:solidFill>
                  <a:srgbClr val="FFFFFF"/>
                </a:solidFill>
              </a:rPr>
              <a:pPr/>
              <a:t>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7598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536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93838"/>
            <a:ext cx="8077200" cy="4906962"/>
          </a:xfrm>
        </p:spPr>
        <p:txBody>
          <a:bodyPr>
            <a:normAutofit/>
          </a:bodyPr>
          <a:lstStyle/>
          <a:p>
            <a:r>
              <a:rPr lang="en-US" sz="2800" dirty="0"/>
              <a:t>When these locks are applied, then a transaction must behave in a special way. </a:t>
            </a:r>
          </a:p>
          <a:p>
            <a:r>
              <a:rPr lang="en-US" sz="2800" dirty="0"/>
              <a:t>This special behavior of a transaction is referred to as </a:t>
            </a:r>
            <a:r>
              <a:rPr lang="en-US" sz="2800" i="1" dirty="0"/>
              <a:t>well-formed</a:t>
            </a:r>
            <a:r>
              <a:rPr lang="en-US" sz="2800" dirty="0"/>
              <a:t>. </a:t>
            </a:r>
          </a:p>
          <a:p>
            <a:r>
              <a:rPr lang="en-US" sz="2800" b="1" i="1" dirty="0"/>
              <a:t>Well-formed:</a:t>
            </a:r>
            <a:r>
              <a:rPr lang="en-US" sz="2800" dirty="0"/>
              <a:t> A transaction is well- formed if it does not lock a locked data item and it does not try to unlock an unlocked data item. </a:t>
            </a:r>
          </a:p>
          <a:p>
            <a:endParaRPr lang="en-US" sz="2800" dirty="0"/>
          </a:p>
        </p:txBody>
      </p:sp>
      <p:sp>
        <p:nvSpPr>
          <p:cNvPr id="1536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91E9948-CAC7-4AA8-9A06-7871A683B6C2}" type="slidenum">
              <a:rPr lang="en-US" smtClean="0">
                <a:solidFill>
                  <a:srgbClr val="FFFFFF"/>
                </a:solidFill>
              </a:rPr>
              <a:pPr/>
              <a:t>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443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b="1" dirty="0"/>
              <a:t>Locking - Basic Rules </a:t>
            </a:r>
            <a:endParaRPr lang="en-US" dirty="0"/>
          </a:p>
        </p:txBody>
      </p:sp>
      <p:sp>
        <p:nvSpPr>
          <p:cNvPr id="16387" name="Content Placeholder 2"/>
          <p:cNvSpPr>
            <a:spLocks noGrp="1"/>
          </p:cNvSpPr>
          <p:nvPr>
            <p:ph sz="quarter" idx="1"/>
          </p:nvPr>
        </p:nvSpPr>
        <p:spPr>
          <a:xfrm>
            <a:off x="419100" y="1431925"/>
            <a:ext cx="8267700" cy="5045075"/>
          </a:xfrm>
        </p:spPr>
        <p:txBody>
          <a:bodyPr>
            <a:normAutofit/>
          </a:bodyPr>
          <a:lstStyle/>
          <a:p>
            <a:pPr lvl="1"/>
            <a:r>
              <a:rPr lang="en-US" sz="2800" dirty="0"/>
              <a:t>If transaction has a shared lock on an item, it can read but not update the item. </a:t>
            </a:r>
          </a:p>
          <a:p>
            <a:pPr lvl="1"/>
            <a:r>
              <a:rPr lang="en-US" sz="2800" dirty="0"/>
              <a:t>If a transaction has an exclusive lock on an item, it can both read and update the item. </a:t>
            </a:r>
          </a:p>
          <a:p>
            <a:pPr lvl="1"/>
            <a:r>
              <a:rPr lang="en-US" sz="2800" dirty="0"/>
              <a:t>Reads cannot conflict, so more than one transaction can hold shared locks simultaneously on same item. </a:t>
            </a:r>
          </a:p>
          <a:p>
            <a:pPr lvl="1"/>
            <a:r>
              <a:rPr lang="en-US" sz="2800" dirty="0"/>
              <a:t>Exclusive lock gives transaction exclusive access to that item. </a:t>
            </a:r>
          </a:p>
          <a:p>
            <a:pPr lvl="1"/>
            <a:r>
              <a:rPr lang="en-US" sz="2800" dirty="0"/>
              <a:t>Some systems allow transaction to upgrade a shared lock to an exclusive lock, or vice-versa. </a:t>
            </a: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801DBE-129C-4C4D-A444-621B949AFFF4}" type="slidenum">
              <a:rPr lang="en-US" smtClean="0">
                <a:solidFill>
                  <a:srgbClr val="FFFFFF"/>
                </a:solidFill>
              </a:rPr>
              <a:pPr/>
              <a:t>7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9470404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265238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305800" cy="48736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b="1" dirty="0"/>
              <a:t>Examples: </a:t>
            </a:r>
            <a:r>
              <a:rPr lang="en-US" dirty="0"/>
              <a:t>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are two transactions. </a:t>
            </a:r>
          </a:p>
          <a:p>
            <a:pPr>
              <a:defRPr/>
            </a:pPr>
            <a:r>
              <a:rPr lang="en-US" dirty="0"/>
              <a:t>They are executed under locking as follows.</a:t>
            </a:r>
          </a:p>
          <a:p>
            <a:pPr>
              <a:defRPr/>
            </a:pPr>
            <a:r>
              <a:rPr lang="en-US" dirty="0"/>
              <a:t>T</a:t>
            </a:r>
            <a:r>
              <a:rPr lang="en-US" baseline="-25000" dirty="0"/>
              <a:t>1 </a:t>
            </a:r>
            <a:r>
              <a:rPr lang="en-US" dirty="0"/>
              <a:t>locks A in exclusive mode. </a:t>
            </a:r>
          </a:p>
          <a:p>
            <a:pPr>
              <a:defRPr/>
            </a:pPr>
            <a:r>
              <a:rPr lang="en-US" dirty="0"/>
              <a:t>When T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smtClean="0"/>
              <a:t>wants </a:t>
            </a:r>
            <a:r>
              <a:rPr lang="en-US" dirty="0"/>
              <a:t>to lock A, it finds it locked by T</a:t>
            </a:r>
            <a:r>
              <a:rPr lang="en-US" baseline="-25000" dirty="0"/>
              <a:t>1</a:t>
            </a:r>
            <a:r>
              <a:rPr lang="en-US" dirty="0"/>
              <a:t> so T</a:t>
            </a:r>
            <a:r>
              <a:rPr lang="en-US" baseline="-25000" dirty="0"/>
              <a:t>2</a:t>
            </a:r>
            <a:r>
              <a:rPr lang="en-US" dirty="0"/>
              <a:t> waits for Unlock on A by T</a:t>
            </a:r>
            <a:r>
              <a:rPr lang="en-US" baseline="-25000" dirty="0"/>
              <a:t>1</a:t>
            </a:r>
            <a:r>
              <a:rPr lang="en-US" dirty="0"/>
              <a:t>. </a:t>
            </a:r>
          </a:p>
          <a:p>
            <a:pPr>
              <a:defRPr/>
            </a:pPr>
            <a:r>
              <a:rPr lang="en-US" dirty="0"/>
              <a:t>When A is released then T</a:t>
            </a:r>
            <a:r>
              <a:rPr lang="en-US" baseline="-25000" dirty="0"/>
              <a:t>2</a:t>
            </a:r>
            <a:r>
              <a:rPr lang="en-US" dirty="0"/>
              <a:t> locks A and begins execution. </a:t>
            </a:r>
          </a:p>
          <a:p>
            <a:pPr>
              <a:defRPr/>
            </a:pPr>
            <a:r>
              <a:rPr lang="en-US" dirty="0"/>
              <a:t>Suppose a lock on a data item is applied, the data item is processed and it is unlocked immediately after reading/writing is completed as follows.  Initial values of A = 10 and B = 20.  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1741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E2BC8B-4A3B-4094-AF84-FF6DBA3CF2DB}" type="slidenum">
              <a:rPr lang="en-US" smtClean="0">
                <a:solidFill>
                  <a:srgbClr val="FFFFFF"/>
                </a:solidFill>
              </a:rPr>
              <a:pPr/>
              <a:t>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486974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"/>
            <p:extLst>
              <p:ext uri="{D42A27DB-BD31-4B8C-83A1-F6EECF244321}">
                <p14:modId xmlns:p14="http://schemas.microsoft.com/office/powerpoint/2010/main" val="2968763924"/>
              </p:ext>
            </p:extLst>
          </p:nvPr>
        </p:nvGraphicFramePr>
        <p:xfrm>
          <a:off x="990600" y="1465258"/>
          <a:ext cx="7239000" cy="5187954"/>
        </p:xfrm>
        <a:graphic>
          <a:graphicData uri="http://schemas.openxmlformats.org/drawingml/2006/table">
            <a:tbl>
              <a:tblPr firstRow="1" firstCol="1" bandRow="1"/>
              <a:tblGrid>
                <a:gridCol w="158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17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3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14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5232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24683">
                <a:tc gridSpan="2">
                  <a:txBody>
                    <a:bodyPr/>
                    <a:lstStyle/>
                    <a:p>
                      <a:pPr marL="5461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Serial Execution of T1 and then T2</a:t>
                      </a:r>
                      <a:r>
                        <a:rPr lang="en-US" sz="1200" b="1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rowSpan="23"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 </a:t>
                      </a: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gridSpan="2"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Concurrent Execution of T1 and T2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492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1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2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1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T</a:t>
                      </a: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2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(A)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(A)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(A) {A = 10}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(A) {A = 10}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A := A + 100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A := A + 100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(A) (A = 110}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(A) (A = 110}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(A)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(A)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(B) {B = 20}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(B) {B = 20}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B := B + 10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B := B * 5</a:t>
                      </a: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(B) {B =30}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(B) {B = 100}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(B) {B = 30}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(B) {B = 100}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B := B * 5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B := B + 10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(B) {B = 150}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(B) {B = 110}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635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(B)</a:t>
                      </a: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612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(A)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Lock (A)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(A) {A = 110}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Read (A) {A = 110}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A := A + 20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A := A + 20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(A) {A = 130}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Write (A) {A = 130}</a:t>
                      </a: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24683"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(A)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89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Unlock (A)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24683">
                <a:tc gridSpan="2"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Final Result: A=130    B=150 </a:t>
                      </a:r>
                      <a:endParaRPr lang="en-US" sz="120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3175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i="1" dirty="0">
                          <a:solidFill>
                            <a:srgbClr val="000000"/>
                          </a:solidFill>
                          <a:effectLst/>
                          <a:latin typeface="Book Antiqua" panose="02040602050305030304" pitchFamily="18" charset="0"/>
                          <a:ea typeface="Book Antiqua" panose="02040602050305030304" pitchFamily="18" charset="0"/>
                          <a:cs typeface="Book Antiqua" panose="02040602050305030304" pitchFamily="18" charset="0"/>
                        </a:rPr>
                        <a:t>Final Result: A=130    B=110 </a:t>
                      </a:r>
                      <a:endParaRPr lang="en-US" sz="12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57785" marR="73025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</a:tbl>
          </a:graphicData>
        </a:graphic>
      </p:graphicFrame>
      <p:sp>
        <p:nvSpPr>
          <p:cNvPr id="18579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E94C9F-A712-4E37-8FFD-1574C7FE4647}" type="slidenum">
              <a:rPr lang="en-US" smtClean="0">
                <a:solidFill>
                  <a:srgbClr val="FFFFFF"/>
                </a:solidFill>
              </a:rPr>
              <a:pPr/>
              <a:t>9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90002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19459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295400"/>
            <a:ext cx="8229600" cy="5483225"/>
          </a:xfrm>
        </p:spPr>
        <p:txBody>
          <a:bodyPr/>
          <a:lstStyle/>
          <a:p>
            <a:r>
              <a:rPr lang="en-US" dirty="0"/>
              <a:t>The final result of the two transactions using the two types of transaction execution (serial and concurrent) is not the same. </a:t>
            </a:r>
          </a:p>
          <a:p>
            <a:r>
              <a:rPr lang="en-US" dirty="0"/>
              <a:t>This indicates that the above method of locking and unlocking is </a:t>
            </a:r>
            <a:r>
              <a:rPr lang="en-US" dirty="0">
                <a:solidFill>
                  <a:srgbClr val="FF0000"/>
                </a:solidFill>
              </a:rPr>
              <a:t>not correct</a:t>
            </a:r>
            <a:r>
              <a:rPr lang="en-US" dirty="0"/>
              <a:t>. </a:t>
            </a:r>
          </a:p>
          <a:p>
            <a:r>
              <a:rPr lang="en-US" i="1" dirty="0"/>
              <a:t>This is because although such kind of locking and unlocking data items increases the concurrency of execution it violates the </a:t>
            </a:r>
            <a:r>
              <a:rPr lang="en-US" i="1" dirty="0">
                <a:solidFill>
                  <a:srgbClr val="FF0000"/>
                </a:solidFill>
              </a:rPr>
              <a:t>isolation</a:t>
            </a:r>
            <a:r>
              <a:rPr lang="en-US" i="1" dirty="0"/>
              <a:t> and </a:t>
            </a:r>
            <a:r>
              <a:rPr lang="en-US" i="1" dirty="0">
                <a:solidFill>
                  <a:srgbClr val="FF0000"/>
                </a:solidFill>
              </a:rPr>
              <a:t>atomicity</a:t>
            </a:r>
            <a:r>
              <a:rPr lang="en-US" i="1" dirty="0"/>
              <a:t> of transactions. </a:t>
            </a:r>
          </a:p>
          <a:p>
            <a:r>
              <a:rPr lang="en-US" i="1" dirty="0"/>
              <a:t>Immediate unlocking is not reliable.</a:t>
            </a:r>
            <a:r>
              <a:rPr lang="en-US" dirty="0"/>
              <a:t>  </a:t>
            </a:r>
          </a:p>
          <a:p>
            <a:r>
              <a:rPr lang="en-US" dirty="0"/>
              <a:t>Thus, to preserve consistency we have to use another approach to locking, </a:t>
            </a:r>
            <a:r>
              <a:rPr lang="en-US" b="1" i="1" dirty="0"/>
              <a:t>two-phase locking</a:t>
            </a:r>
            <a:r>
              <a:rPr lang="en-US" i="1" dirty="0"/>
              <a:t> </a:t>
            </a:r>
            <a:r>
              <a:rPr lang="en-US" dirty="0"/>
              <a:t>scheme.</a:t>
            </a:r>
            <a:r>
              <a:rPr lang="en-US" b="1" i="1" dirty="0"/>
              <a:t> </a:t>
            </a:r>
            <a:endParaRPr lang="en-US" dirty="0"/>
          </a:p>
        </p:txBody>
      </p:sp>
      <p:sp>
        <p:nvSpPr>
          <p:cNvPr id="1946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FE28F9-0DD3-4369-84BF-5295B090602C}" type="slidenum">
              <a:rPr lang="en-US" smtClean="0">
                <a:solidFill>
                  <a:srgbClr val="FFFFFF"/>
                </a:solidFill>
              </a:rPr>
              <a:pPr/>
              <a:t>10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238654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534399" cy="11430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Two-Phase Locking (2PL) </a:t>
            </a:r>
            <a:endParaRPr lang="en-US" dirty="0"/>
          </a:p>
        </p:txBody>
      </p:sp>
      <p:sp>
        <p:nvSpPr>
          <p:cNvPr id="20483" name="Content Placeholder 2"/>
          <p:cNvSpPr>
            <a:spLocks noGrp="1"/>
          </p:cNvSpPr>
          <p:nvPr>
            <p:ph sz="quarter" idx="1"/>
          </p:nvPr>
        </p:nvSpPr>
        <p:spPr>
          <a:xfrm>
            <a:off x="639762" y="1474899"/>
            <a:ext cx="8275637" cy="5154502"/>
          </a:xfrm>
        </p:spPr>
        <p:txBody>
          <a:bodyPr/>
          <a:lstStyle/>
          <a:p>
            <a:r>
              <a:rPr lang="en-US" sz="1600" dirty="0"/>
              <a:t>A transaction follows 2PL protocol if all locking operations precede the first unlock operation in the transaction. </a:t>
            </a:r>
          </a:p>
          <a:p>
            <a:r>
              <a:rPr lang="en-US" sz="1600" dirty="0"/>
              <a:t>The 2PL protocol demands locking and unlocking of a transaction to have two phases. </a:t>
            </a:r>
          </a:p>
          <a:p>
            <a:pPr lvl="1"/>
            <a:r>
              <a:rPr lang="en-US" sz="1600" b="1" dirty="0"/>
              <a:t>(Locking) Growing phase</a:t>
            </a:r>
            <a:r>
              <a:rPr lang="en-US" sz="1600" dirty="0"/>
              <a:t> - acquires all locks but cannot release any locks. Upgrading of shared lock to exclusive locks is done here if allowed. </a:t>
            </a:r>
          </a:p>
          <a:p>
            <a:pPr lvl="1"/>
            <a:r>
              <a:rPr lang="en-US" sz="1600" b="1" dirty="0"/>
              <a:t>(Unlocking) Shrinking phase</a:t>
            </a:r>
            <a:r>
              <a:rPr lang="en-US" sz="1600" dirty="0"/>
              <a:t> - releases locks but cannot acquire any new locks. Down grading of exclusive locks to shared lock is done here if allowed. </a:t>
            </a:r>
          </a:p>
          <a:p>
            <a:r>
              <a:rPr lang="en-US" sz="1600" dirty="0"/>
              <a:t>Hence the 2PL protocol allows avoiding the three problems of </a:t>
            </a:r>
            <a:r>
              <a:rPr lang="en-US" sz="1800" dirty="0"/>
              <a:t>concurrent execution. </a:t>
            </a:r>
          </a:p>
          <a:p>
            <a:endParaRPr lang="en-US" sz="2000" dirty="0"/>
          </a:p>
          <a:p>
            <a:endParaRPr lang="en-US" sz="2000" dirty="0"/>
          </a:p>
          <a:p>
            <a:endParaRPr lang="en-US" sz="2000" dirty="0"/>
          </a:p>
          <a:p>
            <a:pPr marL="0" indent="0">
              <a:buNone/>
            </a:pPr>
            <a:endParaRPr lang="en-US" sz="2000" b="1" i="1" dirty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CDEED83-913E-4FFF-930C-8FA82040073C}" type="slidenum">
              <a:rPr lang="en-US" smtClean="0">
                <a:solidFill>
                  <a:srgbClr val="FFFFFF"/>
                </a:solidFill>
              </a:rPr>
              <a:pPr/>
              <a:t>11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0485" name="Group 7"/>
          <p:cNvGrpSpPr>
            <a:grpSpLocks/>
          </p:cNvGrpSpPr>
          <p:nvPr/>
        </p:nvGrpSpPr>
        <p:grpSpPr bwMode="auto">
          <a:xfrm>
            <a:off x="1249363" y="3810000"/>
            <a:ext cx="6338887" cy="1322388"/>
            <a:chOff x="624" y="638"/>
            <a:chExt cx="3993" cy="1386"/>
          </a:xfrm>
        </p:grpSpPr>
        <p:grpSp>
          <p:nvGrpSpPr>
            <p:cNvPr id="20486" name="Group 8"/>
            <p:cNvGrpSpPr>
              <a:grpSpLocks/>
            </p:cNvGrpSpPr>
            <p:nvPr/>
          </p:nvGrpSpPr>
          <p:grpSpPr bwMode="auto">
            <a:xfrm>
              <a:off x="1296" y="638"/>
              <a:ext cx="3321" cy="1042"/>
              <a:chOff x="1296" y="638"/>
              <a:chExt cx="3321" cy="1042"/>
            </a:xfrm>
          </p:grpSpPr>
          <p:sp>
            <p:nvSpPr>
              <p:cNvPr id="20491" name="Line 9"/>
              <p:cNvSpPr>
                <a:spLocks noChangeShapeType="1"/>
              </p:cNvSpPr>
              <p:nvPr/>
            </p:nvSpPr>
            <p:spPr bwMode="auto">
              <a:xfrm flipV="1">
                <a:off x="2016" y="1104"/>
                <a:ext cx="0" cy="19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0492" name="Group 10"/>
              <p:cNvGrpSpPr>
                <a:grpSpLocks/>
              </p:cNvGrpSpPr>
              <p:nvPr/>
            </p:nvGrpSpPr>
            <p:grpSpPr bwMode="auto">
              <a:xfrm>
                <a:off x="1296" y="638"/>
                <a:ext cx="3321" cy="1042"/>
                <a:chOff x="1296" y="576"/>
                <a:chExt cx="3321" cy="1042"/>
              </a:xfrm>
            </p:grpSpPr>
            <p:sp>
              <p:nvSpPr>
                <p:cNvPr id="2049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2208" y="824"/>
                  <a:ext cx="0" cy="192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0494" name="Line 12"/>
                <p:cNvSpPr>
                  <a:spLocks noChangeShapeType="1"/>
                </p:cNvSpPr>
                <p:nvPr/>
              </p:nvSpPr>
              <p:spPr bwMode="auto">
                <a:xfrm>
                  <a:off x="2584" y="656"/>
                  <a:ext cx="192" cy="0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grpSp>
              <p:nvGrpSpPr>
                <p:cNvPr id="20495" name="Group 13"/>
                <p:cNvGrpSpPr>
                  <a:grpSpLocks/>
                </p:cNvGrpSpPr>
                <p:nvPr/>
              </p:nvGrpSpPr>
              <p:grpSpPr bwMode="auto">
                <a:xfrm>
                  <a:off x="1296" y="576"/>
                  <a:ext cx="3321" cy="1042"/>
                  <a:chOff x="1344" y="1392"/>
                  <a:chExt cx="3321" cy="1042"/>
                </a:xfrm>
              </p:grpSpPr>
              <p:sp>
                <p:nvSpPr>
                  <p:cNvPr id="20496" name="Line 14"/>
                  <p:cNvSpPr>
                    <a:spLocks noChangeShapeType="1"/>
                  </p:cNvSpPr>
                  <p:nvPr/>
                </p:nvSpPr>
                <p:spPr bwMode="auto">
                  <a:xfrm>
                    <a:off x="1353" y="2434"/>
                    <a:ext cx="331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497" name="Line 15"/>
                  <p:cNvSpPr>
                    <a:spLocks noChangeShapeType="1"/>
                  </p:cNvSpPr>
                  <p:nvPr/>
                </p:nvSpPr>
                <p:spPr bwMode="auto">
                  <a:xfrm flipH="1" flipV="1">
                    <a:off x="1344" y="1392"/>
                    <a:ext cx="9" cy="104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498" name="Line 16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689" y="2242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499" name="Line 17"/>
                  <p:cNvSpPr>
                    <a:spLocks noChangeShapeType="1"/>
                  </p:cNvSpPr>
                  <p:nvPr/>
                </p:nvSpPr>
                <p:spPr bwMode="auto">
                  <a:xfrm>
                    <a:off x="1689" y="2242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500" name="Line 18"/>
                  <p:cNvSpPr>
                    <a:spLocks noChangeShapeType="1"/>
                  </p:cNvSpPr>
                  <p:nvPr/>
                </p:nvSpPr>
                <p:spPr bwMode="auto">
                  <a:xfrm flipV="1">
                    <a:off x="1881" y="2050"/>
                    <a:ext cx="0" cy="192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501" name="Line 19"/>
                  <p:cNvSpPr>
                    <a:spLocks noChangeShapeType="1"/>
                  </p:cNvSpPr>
                  <p:nvPr/>
                </p:nvSpPr>
                <p:spPr bwMode="auto">
                  <a:xfrm>
                    <a:off x="1881" y="2050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sp>
                <p:nvSpPr>
                  <p:cNvPr id="20502" name="Line 20"/>
                  <p:cNvSpPr>
                    <a:spLocks noChangeShapeType="1"/>
                  </p:cNvSpPr>
                  <p:nvPr/>
                </p:nvSpPr>
                <p:spPr bwMode="auto">
                  <a:xfrm>
                    <a:off x="2073" y="1858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0503" name="Group 21"/>
                  <p:cNvGrpSpPr>
                    <a:grpSpLocks/>
                  </p:cNvGrpSpPr>
                  <p:nvPr/>
                </p:nvGrpSpPr>
                <p:grpSpPr bwMode="auto">
                  <a:xfrm>
                    <a:off x="2265" y="1474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20" name="Line 2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21" name="Line 2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sp>
                <p:nvSpPr>
                  <p:cNvPr id="20504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2457" y="1474"/>
                    <a:ext cx="192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</a:extLst>
                </p:spPr>
                <p:txBody>
                  <a:bodyPr wrap="none" anchor="ctr"/>
                  <a:lstStyle/>
                  <a:p>
                    <a:endParaRPr lang="en-US"/>
                  </a:p>
                </p:txBody>
              </p:sp>
              <p:grpSp>
                <p:nvGrpSpPr>
                  <p:cNvPr id="20505" name="Group 25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2793" y="1474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18" name="Line 26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19" name="Line 27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0506" name="Group 28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2985" y="1666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16" name="Line 29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17" name="Line 30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0507" name="Group 31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3177" y="1858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14" name="Line 32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15" name="Line 33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0508" name="Group 34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3561" y="2242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12" name="Line 35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13" name="Line 36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  <p:grpSp>
                <p:nvGrpSpPr>
                  <p:cNvPr id="20509" name="Group 37"/>
                  <p:cNvGrpSpPr>
                    <a:grpSpLocks/>
                  </p:cNvGrpSpPr>
                  <p:nvPr/>
                </p:nvGrpSpPr>
                <p:grpSpPr bwMode="auto">
                  <a:xfrm rot="-5400000">
                    <a:off x="3369" y="2050"/>
                    <a:ext cx="192" cy="192"/>
                    <a:chOff x="2256" y="1920"/>
                    <a:chExt cx="192" cy="192"/>
                  </a:xfrm>
                </p:grpSpPr>
                <p:sp>
                  <p:nvSpPr>
                    <p:cNvPr id="20510" name="Line 38"/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256" y="2112"/>
                      <a:ext cx="192" cy="0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0511" name="Line 39"/>
                    <p:cNvSpPr>
                      <a:spLocks noChangeShapeType="1"/>
                    </p:cNvSpPr>
                    <p:nvPr/>
                  </p:nvSpPr>
                  <p:spPr bwMode="auto">
                    <a:xfrm flipV="1">
                      <a:off x="2448" y="1920"/>
                      <a:ext cx="0" cy="192"/>
                    </a:xfrm>
                    <a:prstGeom prst="line">
                      <a:avLst/>
                    </a:prstGeom>
                    <a:noFill/>
                    <a:ln w="9525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 wrap="none" anchor="ctr"/>
                    <a:lstStyle/>
                    <a:p>
                      <a:endParaRPr lang="en-US"/>
                    </a:p>
                  </p:txBody>
                </p:sp>
              </p:grpSp>
            </p:grpSp>
          </p:grpSp>
        </p:grpSp>
        <p:sp>
          <p:nvSpPr>
            <p:cNvPr id="20487" name="Text Box 40"/>
            <p:cNvSpPr txBox="1">
              <a:spLocks noChangeArrowheads="1"/>
            </p:cNvSpPr>
            <p:nvPr/>
          </p:nvSpPr>
          <p:spPr bwMode="auto">
            <a:xfrm>
              <a:off x="1584" y="1776"/>
              <a:ext cx="1152" cy="2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>
                  <a:latin typeface="Times New Roman" panose="02020603050405020304" pitchFamily="18" charset="0"/>
                </a:rPr>
                <a:t>Growing Phase</a:t>
              </a:r>
            </a:p>
          </p:txBody>
        </p:sp>
        <p:sp>
          <p:nvSpPr>
            <p:cNvPr id="20488" name="Text Box 41"/>
            <p:cNvSpPr txBox="1">
              <a:spLocks noChangeArrowheads="1"/>
            </p:cNvSpPr>
            <p:nvPr/>
          </p:nvSpPr>
          <p:spPr bwMode="auto">
            <a:xfrm>
              <a:off x="2832" y="1776"/>
              <a:ext cx="1152" cy="22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300">
                  <a:latin typeface="Times New Roman" panose="02020603050405020304" pitchFamily="18" charset="0"/>
                </a:rPr>
                <a:t>Shrinking Phase</a:t>
              </a:r>
              <a:endParaRPr lang="en-US" sz="1400">
                <a:latin typeface="Times New Roman" panose="02020603050405020304" pitchFamily="18" charset="0"/>
              </a:endParaRPr>
            </a:p>
          </p:txBody>
        </p:sp>
        <p:sp>
          <p:nvSpPr>
            <p:cNvPr id="20489" name="Text Box 42"/>
            <p:cNvSpPr txBox="1">
              <a:spLocks noChangeArrowheads="1"/>
            </p:cNvSpPr>
            <p:nvPr/>
          </p:nvSpPr>
          <p:spPr bwMode="auto">
            <a:xfrm>
              <a:off x="3936" y="1824"/>
              <a:ext cx="624" cy="2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lnSpc>
                  <a:spcPct val="80000"/>
                </a:lnSpc>
                <a:spcBef>
                  <a:spcPct val="20000"/>
                </a:spcBef>
              </a:pPr>
              <a:r>
                <a:rPr lang="en-US" sz="1400">
                  <a:latin typeface="Times New Roman" panose="02020603050405020304" pitchFamily="18" charset="0"/>
                </a:rPr>
                <a:t>Time</a:t>
              </a:r>
            </a:p>
          </p:txBody>
        </p:sp>
        <p:sp>
          <p:nvSpPr>
            <p:cNvPr id="20490" name="Text Box 43"/>
            <p:cNvSpPr txBox="1">
              <a:spLocks noChangeArrowheads="1"/>
            </p:cNvSpPr>
            <p:nvPr/>
          </p:nvSpPr>
          <p:spPr bwMode="auto">
            <a:xfrm>
              <a:off x="624" y="960"/>
              <a:ext cx="576" cy="6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1600" dirty="0">
                  <a:latin typeface="Times New Roman" panose="02020603050405020304" pitchFamily="18" charset="0"/>
                </a:rPr>
                <a:t># locks</a:t>
              </a:r>
            </a:p>
            <a:p>
              <a:pPr eaLnBrk="1" hangingPunct="1"/>
              <a:r>
                <a:rPr lang="en-US" sz="1600" dirty="0">
                  <a:latin typeface="Times New Roman" panose="02020603050405020304" pitchFamily="18" charset="0"/>
                </a:rPr>
                <a:t>held by</a:t>
              </a:r>
            </a:p>
            <a:p>
              <a:pPr eaLnBrk="1" hangingPunct="1"/>
              <a:r>
                <a:rPr lang="en-US" sz="1600" dirty="0">
                  <a:latin typeface="Times New Roman" panose="02020603050405020304" pitchFamily="18" charset="0"/>
                </a:rPr>
                <a:t>Ti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5164209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Guaranteeing Serializability by Two-Phase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686800" cy="5181600"/>
          </a:xfrm>
        </p:spPr>
        <p:txBody>
          <a:bodyPr>
            <a:noAutofit/>
          </a:bodyPr>
          <a:lstStyle/>
          <a:p>
            <a:r>
              <a:rPr lang="en-US" sz="3200" dirty="0"/>
              <a:t>If every</a:t>
            </a:r>
            <a:r>
              <a:rPr lang="en-US" sz="3200" i="1" dirty="0"/>
              <a:t> </a:t>
            </a:r>
            <a:r>
              <a:rPr lang="en-US" sz="3200" dirty="0"/>
              <a:t>transaction in a schedule follows the two-phase locking protocol, schedule guaranteed to be serializable</a:t>
            </a:r>
          </a:p>
          <a:p>
            <a:r>
              <a:rPr lang="en-US" sz="3200" dirty="0"/>
              <a:t>Two-phase locking may limit the amount of concurrency that can occur in a schedule</a:t>
            </a:r>
          </a:p>
          <a:p>
            <a:r>
              <a:rPr lang="en-US" sz="3200" dirty="0"/>
              <a:t>Some serializable schedules will be prohibited by two-phase locking protocol</a:t>
            </a:r>
          </a:p>
        </p:txBody>
      </p:sp>
    </p:spTree>
    <p:extLst>
      <p:ext uri="{BB962C8B-B14F-4D97-AF65-F5344CB8AC3E}">
        <p14:creationId xmlns:p14="http://schemas.microsoft.com/office/powerpoint/2010/main" val="77444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Variations of Two-Phase Locking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Basic 2PL</a:t>
            </a:r>
          </a:p>
          <a:p>
            <a:pPr lvl="1"/>
            <a:r>
              <a:rPr lang="en-US" dirty="0"/>
              <a:t>Technique described on previous slides</a:t>
            </a:r>
          </a:p>
          <a:p>
            <a:r>
              <a:rPr lang="en-US" dirty="0"/>
              <a:t>Conservative (static) 2PL</a:t>
            </a:r>
          </a:p>
          <a:p>
            <a:pPr lvl="1"/>
            <a:r>
              <a:rPr lang="en-US" dirty="0"/>
              <a:t>Requires a transaction to lock all the items it accesses before the transaction begins</a:t>
            </a:r>
          </a:p>
          <a:p>
            <a:pPr lvl="2"/>
            <a:r>
              <a:rPr lang="en-US" dirty="0"/>
              <a:t>Predeclare read-set and write-set</a:t>
            </a:r>
          </a:p>
          <a:p>
            <a:pPr lvl="1"/>
            <a:r>
              <a:rPr lang="en-US" dirty="0"/>
              <a:t>Deadlock-free protocol</a:t>
            </a:r>
          </a:p>
          <a:p>
            <a:r>
              <a:rPr lang="en-US" dirty="0"/>
              <a:t>Strict 2PL</a:t>
            </a:r>
          </a:p>
          <a:p>
            <a:pPr lvl="1"/>
            <a:r>
              <a:rPr lang="en-US" dirty="0"/>
              <a:t>Transaction does not release exclusive locks until after it commits or aborts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738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Variations of Two-Phase Locking (cont’d.)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Rigorous 2PL</a:t>
            </a:r>
          </a:p>
          <a:p>
            <a:pPr lvl="1"/>
            <a:r>
              <a:rPr lang="en-US" dirty="0"/>
              <a:t>Transaction does not release any locks until after it commits or aborts</a:t>
            </a:r>
          </a:p>
          <a:p>
            <a:r>
              <a:rPr lang="en-US" dirty="0"/>
              <a:t>Concurrency control subsystem responsible for generating read_lock and write_lock requests</a:t>
            </a:r>
          </a:p>
          <a:p>
            <a:r>
              <a:rPr lang="en-US" dirty="0"/>
              <a:t>Locking generally considered to have high overhead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8494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sz="3200" i="1" dirty="0"/>
              <a:t>Locking methods: problems </a:t>
            </a:r>
            <a:endParaRPr lang="en-US" sz="3200" dirty="0"/>
          </a:p>
        </p:txBody>
      </p:sp>
      <p:sp>
        <p:nvSpPr>
          <p:cNvPr id="22531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447800"/>
            <a:ext cx="8229600" cy="5026025"/>
          </a:xfrm>
        </p:spPr>
        <p:txBody>
          <a:bodyPr>
            <a:normAutofit/>
          </a:bodyPr>
          <a:lstStyle/>
          <a:p>
            <a:pPr marL="320040" lvl="1" indent="0">
              <a:buNone/>
            </a:pPr>
            <a:r>
              <a:rPr lang="en-US" b="1" i="1" u="sng" dirty="0" smtClean="0"/>
              <a:t>Deadlock</a:t>
            </a:r>
            <a:r>
              <a:rPr lang="en-US" sz="1700" dirty="0"/>
              <a:t>: A deadlock that may result when two (or more) transactions are each waiting for locks held by the other to be released</a:t>
            </a:r>
            <a:r>
              <a:rPr lang="en-US" dirty="0"/>
              <a:t>. </a:t>
            </a:r>
          </a:p>
          <a:p>
            <a:pPr marL="320040" lvl="1" indent="0">
              <a:buNone/>
            </a:pPr>
            <a:r>
              <a:rPr lang="en-US" sz="3600" b="1" dirty="0" smtClean="0"/>
              <a:t>Deadlock </a:t>
            </a:r>
            <a:r>
              <a:rPr lang="en-US" sz="3600" b="1" dirty="0"/>
              <a:t>- possible solutions </a:t>
            </a:r>
            <a:endParaRPr lang="en-US" sz="3200" b="1" dirty="0"/>
          </a:p>
          <a:p>
            <a:r>
              <a:rPr lang="en-US" sz="2500" b="1" dirty="0" smtClean="0"/>
              <a:t>Only </a:t>
            </a:r>
            <a:r>
              <a:rPr lang="en-US" sz="2500" b="1" dirty="0"/>
              <a:t>one way to break deadlock:</a:t>
            </a:r>
          </a:p>
          <a:p>
            <a:pPr lvl="1"/>
            <a:r>
              <a:rPr lang="en-US" sz="2500" b="1" dirty="0"/>
              <a:t>abort one or more of the transactions in the deadlock. </a:t>
            </a:r>
            <a:endParaRPr lang="en-US" sz="2500" dirty="0"/>
          </a:p>
          <a:p>
            <a:r>
              <a:rPr lang="en-US" sz="2500" dirty="0"/>
              <a:t>Deadlock should be transparent to user, so DBMS should restart transaction(s). </a:t>
            </a:r>
          </a:p>
          <a:p>
            <a:r>
              <a:rPr lang="en-US" sz="2500" dirty="0"/>
              <a:t>Two general techniques for handling deadlock: </a:t>
            </a:r>
          </a:p>
          <a:p>
            <a:pPr lvl="2"/>
            <a:r>
              <a:rPr lang="en-US" sz="2500" dirty="0"/>
              <a:t>Deadlock prevention. </a:t>
            </a:r>
          </a:p>
          <a:p>
            <a:pPr lvl="2"/>
            <a:r>
              <a:rPr lang="en-US" sz="2500" dirty="0"/>
              <a:t>Deadlock detection and recovery</a:t>
            </a:r>
            <a:r>
              <a:rPr lang="en-US" sz="2400" dirty="0"/>
              <a:t>. 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606C4D9-E356-4255-9AF3-211881600EE5}" type="slidenum">
              <a:rPr lang="en-US" smtClean="0">
                <a:solidFill>
                  <a:srgbClr val="FFFFFF"/>
                </a:solidFill>
              </a:rPr>
              <a:pPr/>
              <a:t>15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72497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399"/>
            <a:ext cx="8458200" cy="99377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146175"/>
            <a:ext cx="8382000" cy="5483225"/>
          </a:xfrm>
        </p:spPr>
        <p:txBody>
          <a:bodyPr>
            <a:normAutofit lnSpcReduction="10000"/>
          </a:bodyPr>
          <a:lstStyle/>
          <a:p>
            <a:pPr marL="371475" indent="-371475" algn="just" eaLnBrk="1" hangingPunct="1">
              <a:lnSpc>
                <a:spcPct val="80000"/>
              </a:lnSpc>
              <a:buFontTx/>
              <a:buAutoNum type="romanLcPeriod"/>
              <a:defRPr/>
            </a:pPr>
            <a:r>
              <a:rPr lang="en-US" b="1" dirty="0">
                <a:solidFill>
                  <a:srgbClr val="FF00FF"/>
                </a:solidFill>
                <a:latin typeface="Times New Roman" panose="02020603050405020304" pitchFamily="18" charset="0"/>
              </a:rPr>
              <a:t>Deadlock prevention protocol: </a:t>
            </a:r>
            <a:r>
              <a:rPr lang="en-US" b="1" dirty="0">
                <a:solidFill>
                  <a:srgbClr val="0000FF"/>
                </a:solidFill>
                <a:latin typeface="Times New Roman" panose="02020603050405020304" pitchFamily="18" charset="0"/>
              </a:rPr>
              <a:t>two possibilities</a:t>
            </a:r>
          </a:p>
          <a:p>
            <a:pPr marL="433387" indent="-342900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The conservative two-phase locking</a:t>
            </a:r>
          </a:p>
          <a:p>
            <a:pPr marL="561975" indent="-288925" algn="just" eaLnBrk="1" hangingPunct="1">
              <a:lnSpc>
                <a:spcPct val="80000"/>
              </a:lnSpc>
              <a:buFont typeface="Times New Roman" panose="02020603050405020304" pitchFamily="18" charset="0"/>
              <a:buChar char="−"/>
              <a:defRPr/>
            </a:pPr>
            <a:r>
              <a:rPr lang="en-US" sz="2000" dirty="0">
                <a:latin typeface="Times New Roman" panose="02020603050405020304" pitchFamily="18" charset="0"/>
              </a:rPr>
              <a:t>A transaction locks all data items it refers to before it begins execution.</a:t>
            </a:r>
          </a:p>
          <a:p>
            <a:pPr marL="561975" indent="-288925" algn="just" eaLnBrk="1" hangingPunct="1">
              <a:lnSpc>
                <a:spcPct val="80000"/>
              </a:lnSpc>
              <a:buFont typeface="Times New Roman" panose="02020603050405020304" pitchFamily="18" charset="0"/>
              <a:buChar char="−"/>
              <a:defRPr/>
            </a:pPr>
            <a:r>
              <a:rPr lang="en-US" sz="2000" dirty="0">
                <a:latin typeface="Times New Roman" panose="02020603050405020304" pitchFamily="18" charset="0"/>
              </a:rPr>
              <a:t>This way of locking prevents deadlock since a transaction never waits for a data item.</a:t>
            </a:r>
          </a:p>
          <a:p>
            <a:pPr marL="561975" indent="-288925" algn="just" eaLnBrk="1" hangingPunct="1">
              <a:lnSpc>
                <a:spcPct val="80000"/>
              </a:lnSpc>
              <a:buFont typeface="Times New Roman" panose="02020603050405020304" pitchFamily="18" charset="0"/>
              <a:buChar char="−"/>
              <a:defRPr/>
            </a:pP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Limitation :</a:t>
            </a:r>
            <a:r>
              <a:rPr lang="en-US" sz="2000" dirty="0">
                <a:latin typeface="Times New Roman" panose="02020603050405020304" pitchFamily="18" charset="0"/>
              </a:rPr>
              <a:t> It restrictions concurrency</a:t>
            </a:r>
          </a:p>
          <a:p>
            <a:pPr marL="433387" indent="-342900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  <a:defRPr/>
            </a:pP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Transaction Timestamp( </a:t>
            </a:r>
            <a:r>
              <a:rPr lang="en-US" i="1" dirty="0">
                <a:latin typeface="Times New Roman" panose="02020603050405020304" pitchFamily="18" charset="0"/>
              </a:rPr>
              <a:t>TS(T)</a:t>
            </a:r>
            <a:r>
              <a:rPr lang="en-US" i="1" dirty="0">
                <a:solidFill>
                  <a:srgbClr val="FF0000"/>
                </a:solidFill>
                <a:latin typeface="Times New Roman" panose="02020603050405020304" pitchFamily="18" charset="0"/>
              </a:rPr>
              <a:t> )</a:t>
            </a:r>
          </a:p>
          <a:p>
            <a:pPr marL="561975" indent="-288925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000" i="1" dirty="0">
                <a:latin typeface="Times New Roman" panose="02020603050405020304" pitchFamily="18" charset="0"/>
              </a:rPr>
              <a:t>We can prevent deadlocks by giving each transaction a priority and ensuring that lower priority transactions are not allowed to wait for higher priority transactions (or vice versa ).</a:t>
            </a:r>
          </a:p>
          <a:p>
            <a:pPr marL="561975" indent="-288925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000" i="1" dirty="0">
                <a:latin typeface="Times New Roman" panose="02020603050405020304" pitchFamily="18" charset="0"/>
              </a:rPr>
              <a:t>One way to assign priorities is to give each transaction a </a:t>
            </a:r>
            <a:r>
              <a:rPr lang="en-US" sz="2000" b="1" i="1" dirty="0">
                <a:latin typeface="Times New Roman" panose="02020603050405020304" pitchFamily="18" charset="0"/>
              </a:rPr>
              <a:t>timestamp </a:t>
            </a:r>
            <a:r>
              <a:rPr lang="en-US" sz="2000" i="1" dirty="0">
                <a:latin typeface="Times New Roman" panose="02020603050405020304" pitchFamily="18" charset="0"/>
              </a:rPr>
              <a:t>when it starts up. </a:t>
            </a:r>
          </a:p>
          <a:p>
            <a:pPr marL="561975" indent="-288925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000" dirty="0">
                <a:latin typeface="Times New Roman" panose="02020603050405020304" pitchFamily="18" charset="0"/>
              </a:rPr>
              <a:t>it is a unique identifier given to each transaction  based on time in which   it is started. </a:t>
            </a:r>
            <a:r>
              <a:rPr lang="en-US" sz="2000" dirty="0" err="1">
                <a:latin typeface="Times New Roman" panose="02020603050405020304" pitchFamily="18" charset="0"/>
              </a:rPr>
              <a:t>i.e</a:t>
            </a:r>
            <a:r>
              <a:rPr lang="en-US" sz="2000" dirty="0">
                <a:latin typeface="Times New Roman" panose="02020603050405020304" pitchFamily="18" charset="0"/>
              </a:rPr>
              <a:t> if T1 starts before T2 , TS(T1)&lt;TS(T2)</a:t>
            </a:r>
          </a:p>
          <a:p>
            <a:pPr marL="561975" indent="-288925" algn="just"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sz="2000" i="1" dirty="0">
                <a:latin typeface="Times New Roman" panose="02020603050405020304" pitchFamily="18" charset="0"/>
              </a:rPr>
              <a:t>The lower the  timestamp, the higher the transaction's priority, that is, the oldest transaction has the highest priority.</a:t>
            </a:r>
          </a:p>
          <a:p>
            <a:pPr marL="561975" indent="-288925" algn="just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§"/>
              <a:defRPr/>
            </a:pPr>
            <a:r>
              <a:rPr lang="en-US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If a transaction Ti requests a lock and transaction </a:t>
            </a:r>
            <a:r>
              <a:rPr lang="en-US" b="1" i="1" dirty="0" err="1">
                <a:solidFill>
                  <a:srgbClr val="FF00FF"/>
                </a:solidFill>
                <a:latin typeface="Times New Roman" panose="02020603050405020304" pitchFamily="18" charset="0"/>
              </a:rPr>
              <a:t>Tj</a:t>
            </a:r>
            <a:r>
              <a:rPr lang="en-US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 holds a conflicting lock, the lock </a:t>
            </a:r>
            <a:r>
              <a:rPr lang="en-US" sz="2000" b="1" i="1" dirty="0">
                <a:solidFill>
                  <a:srgbClr val="FF00FF"/>
                </a:solidFill>
                <a:latin typeface="Times New Roman" panose="02020603050405020304" pitchFamily="18" charset="0"/>
              </a:rPr>
              <a:t>manager can use one of the following two policies: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Wait-die &amp; Wound-wait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7396CE-7F22-4F6A-8F62-50371FA493D4}" type="slidenum">
              <a:rPr lang="en-US" smtClean="0">
                <a:solidFill>
                  <a:srgbClr val="FFFFFF"/>
                </a:solidFill>
              </a:rPr>
              <a:pPr/>
              <a:t>16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335649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012498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4579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22122"/>
            <a:ext cx="8229600" cy="5251703"/>
          </a:xfrm>
        </p:spPr>
        <p:txBody>
          <a:bodyPr/>
          <a:lstStyle/>
          <a:p>
            <a:r>
              <a:rPr lang="en-US" sz="2800" dirty="0">
                <a:solidFill>
                  <a:srgbClr val="FF00FF"/>
                </a:solidFill>
                <a:latin typeface="Times New Roman" panose="02020603050405020304" pitchFamily="18" charset="0"/>
              </a:rPr>
              <a:t>Wait-die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dirty="0">
                <a:latin typeface="Times New Roman" panose="02020603050405020304" pitchFamily="18" charset="0"/>
              </a:rPr>
              <a:t>If Ti has higher priority, it is allowed to wait; otherwise it is aborted.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dirty="0">
                <a:latin typeface="Times New Roman" panose="02020603050405020304" pitchFamily="18" charset="0"/>
              </a:rPr>
              <a:t>An older transaction is allowed to wait on a younger transaction.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dirty="0">
                <a:latin typeface="Times New Roman" panose="02020603050405020304" pitchFamily="18" charset="0"/>
              </a:rPr>
              <a:t>A younger transaction  requesting an item held by an older transaction  is aborted 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dirty="0">
                <a:latin typeface="Times New Roman" panose="02020603050405020304" pitchFamily="18" charset="0"/>
              </a:rPr>
              <a:t>If TS(Ti) &lt; TS(</a:t>
            </a:r>
            <a:r>
              <a:rPr lang="en-US" sz="2300" dirty="0" err="1">
                <a:latin typeface="Times New Roman" panose="02020603050405020304" pitchFamily="18" charset="0"/>
              </a:rPr>
              <a:t>Tj</a:t>
            </a:r>
            <a:r>
              <a:rPr lang="en-US" sz="2300" dirty="0">
                <a:latin typeface="Times New Roman" panose="02020603050405020304" pitchFamily="18" charset="0"/>
              </a:rPr>
              <a:t>), then (Ti older than </a:t>
            </a:r>
            <a:r>
              <a:rPr lang="en-US" sz="2300" dirty="0" err="1">
                <a:latin typeface="Times New Roman" panose="02020603050405020304" pitchFamily="18" charset="0"/>
              </a:rPr>
              <a:t>Tj</a:t>
            </a:r>
            <a:r>
              <a:rPr lang="en-US" sz="2300" dirty="0">
                <a:latin typeface="Times New Roman" panose="02020603050405020304" pitchFamily="18" charset="0"/>
              </a:rPr>
              <a:t>)Ti is allowed to wait.</a:t>
            </a:r>
          </a:p>
          <a:p>
            <a:pPr lvl="1" eaLnBrk="1" hangingPunct="1">
              <a:lnSpc>
                <a:spcPct val="80000"/>
              </a:lnSpc>
            </a:pPr>
            <a:r>
              <a:rPr lang="en-US" sz="2300" dirty="0">
                <a:latin typeface="Times New Roman" panose="02020603050405020304" pitchFamily="18" charset="0"/>
              </a:rPr>
              <a:t>Otherwise (Ti younger than </a:t>
            </a:r>
            <a:r>
              <a:rPr lang="en-US" sz="2300" dirty="0" err="1">
                <a:latin typeface="Times New Roman" panose="02020603050405020304" pitchFamily="18" charset="0"/>
              </a:rPr>
              <a:t>Tj</a:t>
            </a:r>
            <a:r>
              <a:rPr lang="en-US" sz="2300" dirty="0">
                <a:latin typeface="Times New Roman" panose="02020603050405020304" pitchFamily="18" charset="0"/>
              </a:rPr>
              <a:t>)Abort Ti (Ti dies) and restart it later with the same timestamp.</a:t>
            </a:r>
          </a:p>
          <a:p>
            <a:endParaRPr lang="en-US" dirty="0"/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4607FCB-B0A4-44BC-9FFB-0D67CA6854A8}" type="slidenum">
              <a:rPr lang="en-US" smtClean="0">
                <a:solidFill>
                  <a:srgbClr val="FFFFFF"/>
                </a:solidFill>
              </a:rPr>
              <a:pPr/>
              <a:t>17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4581" name="Group 35"/>
          <p:cNvGrpSpPr>
            <a:grpSpLocks/>
          </p:cNvGrpSpPr>
          <p:nvPr/>
        </p:nvGrpSpPr>
        <p:grpSpPr bwMode="auto">
          <a:xfrm>
            <a:off x="3276600" y="4567238"/>
            <a:ext cx="3808413" cy="2062162"/>
            <a:chOff x="1542" y="1819"/>
            <a:chExt cx="2898" cy="2309"/>
          </a:xfrm>
        </p:grpSpPr>
        <p:sp>
          <p:nvSpPr>
            <p:cNvPr id="24582" name="Line 21"/>
            <p:cNvSpPr>
              <a:spLocks noChangeShapeType="1"/>
            </p:cNvSpPr>
            <p:nvPr/>
          </p:nvSpPr>
          <p:spPr bwMode="auto">
            <a:xfrm>
              <a:off x="2568" y="2270"/>
              <a:ext cx="816" cy="5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3" name="Line 22"/>
            <p:cNvSpPr>
              <a:spLocks noChangeShapeType="1"/>
            </p:cNvSpPr>
            <p:nvPr/>
          </p:nvSpPr>
          <p:spPr bwMode="auto">
            <a:xfrm flipH="1">
              <a:off x="2616" y="3408"/>
              <a:ext cx="1056" cy="34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584" name="Text Box 23"/>
            <p:cNvSpPr txBox="1">
              <a:spLocks noChangeArrowheads="1"/>
            </p:cNvSpPr>
            <p:nvPr/>
          </p:nvSpPr>
          <p:spPr bwMode="auto">
            <a:xfrm>
              <a:off x="2888" y="2274"/>
              <a:ext cx="4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Tahoma" panose="020B0604030504040204" pitchFamily="34" charset="0"/>
                </a:rPr>
                <a:t>wait</a:t>
              </a:r>
            </a:p>
          </p:txBody>
        </p:sp>
        <p:sp>
          <p:nvSpPr>
            <p:cNvPr id="24585" name="Text Box 24"/>
            <p:cNvSpPr txBox="1">
              <a:spLocks noChangeArrowheads="1"/>
            </p:cNvSpPr>
            <p:nvPr/>
          </p:nvSpPr>
          <p:spPr bwMode="auto">
            <a:xfrm>
              <a:off x="2856" y="3260"/>
              <a:ext cx="410" cy="3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Tahoma" panose="020B0604030504040204" pitchFamily="34" charset="0"/>
                </a:rPr>
                <a:t>wait</a:t>
              </a:r>
            </a:p>
          </p:txBody>
        </p:sp>
        <p:grpSp>
          <p:nvGrpSpPr>
            <p:cNvPr id="24586" name="Group 26"/>
            <p:cNvGrpSpPr>
              <a:grpSpLocks/>
            </p:cNvGrpSpPr>
            <p:nvPr/>
          </p:nvGrpSpPr>
          <p:grpSpPr bwMode="auto">
            <a:xfrm>
              <a:off x="1542" y="2160"/>
              <a:ext cx="802" cy="1708"/>
              <a:chOff x="1518" y="1680"/>
              <a:chExt cx="802" cy="928"/>
            </a:xfrm>
          </p:grpSpPr>
          <p:sp>
            <p:nvSpPr>
              <p:cNvPr id="24593" name="Line 27"/>
              <p:cNvSpPr>
                <a:spLocks noChangeShapeType="1"/>
              </p:cNvSpPr>
              <p:nvPr/>
            </p:nvSpPr>
            <p:spPr bwMode="auto">
              <a:xfrm flipH="1" flipV="1">
                <a:off x="1784" y="1680"/>
                <a:ext cx="536" cy="928"/>
              </a:xfrm>
              <a:prstGeom prst="line">
                <a:avLst/>
              </a:prstGeom>
              <a:noFill/>
              <a:ln w="28575">
                <a:solidFill>
                  <a:srgbClr val="FF0000"/>
                </a:solidFill>
                <a:prstDash val="dash"/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4" name="Text Box 28"/>
              <p:cNvSpPr txBox="1">
                <a:spLocks noChangeArrowheads="1"/>
              </p:cNvSpPr>
              <p:nvPr/>
            </p:nvSpPr>
            <p:spPr bwMode="auto">
              <a:xfrm>
                <a:off x="1518" y="2050"/>
                <a:ext cx="468" cy="2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2400">
                    <a:solidFill>
                      <a:srgbClr val="FF0000"/>
                    </a:solidFill>
                    <a:latin typeface="Tahoma" panose="020B0604030504040204" pitchFamily="34" charset="0"/>
                  </a:rPr>
                  <a:t>wait</a:t>
                </a:r>
                <a:endParaRPr lang="en-US" sz="32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4587" name="Group 29"/>
            <p:cNvGrpSpPr>
              <a:grpSpLocks/>
            </p:cNvGrpSpPr>
            <p:nvPr/>
          </p:nvGrpSpPr>
          <p:grpSpPr bwMode="auto">
            <a:xfrm>
              <a:off x="1576" y="2841"/>
              <a:ext cx="872" cy="711"/>
              <a:chOff x="1448" y="1968"/>
              <a:chExt cx="872" cy="600"/>
            </a:xfrm>
          </p:grpSpPr>
          <p:sp>
            <p:nvSpPr>
              <p:cNvPr id="24591" name="Freeform 30"/>
              <p:cNvSpPr>
                <a:spLocks/>
              </p:cNvSpPr>
              <p:nvPr/>
            </p:nvSpPr>
            <p:spPr bwMode="auto">
              <a:xfrm>
                <a:off x="1552" y="1968"/>
                <a:ext cx="704" cy="600"/>
              </a:xfrm>
              <a:custGeom>
                <a:avLst/>
                <a:gdLst>
                  <a:gd name="T0" fmla="*/ 0 w 704"/>
                  <a:gd name="T1" fmla="*/ 600 h 600"/>
                  <a:gd name="T2" fmla="*/ 112 w 704"/>
                  <a:gd name="T3" fmla="*/ 392 h 600"/>
                  <a:gd name="T4" fmla="*/ 160 w 704"/>
                  <a:gd name="T5" fmla="*/ 320 h 600"/>
                  <a:gd name="T6" fmla="*/ 256 w 704"/>
                  <a:gd name="T7" fmla="*/ 240 h 600"/>
                  <a:gd name="T8" fmla="*/ 392 w 704"/>
                  <a:gd name="T9" fmla="*/ 152 h 600"/>
                  <a:gd name="T10" fmla="*/ 608 w 704"/>
                  <a:gd name="T11" fmla="*/ 40 h 600"/>
                  <a:gd name="T12" fmla="*/ 704 w 704"/>
                  <a:gd name="T13" fmla="*/ 0 h 60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04"/>
                  <a:gd name="T22" fmla="*/ 0 h 600"/>
                  <a:gd name="T23" fmla="*/ 704 w 704"/>
                  <a:gd name="T24" fmla="*/ 600 h 60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04" h="600">
                    <a:moveTo>
                      <a:pt x="0" y="600"/>
                    </a:moveTo>
                    <a:cubicBezTo>
                      <a:pt x="24" y="527"/>
                      <a:pt x="70" y="455"/>
                      <a:pt x="112" y="392"/>
                    </a:cubicBezTo>
                    <a:cubicBezTo>
                      <a:pt x="124" y="374"/>
                      <a:pt x="142" y="332"/>
                      <a:pt x="160" y="320"/>
                    </a:cubicBezTo>
                    <a:cubicBezTo>
                      <a:pt x="195" y="297"/>
                      <a:pt x="223" y="264"/>
                      <a:pt x="256" y="240"/>
                    </a:cubicBezTo>
                    <a:cubicBezTo>
                      <a:pt x="299" y="209"/>
                      <a:pt x="348" y="183"/>
                      <a:pt x="392" y="152"/>
                    </a:cubicBezTo>
                    <a:cubicBezTo>
                      <a:pt x="474" y="95"/>
                      <a:pt x="518" y="74"/>
                      <a:pt x="608" y="40"/>
                    </a:cubicBezTo>
                    <a:cubicBezTo>
                      <a:pt x="643" y="27"/>
                      <a:pt x="664" y="0"/>
                      <a:pt x="704" y="0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2" name="Freeform 31"/>
              <p:cNvSpPr>
                <a:spLocks/>
              </p:cNvSpPr>
              <p:nvPr/>
            </p:nvSpPr>
            <p:spPr bwMode="auto">
              <a:xfrm>
                <a:off x="1448" y="1976"/>
                <a:ext cx="872" cy="368"/>
              </a:xfrm>
              <a:custGeom>
                <a:avLst/>
                <a:gdLst>
                  <a:gd name="T0" fmla="*/ 0 w 872"/>
                  <a:gd name="T1" fmla="*/ 0 h 368"/>
                  <a:gd name="T2" fmla="*/ 304 w 872"/>
                  <a:gd name="T3" fmla="*/ 80 h 368"/>
                  <a:gd name="T4" fmla="*/ 528 w 872"/>
                  <a:gd name="T5" fmla="*/ 200 h 368"/>
                  <a:gd name="T6" fmla="*/ 736 w 872"/>
                  <a:gd name="T7" fmla="*/ 312 h 368"/>
                  <a:gd name="T8" fmla="*/ 872 w 872"/>
                  <a:gd name="T9" fmla="*/ 368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72"/>
                  <a:gd name="T16" fmla="*/ 0 h 368"/>
                  <a:gd name="T17" fmla="*/ 872 w 872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72" h="368">
                    <a:moveTo>
                      <a:pt x="0" y="0"/>
                    </a:moveTo>
                    <a:cubicBezTo>
                      <a:pt x="110" y="11"/>
                      <a:pt x="201" y="46"/>
                      <a:pt x="304" y="80"/>
                    </a:cubicBezTo>
                    <a:cubicBezTo>
                      <a:pt x="373" y="132"/>
                      <a:pt x="451" y="164"/>
                      <a:pt x="528" y="200"/>
                    </a:cubicBezTo>
                    <a:cubicBezTo>
                      <a:pt x="600" y="233"/>
                      <a:pt x="664" y="279"/>
                      <a:pt x="736" y="312"/>
                    </a:cubicBezTo>
                    <a:cubicBezTo>
                      <a:pt x="772" y="329"/>
                      <a:pt x="843" y="339"/>
                      <a:pt x="872" y="368"/>
                    </a:cubicBezTo>
                  </a:path>
                </a:pathLst>
              </a:custGeom>
              <a:noFill/>
              <a:ln w="38100">
                <a:solidFill>
                  <a:schemeClr val="accent2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4588" name="Text Box 32"/>
            <p:cNvSpPr txBox="1">
              <a:spLocks noChangeArrowheads="1"/>
            </p:cNvSpPr>
            <p:nvPr/>
          </p:nvSpPr>
          <p:spPr bwMode="auto">
            <a:xfrm>
              <a:off x="1984" y="3825"/>
              <a:ext cx="1088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ahoma" panose="020B0604030504040204" pitchFamily="34" charset="0"/>
                </a:rPr>
                <a:t>T3  (ts =25)</a:t>
              </a:r>
            </a:p>
          </p:txBody>
        </p:sp>
        <p:sp>
          <p:nvSpPr>
            <p:cNvPr id="24589" name="Text Box 33"/>
            <p:cNvSpPr txBox="1">
              <a:spLocks noChangeArrowheads="1"/>
            </p:cNvSpPr>
            <p:nvPr/>
          </p:nvSpPr>
          <p:spPr bwMode="auto">
            <a:xfrm>
              <a:off x="1596" y="1819"/>
              <a:ext cx="1020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imes New Roman" panose="02020603050405020304" pitchFamily="18" charset="0"/>
                </a:rPr>
                <a:t>T1(ts =10)</a:t>
              </a:r>
            </a:p>
          </p:txBody>
        </p:sp>
        <p:sp>
          <p:nvSpPr>
            <p:cNvPr id="24590" name="Text Box 34"/>
            <p:cNvSpPr txBox="1">
              <a:spLocks noChangeArrowheads="1"/>
            </p:cNvSpPr>
            <p:nvPr/>
          </p:nvSpPr>
          <p:spPr bwMode="auto">
            <a:xfrm>
              <a:off x="3266" y="2915"/>
              <a:ext cx="1174" cy="41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ahoma" panose="020B0604030504040204" pitchFamily="34" charset="0"/>
                </a:rPr>
                <a:t>T2 (ts =20)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3353223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021052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560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173452"/>
            <a:ext cx="8351972" cy="5498811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800" dirty="0">
                <a:solidFill>
                  <a:srgbClr val="FF00FF"/>
                </a:solidFill>
                <a:latin typeface="Times New Roman" panose="02020603050405020304" pitchFamily="18" charset="0"/>
              </a:rPr>
              <a:t>Wound-wait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The opposite of wait-die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If Ti has higher priority, abort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; otherwise Ti waits.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A younger transaction is allowed to wait on all older one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An older transaction  requesting an item held by a younger transaction preempts the younger transaction by aborting it.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200" dirty="0">
                <a:latin typeface="Times New Roman" panose="02020603050405020304" pitchFamily="18" charset="0"/>
              </a:rPr>
              <a:t>If TS(Ti) &lt; TS(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), then (Ti older than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),Abort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 (Ti wounds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) and restart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 later with the same timestamp</a:t>
            </a:r>
          </a:p>
          <a:p>
            <a:pPr lvl="2" eaLnBrk="1" hangingPunct="1">
              <a:lnSpc>
                <a:spcPct val="90000"/>
              </a:lnSpc>
              <a:buFontTx/>
              <a:buChar char="–"/>
            </a:pPr>
            <a:r>
              <a:rPr lang="en-US" sz="2200" dirty="0">
                <a:latin typeface="Times New Roman" panose="02020603050405020304" pitchFamily="18" charset="0"/>
              </a:rPr>
              <a:t>Otherwise (Ti younger than </a:t>
            </a:r>
            <a:r>
              <a:rPr lang="en-US" sz="2200" dirty="0" err="1">
                <a:latin typeface="Times New Roman" panose="02020603050405020304" pitchFamily="18" charset="0"/>
              </a:rPr>
              <a:t>Tj</a:t>
            </a:r>
            <a:r>
              <a:rPr lang="en-US" sz="2200" dirty="0">
                <a:latin typeface="Times New Roman" panose="02020603050405020304" pitchFamily="18" charset="0"/>
              </a:rPr>
              <a:t>)Ti is allowed to wait</a:t>
            </a:r>
          </a:p>
          <a:p>
            <a:endParaRPr lang="en-US" dirty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F3EE354-C981-4237-A7FD-F52D1C40E4C8}" type="slidenum">
              <a:rPr lang="en-US" smtClean="0">
                <a:solidFill>
                  <a:srgbClr val="FFFFFF"/>
                </a:solidFill>
              </a:rPr>
              <a:pPr/>
              <a:t>18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25605" name="Group 38"/>
          <p:cNvGrpSpPr>
            <a:grpSpLocks/>
          </p:cNvGrpSpPr>
          <p:nvPr/>
        </p:nvGrpSpPr>
        <p:grpSpPr bwMode="auto">
          <a:xfrm>
            <a:off x="3530600" y="4343400"/>
            <a:ext cx="4013200" cy="2328863"/>
            <a:chOff x="1540" y="928"/>
            <a:chExt cx="2876" cy="1967"/>
          </a:xfrm>
        </p:grpSpPr>
        <p:sp>
          <p:nvSpPr>
            <p:cNvPr id="25606" name="Line 39"/>
            <p:cNvSpPr>
              <a:spLocks noChangeShapeType="1"/>
            </p:cNvSpPr>
            <p:nvPr/>
          </p:nvSpPr>
          <p:spPr bwMode="auto">
            <a:xfrm>
              <a:off x="2320" y="1272"/>
              <a:ext cx="991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7" name="Line 40"/>
            <p:cNvSpPr>
              <a:spLocks noChangeShapeType="1"/>
            </p:cNvSpPr>
            <p:nvPr/>
          </p:nvSpPr>
          <p:spPr bwMode="auto">
            <a:xfrm flipH="1">
              <a:off x="2592" y="1942"/>
              <a:ext cx="675" cy="6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5608" name="Text Box 41"/>
            <p:cNvSpPr txBox="1">
              <a:spLocks noChangeArrowheads="1"/>
            </p:cNvSpPr>
            <p:nvPr/>
          </p:nvSpPr>
          <p:spPr bwMode="auto">
            <a:xfrm>
              <a:off x="2827" y="1296"/>
              <a:ext cx="484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Tahoma" panose="020B0604030504040204" pitchFamily="34" charset="0"/>
                </a:rPr>
                <a:t>wait</a:t>
              </a:r>
            </a:p>
          </p:txBody>
        </p:sp>
        <p:sp>
          <p:nvSpPr>
            <p:cNvPr id="25609" name="Text Box 42"/>
            <p:cNvSpPr txBox="1">
              <a:spLocks noChangeArrowheads="1"/>
            </p:cNvSpPr>
            <p:nvPr/>
          </p:nvSpPr>
          <p:spPr bwMode="auto">
            <a:xfrm>
              <a:off x="3010" y="2099"/>
              <a:ext cx="422" cy="3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</a:pPr>
              <a:r>
                <a:rPr lang="en-US" sz="2000">
                  <a:latin typeface="Tahoma" panose="020B0604030504040204" pitchFamily="34" charset="0"/>
                </a:rPr>
                <a:t>wait</a:t>
              </a:r>
            </a:p>
          </p:txBody>
        </p:sp>
        <p:grpSp>
          <p:nvGrpSpPr>
            <p:cNvPr id="25610" name="Group 43"/>
            <p:cNvGrpSpPr>
              <a:grpSpLocks/>
            </p:cNvGrpSpPr>
            <p:nvPr/>
          </p:nvGrpSpPr>
          <p:grpSpPr bwMode="auto">
            <a:xfrm>
              <a:off x="1540" y="1272"/>
              <a:ext cx="1270" cy="1182"/>
              <a:chOff x="1540" y="1272"/>
              <a:chExt cx="1270" cy="1182"/>
            </a:xfrm>
          </p:grpSpPr>
          <p:grpSp>
            <p:nvGrpSpPr>
              <p:cNvPr id="25614" name="Group 44"/>
              <p:cNvGrpSpPr>
                <a:grpSpLocks/>
              </p:cNvGrpSpPr>
              <p:nvPr/>
            </p:nvGrpSpPr>
            <p:grpSpPr bwMode="auto">
              <a:xfrm>
                <a:off x="1540" y="1272"/>
                <a:ext cx="963" cy="1182"/>
                <a:chOff x="1540" y="1272"/>
                <a:chExt cx="963" cy="1182"/>
              </a:xfrm>
            </p:grpSpPr>
            <p:sp>
              <p:nvSpPr>
                <p:cNvPr id="25618" name="Line 45"/>
                <p:cNvSpPr>
                  <a:spLocks noChangeShapeType="1"/>
                </p:cNvSpPr>
                <p:nvPr/>
              </p:nvSpPr>
              <p:spPr bwMode="auto">
                <a:xfrm flipH="1" flipV="1">
                  <a:off x="2117" y="1272"/>
                  <a:ext cx="386" cy="1182"/>
                </a:xfrm>
                <a:prstGeom prst="line">
                  <a:avLst/>
                </a:prstGeom>
                <a:noFill/>
                <a:ln w="28575">
                  <a:solidFill>
                    <a:srgbClr val="FF0000"/>
                  </a:solidFill>
                  <a:prstDash val="dash"/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19" name="Text Box 46"/>
                <p:cNvSpPr txBox="1">
                  <a:spLocks noChangeArrowheads="1"/>
                </p:cNvSpPr>
                <p:nvPr/>
              </p:nvSpPr>
              <p:spPr bwMode="auto">
                <a:xfrm>
                  <a:off x="1540" y="1748"/>
                  <a:ext cx="481" cy="34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2400">
                      <a:solidFill>
                        <a:srgbClr val="FF0000"/>
                      </a:solidFill>
                      <a:latin typeface="Tahoma" panose="020B0604030504040204" pitchFamily="34" charset="0"/>
                    </a:rPr>
                    <a:t>wait</a:t>
                  </a:r>
                  <a:endParaRPr lang="en-US" sz="3200">
                    <a:latin typeface="Tahoma" panose="020B0604030504040204" pitchFamily="34" charset="0"/>
                  </a:endParaRPr>
                </a:p>
              </p:txBody>
            </p:sp>
          </p:grpSp>
          <p:grpSp>
            <p:nvGrpSpPr>
              <p:cNvPr id="25615" name="Group 47"/>
              <p:cNvGrpSpPr>
                <a:grpSpLocks/>
              </p:cNvGrpSpPr>
              <p:nvPr/>
            </p:nvGrpSpPr>
            <p:grpSpPr bwMode="auto">
              <a:xfrm>
                <a:off x="1938" y="1544"/>
                <a:ext cx="872" cy="600"/>
                <a:chOff x="2028" y="2426"/>
                <a:chExt cx="872" cy="600"/>
              </a:xfrm>
            </p:grpSpPr>
            <p:sp>
              <p:nvSpPr>
                <p:cNvPr id="25616" name="Freeform 48"/>
                <p:cNvSpPr>
                  <a:spLocks/>
                </p:cNvSpPr>
                <p:nvPr/>
              </p:nvSpPr>
              <p:spPr bwMode="auto">
                <a:xfrm>
                  <a:off x="2103" y="2426"/>
                  <a:ext cx="704" cy="600"/>
                </a:xfrm>
                <a:custGeom>
                  <a:avLst/>
                  <a:gdLst>
                    <a:gd name="T0" fmla="*/ 0 w 704"/>
                    <a:gd name="T1" fmla="*/ 600 h 600"/>
                    <a:gd name="T2" fmla="*/ 112 w 704"/>
                    <a:gd name="T3" fmla="*/ 392 h 600"/>
                    <a:gd name="T4" fmla="*/ 160 w 704"/>
                    <a:gd name="T5" fmla="*/ 320 h 600"/>
                    <a:gd name="T6" fmla="*/ 256 w 704"/>
                    <a:gd name="T7" fmla="*/ 240 h 600"/>
                    <a:gd name="T8" fmla="*/ 392 w 704"/>
                    <a:gd name="T9" fmla="*/ 152 h 600"/>
                    <a:gd name="T10" fmla="*/ 608 w 704"/>
                    <a:gd name="T11" fmla="*/ 40 h 600"/>
                    <a:gd name="T12" fmla="*/ 704 w 704"/>
                    <a:gd name="T13" fmla="*/ 0 h 600"/>
                    <a:gd name="T14" fmla="*/ 0 60000 65536"/>
                    <a:gd name="T15" fmla="*/ 0 60000 65536"/>
                    <a:gd name="T16" fmla="*/ 0 60000 65536"/>
                    <a:gd name="T17" fmla="*/ 0 60000 65536"/>
                    <a:gd name="T18" fmla="*/ 0 60000 65536"/>
                    <a:gd name="T19" fmla="*/ 0 60000 65536"/>
                    <a:gd name="T20" fmla="*/ 0 60000 65536"/>
                    <a:gd name="T21" fmla="*/ 0 w 704"/>
                    <a:gd name="T22" fmla="*/ 0 h 600"/>
                    <a:gd name="T23" fmla="*/ 704 w 704"/>
                    <a:gd name="T24" fmla="*/ 600 h 600"/>
                  </a:gdLst>
                  <a:ahLst/>
                  <a:cxnLst>
                    <a:cxn ang="T14">
                      <a:pos x="T0" y="T1"/>
                    </a:cxn>
                    <a:cxn ang="T15">
                      <a:pos x="T2" y="T3"/>
                    </a:cxn>
                    <a:cxn ang="T16">
                      <a:pos x="T4" y="T5"/>
                    </a:cxn>
                    <a:cxn ang="T17">
                      <a:pos x="T6" y="T7"/>
                    </a:cxn>
                    <a:cxn ang="T18">
                      <a:pos x="T8" y="T9"/>
                    </a:cxn>
                    <a:cxn ang="T19">
                      <a:pos x="T10" y="T11"/>
                    </a:cxn>
                    <a:cxn ang="T20">
                      <a:pos x="T12" y="T13"/>
                    </a:cxn>
                  </a:cxnLst>
                  <a:rect l="T21" t="T22" r="T23" b="T24"/>
                  <a:pathLst>
                    <a:path w="704" h="600">
                      <a:moveTo>
                        <a:pt x="0" y="600"/>
                      </a:moveTo>
                      <a:cubicBezTo>
                        <a:pt x="24" y="527"/>
                        <a:pt x="70" y="455"/>
                        <a:pt x="112" y="392"/>
                      </a:cubicBezTo>
                      <a:cubicBezTo>
                        <a:pt x="124" y="374"/>
                        <a:pt x="142" y="332"/>
                        <a:pt x="160" y="320"/>
                      </a:cubicBezTo>
                      <a:cubicBezTo>
                        <a:pt x="195" y="297"/>
                        <a:pt x="223" y="264"/>
                        <a:pt x="256" y="240"/>
                      </a:cubicBezTo>
                      <a:cubicBezTo>
                        <a:pt x="299" y="209"/>
                        <a:pt x="348" y="183"/>
                        <a:pt x="392" y="152"/>
                      </a:cubicBezTo>
                      <a:cubicBezTo>
                        <a:pt x="474" y="95"/>
                        <a:pt x="518" y="74"/>
                        <a:pt x="608" y="40"/>
                      </a:cubicBezTo>
                      <a:cubicBezTo>
                        <a:pt x="643" y="27"/>
                        <a:pt x="664" y="0"/>
                        <a:pt x="704" y="0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5617" name="Freeform 49"/>
                <p:cNvSpPr>
                  <a:spLocks/>
                </p:cNvSpPr>
                <p:nvPr/>
              </p:nvSpPr>
              <p:spPr bwMode="auto">
                <a:xfrm>
                  <a:off x="2028" y="2555"/>
                  <a:ext cx="872" cy="368"/>
                </a:xfrm>
                <a:custGeom>
                  <a:avLst/>
                  <a:gdLst>
                    <a:gd name="T0" fmla="*/ 0 w 872"/>
                    <a:gd name="T1" fmla="*/ 0 h 368"/>
                    <a:gd name="T2" fmla="*/ 304 w 872"/>
                    <a:gd name="T3" fmla="*/ 80 h 368"/>
                    <a:gd name="T4" fmla="*/ 528 w 872"/>
                    <a:gd name="T5" fmla="*/ 200 h 368"/>
                    <a:gd name="T6" fmla="*/ 736 w 872"/>
                    <a:gd name="T7" fmla="*/ 312 h 368"/>
                    <a:gd name="T8" fmla="*/ 872 w 872"/>
                    <a:gd name="T9" fmla="*/ 368 h 36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872"/>
                    <a:gd name="T16" fmla="*/ 0 h 368"/>
                    <a:gd name="T17" fmla="*/ 872 w 872"/>
                    <a:gd name="T18" fmla="*/ 368 h 36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872" h="368">
                      <a:moveTo>
                        <a:pt x="0" y="0"/>
                      </a:moveTo>
                      <a:cubicBezTo>
                        <a:pt x="110" y="11"/>
                        <a:pt x="201" y="46"/>
                        <a:pt x="304" y="80"/>
                      </a:cubicBezTo>
                      <a:cubicBezTo>
                        <a:pt x="373" y="132"/>
                        <a:pt x="451" y="164"/>
                        <a:pt x="528" y="200"/>
                      </a:cubicBezTo>
                      <a:cubicBezTo>
                        <a:pt x="600" y="233"/>
                        <a:pt x="664" y="279"/>
                        <a:pt x="736" y="312"/>
                      </a:cubicBezTo>
                      <a:cubicBezTo>
                        <a:pt x="772" y="329"/>
                        <a:pt x="843" y="339"/>
                        <a:pt x="872" y="368"/>
                      </a:cubicBezTo>
                    </a:path>
                  </a:pathLst>
                </a:custGeom>
                <a:noFill/>
                <a:ln w="38100">
                  <a:solidFill>
                    <a:schemeClr val="accent2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</p:grpSp>
        <p:sp>
          <p:nvSpPr>
            <p:cNvPr id="25611" name="Text Box 50"/>
            <p:cNvSpPr txBox="1">
              <a:spLocks noChangeArrowheads="1"/>
            </p:cNvSpPr>
            <p:nvPr/>
          </p:nvSpPr>
          <p:spPr bwMode="auto">
            <a:xfrm>
              <a:off x="1960" y="2616"/>
              <a:ext cx="1087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ahoma" panose="020B0604030504040204" pitchFamily="34" charset="0"/>
                </a:rPr>
                <a:t>T3  (ts =10)</a:t>
              </a:r>
            </a:p>
          </p:txBody>
        </p:sp>
        <p:sp>
          <p:nvSpPr>
            <p:cNvPr id="25612" name="Text Box 51"/>
            <p:cNvSpPr txBox="1">
              <a:spLocks noChangeArrowheads="1"/>
            </p:cNvSpPr>
            <p:nvPr/>
          </p:nvSpPr>
          <p:spPr bwMode="auto">
            <a:xfrm>
              <a:off x="1625" y="928"/>
              <a:ext cx="871" cy="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imes New Roman" panose="02020603050405020304" pitchFamily="18" charset="0"/>
                </a:rPr>
                <a:t>T1(ts =25)</a:t>
              </a:r>
            </a:p>
          </p:txBody>
        </p:sp>
        <p:sp>
          <p:nvSpPr>
            <p:cNvPr id="25613" name="Text Box 52"/>
            <p:cNvSpPr txBox="1">
              <a:spLocks noChangeArrowheads="1"/>
            </p:cNvSpPr>
            <p:nvPr/>
          </p:nvSpPr>
          <p:spPr bwMode="auto">
            <a:xfrm>
              <a:off x="3432" y="1848"/>
              <a:ext cx="984" cy="27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>
                  <a:latin typeface="Tahoma" panose="020B0604030504040204" pitchFamily="34" charset="0"/>
                </a:rPr>
                <a:t>T2 (ts =20)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9814488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0668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0999" y="1219200"/>
            <a:ext cx="8172451" cy="5803900"/>
          </a:xfrm>
        </p:spPr>
        <p:txBody>
          <a:bodyPr/>
          <a:lstStyle/>
          <a:p>
            <a:pPr marL="0" indent="0" eaLnBrk="1" hangingPunct="1">
              <a:lnSpc>
                <a:spcPct val="80000"/>
              </a:lnSpc>
              <a:buClr>
                <a:schemeClr val="tx1"/>
              </a:buClr>
              <a:buNone/>
              <a:defRPr/>
            </a:pPr>
            <a:endParaRPr lang="en-US" sz="1700" dirty="0">
              <a:latin typeface="Times New Roman" panose="02020603050405020304" pitchFamily="18" charset="0"/>
            </a:endParaRPr>
          </a:p>
          <a:p>
            <a:pPr marL="344488" indent="-344488" eaLnBrk="1" hangingPunct="1">
              <a:lnSpc>
                <a:spcPct val="80000"/>
              </a:lnSpc>
              <a:buFontTx/>
              <a:buAutoNum type="romanLcPeriod" startAt="2"/>
              <a:defRPr/>
            </a:pPr>
            <a:r>
              <a:rPr lang="en-US" sz="2200" b="1" dirty="0">
                <a:solidFill>
                  <a:srgbClr val="FF00FF"/>
                </a:solidFill>
                <a:latin typeface="Times New Roman" panose="02020603050405020304" pitchFamily="18" charset="0"/>
              </a:rPr>
              <a:t>Deadlock Detection and resolution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</a:rPr>
              <a:t>In this approach, deadlocks are allowed to happen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</a:rPr>
              <a:t> The scheduler maintains a wait-for-graph for detecting cycle.  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</a:rPr>
              <a:t>When a chain like: Ti waits for </a:t>
            </a:r>
            <a:r>
              <a:rPr lang="en-US" sz="2000" dirty="0" err="1">
                <a:latin typeface="Times New Roman" panose="02020603050405020304" pitchFamily="18" charset="0"/>
              </a:rPr>
              <a:t>Tj</a:t>
            </a:r>
            <a:r>
              <a:rPr lang="en-US" sz="2000" dirty="0">
                <a:latin typeface="Times New Roman" panose="02020603050405020304" pitchFamily="18" charset="0"/>
              </a:rPr>
              <a:t> waits for </a:t>
            </a:r>
            <a:r>
              <a:rPr lang="en-US" sz="2000" dirty="0" err="1">
                <a:latin typeface="Times New Roman" panose="02020603050405020304" pitchFamily="18" charset="0"/>
              </a:rPr>
              <a:t>Tk</a:t>
            </a:r>
            <a:r>
              <a:rPr lang="en-US" sz="2000" dirty="0">
                <a:latin typeface="Times New Roman" panose="02020603050405020304" pitchFamily="18" charset="0"/>
              </a:rPr>
              <a:t> waits for Ti or </a:t>
            </a:r>
            <a:r>
              <a:rPr lang="en-US" sz="2000" dirty="0" err="1">
                <a:latin typeface="Times New Roman" panose="02020603050405020304" pitchFamily="18" charset="0"/>
              </a:rPr>
              <a:t>Tj</a:t>
            </a:r>
            <a:r>
              <a:rPr lang="en-US" sz="2000" dirty="0">
                <a:latin typeface="Times New Roman" panose="02020603050405020304" pitchFamily="18" charset="0"/>
              </a:rPr>
              <a:t> occurs, then this creates a cycle.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</a:rPr>
              <a:t>When the system is in the state of deadlock , some of the transaction should be aborted by selected (victim) and rolled-back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latin typeface="Times New Roman" panose="02020603050405020304" pitchFamily="18" charset="0"/>
              </a:rPr>
              <a:t>This can be done by aborting those transaction:  </a:t>
            </a:r>
            <a:r>
              <a:rPr lang="en-US" sz="2000" dirty="0">
                <a:solidFill>
                  <a:srgbClr val="0000FF"/>
                </a:solidFill>
                <a:latin typeface="Times New Roman" panose="02020603050405020304" pitchFamily="18" charset="0"/>
              </a:rPr>
              <a:t>that have made the least work,</a:t>
            </a:r>
            <a:r>
              <a:rPr lang="en-US" sz="2000" dirty="0">
                <a:latin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</a:rPr>
              <a:t>the one with the lowest locks</a:t>
            </a:r>
            <a:r>
              <a:rPr lang="en-US" sz="2000" dirty="0">
                <a:latin typeface="Times New Roman" panose="02020603050405020304" pitchFamily="18" charset="0"/>
              </a:rPr>
              <a:t>, and </a:t>
            </a:r>
            <a:r>
              <a:rPr lang="en-US" sz="2000" dirty="0">
                <a:solidFill>
                  <a:srgbClr val="FF00FF"/>
                </a:solidFill>
                <a:latin typeface="Times New Roman" panose="02020603050405020304" pitchFamily="18" charset="0"/>
              </a:rPr>
              <a:t>that have the least # of abortion and so on.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r>
              <a:rPr lang="en-US" sz="2000" dirty="0">
                <a:solidFill>
                  <a:srgbClr val="FF00FF"/>
                </a:solidFill>
                <a:latin typeface="Times New Roman" panose="02020603050405020304" pitchFamily="18" charset="0"/>
              </a:rPr>
              <a:t>Example</a:t>
            </a:r>
          </a:p>
          <a:p>
            <a:pPr marL="855663" lvl="1" indent="-227013" eaLnBrk="1" hangingPunct="1">
              <a:lnSpc>
                <a:spcPct val="80000"/>
              </a:lnSpc>
              <a:defRPr/>
            </a:pPr>
            <a:endParaRPr lang="en-US" sz="2000" dirty="0">
              <a:solidFill>
                <a:srgbClr val="FF00FF"/>
              </a:solidFill>
              <a:latin typeface="Times New Roman" panose="02020603050405020304" pitchFamily="18" charset="0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D07808B-B6A5-440E-8655-2CB69CDE7582}" type="slidenum">
              <a:rPr lang="en-US" smtClean="0">
                <a:solidFill>
                  <a:srgbClr val="FFFFFF"/>
                </a:solidFill>
              </a:rPr>
              <a:pPr/>
              <a:t>19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26629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62200" y="5734050"/>
            <a:ext cx="3894534" cy="10056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6852250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8520112" cy="1109663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b="1" dirty="0"/>
              <a:t>Time out</a:t>
            </a:r>
            <a:r>
              <a:rPr lang="en-US" sz="4800" b="1" dirty="0"/>
              <a:t> </a:t>
            </a:r>
            <a:endParaRPr lang="en-US" sz="4800" dirty="0"/>
          </a:p>
        </p:txBody>
      </p:sp>
      <p:sp>
        <p:nvSpPr>
          <p:cNvPr id="27651" name="Content Placeholder 2"/>
          <p:cNvSpPr>
            <a:spLocks noGrp="1"/>
          </p:cNvSpPr>
          <p:nvPr>
            <p:ph sz="quarter" idx="1"/>
          </p:nvPr>
        </p:nvSpPr>
        <p:spPr>
          <a:xfrm>
            <a:off x="533400" y="1371600"/>
            <a:ext cx="8367712" cy="5056187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deadlock detection could be done using the technique of TIMEOUT. </a:t>
            </a:r>
          </a:p>
          <a:p>
            <a:r>
              <a:rPr lang="en-US" dirty="0"/>
              <a:t>Every transaction will be given a time to wait in case of deadlock. </a:t>
            </a:r>
          </a:p>
          <a:p>
            <a:r>
              <a:rPr lang="en-US" dirty="0"/>
              <a:t>If a transaction waits for the predefined period of time in idle mode, the DBMS will assume that deadlock occurred and it will abort and restart the transaction. </a:t>
            </a:r>
          </a:p>
          <a:p>
            <a:r>
              <a:rPr lang="en-US" u="sng" dirty="0"/>
              <a:t>WFG (the Wait For Graph)</a:t>
            </a:r>
            <a:r>
              <a:rPr lang="en-US" dirty="0"/>
              <a:t> </a:t>
            </a:r>
            <a:endParaRPr lang="en-US" sz="1800" dirty="0"/>
          </a:p>
          <a:p>
            <a:pPr lvl="1"/>
            <a:r>
              <a:rPr lang="en-US" sz="2400" dirty="0"/>
              <a:t>Nodes represent transactions </a:t>
            </a:r>
            <a:endParaRPr lang="en-US" sz="2000" dirty="0"/>
          </a:p>
          <a:p>
            <a:pPr lvl="1"/>
            <a:r>
              <a:rPr lang="en-US" sz="2400" dirty="0"/>
              <a:t>A directed edge T</a:t>
            </a:r>
            <a:r>
              <a:rPr lang="en-US" sz="2400" baseline="-25000" dirty="0"/>
              <a:t>i </a:t>
            </a:r>
            <a:r>
              <a:rPr lang="en-US" sz="2400" dirty="0">
                <a:sym typeface="Wingdings" panose="05000000000000000000" pitchFamily="2" charset="2"/>
              </a:rPr>
              <a:t>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dirty="0"/>
              <a:t> is drawn if T</a:t>
            </a:r>
            <a:r>
              <a:rPr lang="en-US" sz="2400" baseline="-25000" dirty="0"/>
              <a:t>i </a:t>
            </a:r>
            <a:r>
              <a:rPr lang="en-US" sz="2400" dirty="0"/>
              <a:t>  is waiting to lock an item already locked by </a:t>
            </a:r>
            <a:r>
              <a:rPr lang="en-US" sz="2400" dirty="0" err="1"/>
              <a:t>T</a:t>
            </a:r>
            <a:r>
              <a:rPr lang="en-US" sz="2400" baseline="-25000" dirty="0" err="1"/>
              <a:t>j</a:t>
            </a:r>
            <a:r>
              <a:rPr lang="en-US" sz="2400" baseline="-25000" dirty="0"/>
              <a:t>. </a:t>
            </a:r>
            <a:endParaRPr lang="en-US" sz="2000" dirty="0"/>
          </a:p>
          <a:p>
            <a:pPr lvl="1"/>
            <a:r>
              <a:rPr lang="en-US" sz="2400" dirty="0"/>
              <a:t>Dead lock exists if there is a cycle in the graph.</a:t>
            </a:r>
            <a:r>
              <a:rPr lang="en-US" sz="2400" baseline="-25000" dirty="0"/>
              <a:t> </a:t>
            </a:r>
            <a:endParaRPr lang="en-US" sz="2000" dirty="0"/>
          </a:p>
          <a:p>
            <a:endParaRPr lang="en-US" dirty="0"/>
          </a:p>
        </p:txBody>
      </p:sp>
      <p:sp>
        <p:nvSpPr>
          <p:cNvPr id="2765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489E2FF-4D97-46DD-A755-3A0F57BF587D}" type="slidenum">
              <a:rPr lang="en-US" smtClean="0">
                <a:solidFill>
                  <a:srgbClr val="FFFFFF"/>
                </a:solidFill>
              </a:rPr>
              <a:pPr/>
              <a:t>20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90011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3820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28675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447801"/>
            <a:ext cx="8382000" cy="5181600"/>
          </a:xfrm>
        </p:spPr>
        <p:txBody>
          <a:bodyPr/>
          <a:lstStyle/>
          <a:p>
            <a:r>
              <a:rPr lang="en-US" sz="2000" dirty="0"/>
              <a:t>If every transaction in a schedule follows 2PL, schedule is </a:t>
            </a:r>
            <a:r>
              <a:rPr lang="en-US" sz="2000" dirty="0" err="1"/>
              <a:t>serializable</a:t>
            </a:r>
            <a:r>
              <a:rPr lang="en-US" sz="2000" dirty="0"/>
              <a:t>. </a:t>
            </a:r>
          </a:p>
          <a:p>
            <a:r>
              <a:rPr lang="en-US" sz="2000" dirty="0"/>
              <a:t>However, problems can occur with interpretation when locks can be released. </a:t>
            </a:r>
          </a:p>
          <a:p>
            <a:r>
              <a:rPr lang="en-US" sz="2000" dirty="0"/>
              <a:t>Suppose </a:t>
            </a:r>
            <a:r>
              <a:rPr lang="en-US" sz="2000" i="1" dirty="0"/>
              <a:t>T</a:t>
            </a:r>
            <a:r>
              <a:rPr lang="en-US" sz="2000" baseline="-25000" dirty="0"/>
              <a:t>i</a:t>
            </a:r>
            <a:r>
              <a:rPr lang="en-US" sz="2000" dirty="0"/>
              <a:t> aborts, but </a:t>
            </a:r>
            <a:r>
              <a:rPr lang="en-US" sz="2000" i="1" dirty="0" err="1"/>
              <a:t>T</a:t>
            </a:r>
            <a:r>
              <a:rPr lang="en-US" sz="2000" baseline="-25000" dirty="0" err="1"/>
              <a:t>j</a:t>
            </a:r>
            <a:r>
              <a:rPr lang="en-US" sz="2000" dirty="0"/>
              <a:t> has read a data item written by  </a:t>
            </a:r>
            <a:r>
              <a:rPr lang="en-US" sz="2000" i="1" dirty="0"/>
              <a:t>T</a:t>
            </a:r>
            <a:r>
              <a:rPr lang="en-US" sz="2000" baseline="-25000" dirty="0"/>
              <a:t>i</a:t>
            </a:r>
            <a:r>
              <a:rPr lang="en-US" sz="2000" b="1" dirty="0"/>
              <a:t> </a:t>
            </a:r>
            <a:endParaRPr lang="en-US" sz="2000" dirty="0"/>
          </a:p>
          <a:p>
            <a:r>
              <a:rPr lang="en-US" sz="2000" dirty="0"/>
              <a:t>Then </a:t>
            </a:r>
            <a:r>
              <a:rPr lang="en-US" sz="2000" i="1" dirty="0" err="1"/>
              <a:t>T</a:t>
            </a:r>
            <a:r>
              <a:rPr lang="en-US" sz="2000" baseline="-25000" dirty="0" err="1"/>
              <a:t>j</a:t>
            </a:r>
            <a:r>
              <a:rPr lang="en-US" sz="2000" i="1" dirty="0"/>
              <a:t> </a:t>
            </a:r>
            <a:r>
              <a:rPr lang="en-US" sz="2000" dirty="0"/>
              <a:t>must abort; if </a:t>
            </a:r>
            <a:r>
              <a:rPr lang="en-US" sz="2000" i="1" dirty="0" err="1"/>
              <a:t>T</a:t>
            </a:r>
            <a:r>
              <a:rPr lang="en-US" sz="2000" baseline="-25000" dirty="0" err="1"/>
              <a:t>j</a:t>
            </a:r>
            <a:r>
              <a:rPr lang="en-US" sz="2000" i="1" dirty="0"/>
              <a:t> </a:t>
            </a:r>
            <a:r>
              <a:rPr lang="en-US" sz="2000" dirty="0"/>
              <a:t>had been allowed to commit earlier, the schedule is not recoverable. </a:t>
            </a:r>
          </a:p>
          <a:p>
            <a:r>
              <a:rPr lang="en-US" sz="2000" dirty="0"/>
              <a:t>Further, any transaction that has read a data item written by </a:t>
            </a:r>
            <a:r>
              <a:rPr lang="en-US" sz="2000" i="1" dirty="0" err="1"/>
              <a:t>T</a:t>
            </a:r>
            <a:r>
              <a:rPr lang="en-US" sz="2000" baseline="-25000" dirty="0" err="1"/>
              <a:t>j</a:t>
            </a:r>
            <a:r>
              <a:rPr lang="en-US" sz="2000" baseline="-25000" dirty="0"/>
              <a:t> </a:t>
            </a:r>
            <a:r>
              <a:rPr lang="en-US" sz="2000" dirty="0"/>
              <a:t>must also abort </a:t>
            </a:r>
          </a:p>
          <a:p>
            <a:r>
              <a:rPr lang="en-US" sz="2000" dirty="0"/>
              <a:t>This can lead to cascading rollback… </a:t>
            </a:r>
          </a:p>
          <a:p>
            <a:r>
              <a:rPr lang="en-US" sz="2000" dirty="0"/>
              <a:t>In order to avoid such problems, it is recommended to leave the release of locks until the end of the transaction. </a:t>
            </a:r>
          </a:p>
          <a:p>
            <a:r>
              <a:rPr lang="en-US" sz="2000" b="1" i="1" dirty="0"/>
              <a:t>A schedule is recoverable</a:t>
            </a:r>
            <a:r>
              <a:rPr lang="en-US" sz="2000" i="1" dirty="0"/>
              <a:t> if for each pair of transactions T</a:t>
            </a:r>
            <a:r>
              <a:rPr lang="en-US" sz="2000" i="1" baseline="-25000" dirty="0"/>
              <a:t>i </a:t>
            </a:r>
            <a:r>
              <a:rPr lang="en-US" sz="2000" i="1" dirty="0"/>
              <a:t>  and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j</a:t>
            </a:r>
            <a:r>
              <a:rPr lang="en-US" sz="2000" i="1" baseline="-25000" dirty="0"/>
              <a:t>  </a:t>
            </a:r>
            <a:r>
              <a:rPr lang="en-US" sz="2000" i="1" dirty="0"/>
              <a:t> , if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j</a:t>
            </a:r>
            <a:r>
              <a:rPr lang="en-US" sz="2000" i="1" baseline="-25000" dirty="0"/>
              <a:t> </a:t>
            </a:r>
            <a:r>
              <a:rPr lang="en-US" sz="2000" i="1" dirty="0"/>
              <a:t>reads an item previously written by T</a:t>
            </a:r>
            <a:r>
              <a:rPr lang="en-US" sz="2000" i="1" baseline="-25000" dirty="0"/>
              <a:t>i, </a:t>
            </a:r>
            <a:r>
              <a:rPr lang="en-US" sz="2000" i="1" dirty="0"/>
              <a:t>then the commit operation of T</a:t>
            </a:r>
            <a:r>
              <a:rPr lang="en-US" sz="2000" i="1" baseline="-25000" dirty="0"/>
              <a:t>i </a:t>
            </a:r>
            <a:r>
              <a:rPr lang="en-US" sz="2000" i="1" dirty="0"/>
              <a:t>must precede that of </a:t>
            </a:r>
            <a:r>
              <a:rPr lang="en-US" sz="2000" i="1" dirty="0" err="1"/>
              <a:t>T</a:t>
            </a:r>
            <a:r>
              <a:rPr lang="en-US" sz="2000" i="1" baseline="-25000" dirty="0" err="1"/>
              <a:t>j</a:t>
            </a:r>
            <a:r>
              <a:rPr lang="en-US" sz="2000" i="1" dirty="0"/>
              <a:t>. </a:t>
            </a:r>
            <a:endParaRPr lang="en-US" sz="2000" dirty="0"/>
          </a:p>
          <a:p>
            <a:endParaRPr lang="en-US" dirty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4D22BDD-8741-40CC-9710-025EE3660F89}" type="slidenum">
              <a:rPr lang="en-US" smtClean="0">
                <a:solidFill>
                  <a:srgbClr val="FFFFFF"/>
                </a:solidFill>
              </a:rPr>
              <a:pPr/>
              <a:t>21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674118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Time-stamping Method </a:t>
            </a:r>
            <a:endParaRPr lang="en-US" dirty="0"/>
          </a:p>
        </p:txBody>
      </p:sp>
      <p:sp>
        <p:nvSpPr>
          <p:cNvPr id="29699" name="Content Placeholder 2"/>
          <p:cNvSpPr>
            <a:spLocks noGrp="1"/>
          </p:cNvSpPr>
          <p:nvPr>
            <p:ph sz="quarter" idx="1"/>
          </p:nvPr>
        </p:nvSpPr>
        <p:spPr>
          <a:xfrm>
            <a:off x="396240" y="1466215"/>
            <a:ext cx="8442960" cy="4934585"/>
          </a:xfrm>
        </p:spPr>
        <p:txBody>
          <a:bodyPr/>
          <a:lstStyle/>
          <a:p>
            <a:r>
              <a:rPr lang="en-US" b="1" dirty="0"/>
              <a:t>Timestamp</a:t>
            </a:r>
            <a:r>
              <a:rPr lang="en-US" dirty="0"/>
              <a:t>: a unique identifier created by DBMS that indicates relative starting time of a transaction. </a:t>
            </a:r>
          </a:p>
          <a:p>
            <a:r>
              <a:rPr lang="en-US" dirty="0"/>
              <a:t>Can be generated by: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Using system clock at the time transaction started, or 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Incrementing a logical counter every time a new transaction starts. </a:t>
            </a:r>
          </a:p>
          <a:p>
            <a:pPr lvl="1"/>
            <a:r>
              <a:rPr lang="en-US" dirty="0"/>
              <a:t>Time-stamping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a concurrency control protocol that orders transactions in such a way that older transactions, transactions with </a:t>
            </a:r>
            <a:r>
              <a:rPr lang="en-US" dirty="0">
                <a:solidFill>
                  <a:srgbClr val="FF0000"/>
                </a:solidFill>
              </a:rPr>
              <a:t>smaller time stamps</a:t>
            </a:r>
            <a:r>
              <a:rPr lang="en-US" dirty="0"/>
              <a:t>, get </a:t>
            </a:r>
            <a:r>
              <a:rPr lang="en-US" dirty="0">
                <a:solidFill>
                  <a:srgbClr val="FF0000"/>
                </a:solidFill>
              </a:rPr>
              <a:t>priority</a:t>
            </a:r>
            <a:r>
              <a:rPr lang="en-US" dirty="0"/>
              <a:t> in the event of </a:t>
            </a:r>
            <a:r>
              <a:rPr lang="en-US" dirty="0">
                <a:solidFill>
                  <a:srgbClr val="FF0000"/>
                </a:solidFill>
              </a:rPr>
              <a:t>conflict</a:t>
            </a:r>
            <a:r>
              <a:rPr lang="en-US" dirty="0"/>
              <a:t>. </a:t>
            </a:r>
          </a:p>
          <a:p>
            <a:endParaRPr lang="en-US" dirty="0"/>
          </a:p>
        </p:txBody>
      </p:sp>
      <p:sp>
        <p:nvSpPr>
          <p:cNvPr id="2970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3A3888CD-A34C-45A0-BC5F-FAF6658A555F}" type="slidenum">
              <a:rPr lang="en-US" smtClean="0">
                <a:solidFill>
                  <a:srgbClr val="FFFFFF"/>
                </a:solidFill>
              </a:rPr>
              <a:pPr/>
              <a:t>22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502234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Starvation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 smtClean="0"/>
              <a:t>Transactions processing and concurrency Management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n-US" dirty="0"/>
          </a:p>
          <a:p>
            <a:pPr lvl="1"/>
            <a:r>
              <a:rPr lang="en-US" dirty="0"/>
              <a:t>Occurs if a transaction cannot proceed for an indefinite period of time while other transactions continue normally</a:t>
            </a:r>
          </a:p>
          <a:p>
            <a:pPr lvl="1"/>
            <a:r>
              <a:rPr lang="en-US" dirty="0"/>
              <a:t>Solution: first-come-first-served queue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913326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072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7848600" cy="5178425"/>
          </a:xfrm>
        </p:spPr>
        <p:txBody>
          <a:bodyPr>
            <a:normAutofit lnSpcReduction="10000"/>
          </a:bodyPr>
          <a:lstStyle/>
          <a:p>
            <a:pPr lvl="1"/>
            <a:r>
              <a:rPr lang="en-US" dirty="0"/>
              <a:t>Transactions ordered globally based on their timestamp so that older transactions, transactions with earlier timestamps, get priority in the event of conflict. </a:t>
            </a:r>
          </a:p>
          <a:p>
            <a:pPr lvl="1"/>
            <a:r>
              <a:rPr lang="en-US" dirty="0"/>
              <a:t>Conflict is resolved by rolling back and restarting transaction. </a:t>
            </a:r>
          </a:p>
          <a:p>
            <a:pPr lvl="1"/>
            <a:r>
              <a:rPr lang="en-US" dirty="0"/>
              <a:t>Since there is no need to use lock there will be </a:t>
            </a:r>
            <a:r>
              <a:rPr lang="en-US" b="1" i="1" dirty="0"/>
              <a:t>No Deadlock</a:t>
            </a:r>
            <a:r>
              <a:rPr lang="en-US" dirty="0"/>
              <a:t>. </a:t>
            </a:r>
          </a:p>
          <a:p>
            <a:r>
              <a:rPr lang="en-US" dirty="0"/>
              <a:t>In timestamp ordering, the schedule is equivalent to the particular serial order that corresponds to the order of the transaction timestamps. </a:t>
            </a:r>
          </a:p>
          <a:p>
            <a:r>
              <a:rPr lang="en-US" dirty="0"/>
              <a:t>To implement this scheme, every transaction will be given a timestamp which is a unique identifier of a transaction.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AC2B9C6-08C9-462D-A8A8-0870BB6C4C04}" type="slidenum">
              <a:rPr lang="en-US" smtClean="0">
                <a:solidFill>
                  <a:srgbClr val="FFFFFF"/>
                </a:solidFill>
              </a:rPr>
              <a:pPr/>
              <a:t>24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2778273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1747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371600"/>
            <a:ext cx="8382000" cy="5486400"/>
          </a:xfrm>
        </p:spPr>
        <p:txBody>
          <a:bodyPr/>
          <a:lstStyle/>
          <a:p>
            <a:r>
              <a:rPr lang="en-US" sz="1800" dirty="0"/>
              <a:t>If T</a:t>
            </a:r>
            <a:r>
              <a:rPr lang="en-US" sz="1800" baseline="-25000" dirty="0"/>
              <a:t>i </a:t>
            </a:r>
            <a:r>
              <a:rPr lang="en-US" sz="1800" dirty="0"/>
              <a:t>came to processing prior to </a:t>
            </a:r>
            <a:r>
              <a:rPr lang="en-US" sz="1800" dirty="0" err="1"/>
              <a:t>T</a:t>
            </a:r>
            <a:r>
              <a:rPr lang="en-US" sz="1800" baseline="-25000" dirty="0" err="1"/>
              <a:t>j</a:t>
            </a:r>
            <a:r>
              <a:rPr lang="en-US" sz="1800" dirty="0"/>
              <a:t> then TS of </a:t>
            </a:r>
            <a:r>
              <a:rPr lang="en-US" sz="1800" dirty="0" err="1"/>
              <a:t>T</a:t>
            </a:r>
            <a:r>
              <a:rPr lang="en-US" sz="1800" baseline="-25000" dirty="0" err="1"/>
              <a:t>j</a:t>
            </a:r>
            <a:r>
              <a:rPr lang="en-US" sz="1800" dirty="0"/>
              <a:t> will be larger than TS of T</a:t>
            </a:r>
            <a:r>
              <a:rPr lang="en-US" sz="1800" baseline="-25000" dirty="0"/>
              <a:t>i</a:t>
            </a:r>
            <a:r>
              <a:rPr lang="en-US" sz="1800" dirty="0"/>
              <a:t>.  </a:t>
            </a:r>
          </a:p>
          <a:p>
            <a:r>
              <a:rPr lang="en-US" sz="1800" dirty="0"/>
              <a:t>Again each data item will have a timestamp for Read and Write. </a:t>
            </a:r>
          </a:p>
          <a:p>
            <a:pPr lvl="1"/>
            <a:r>
              <a:rPr lang="en-US" sz="1800" b="1" i="1" dirty="0"/>
              <a:t>WTS(A)</a:t>
            </a:r>
            <a:r>
              <a:rPr lang="en-US" sz="1800" dirty="0"/>
              <a:t> which denotes the largest timestamp of any transaction that successfully executed </a:t>
            </a:r>
            <a:r>
              <a:rPr lang="en-US" sz="1800" b="1" i="1" dirty="0"/>
              <a:t>Write(A)</a:t>
            </a:r>
            <a:r>
              <a:rPr lang="en-US" sz="1800" dirty="0"/>
              <a:t> </a:t>
            </a:r>
          </a:p>
          <a:p>
            <a:pPr lvl="1"/>
            <a:r>
              <a:rPr lang="en-US" sz="1800" b="1" i="1" dirty="0"/>
              <a:t>RTS(A)</a:t>
            </a:r>
            <a:r>
              <a:rPr lang="en-US" sz="1800" dirty="0"/>
              <a:t> which denotes the largest timestamp of any transaction that successfully executed </a:t>
            </a:r>
            <a:r>
              <a:rPr lang="en-US" sz="1800" b="1" i="1" dirty="0"/>
              <a:t>Read(A)</a:t>
            </a:r>
            <a:r>
              <a:rPr lang="en-US" sz="1800" dirty="0"/>
              <a:t> </a:t>
            </a:r>
          </a:p>
          <a:p>
            <a:r>
              <a:rPr lang="en-US" sz="2000" dirty="0"/>
              <a:t>These timestamps are updated whenever a new Read (A) or Write (A) instruction is executed. </a:t>
            </a:r>
          </a:p>
          <a:p>
            <a:r>
              <a:rPr lang="en-US" sz="2000" dirty="0"/>
              <a:t>Read/write proceeds only if last update on that data item was carried out by an </a:t>
            </a:r>
            <a:r>
              <a:rPr lang="en-US" sz="2000" dirty="0">
                <a:solidFill>
                  <a:srgbClr val="FF0000"/>
                </a:solidFill>
              </a:rPr>
              <a:t>older transaction</a:t>
            </a:r>
            <a:r>
              <a:rPr lang="en-US" sz="2000" dirty="0"/>
              <a:t>. </a:t>
            </a:r>
          </a:p>
          <a:p>
            <a:r>
              <a:rPr lang="en-US" sz="2000" dirty="0"/>
              <a:t>Otherwise, transaction requesting read/write is restarted and given a new timestamp. </a:t>
            </a:r>
          </a:p>
          <a:p>
            <a:r>
              <a:rPr lang="en-US" sz="2000" dirty="0"/>
              <a:t>The timestamp ordering protocol ensures that any conflicting read and write operations are executed in the timestamp order.</a:t>
            </a:r>
          </a:p>
          <a:p>
            <a:r>
              <a:rPr lang="en-US" sz="2000" dirty="0"/>
              <a:t>The protocol manages concurrent execution such that the </a:t>
            </a:r>
            <a:r>
              <a:rPr lang="en-US" sz="2000" u="sng" dirty="0">
                <a:solidFill>
                  <a:srgbClr val="FF0000"/>
                </a:solidFill>
              </a:rPr>
              <a:t>timestamps determine the </a:t>
            </a:r>
            <a:r>
              <a:rPr lang="en-US" sz="2000" u="sng" dirty="0" err="1">
                <a:solidFill>
                  <a:srgbClr val="FF0000"/>
                </a:solidFill>
              </a:rPr>
              <a:t>serializability</a:t>
            </a:r>
            <a:r>
              <a:rPr lang="en-US" sz="2000" u="sng" dirty="0">
                <a:solidFill>
                  <a:srgbClr val="FF0000"/>
                </a:solidFill>
              </a:rPr>
              <a:t> order</a:t>
            </a:r>
            <a:r>
              <a:rPr lang="en-US" sz="2000" dirty="0"/>
              <a:t>.  </a:t>
            </a:r>
          </a:p>
          <a:p>
            <a:endParaRPr lang="en-US" dirty="0"/>
          </a:p>
        </p:txBody>
      </p:sp>
      <p:sp>
        <p:nvSpPr>
          <p:cNvPr id="3174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22FB861-98A6-4A30-84B2-607EE42485A3}" type="slidenum">
              <a:rPr lang="en-US" smtClean="0">
                <a:solidFill>
                  <a:srgbClr val="FFFFFF"/>
                </a:solidFill>
              </a:rPr>
              <a:pPr/>
              <a:t>25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5281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2771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374775"/>
            <a:ext cx="8153400" cy="5559425"/>
          </a:xfrm>
        </p:spPr>
        <p:txBody>
          <a:bodyPr>
            <a:noAutofit/>
          </a:bodyPr>
          <a:lstStyle/>
          <a:p>
            <a:r>
              <a:rPr lang="en-US" sz="2000" b="1" i="1" dirty="0"/>
              <a:t>Rules for permitting execution of operations in Time-stamping Method </a:t>
            </a:r>
            <a:endParaRPr lang="en-US" sz="2000" dirty="0"/>
          </a:p>
          <a:p>
            <a:pPr lvl="1"/>
            <a:r>
              <a:rPr lang="en-US" sz="1800" dirty="0"/>
              <a:t>Suppose that Transaction Ti issues Read(A) </a:t>
            </a:r>
          </a:p>
          <a:p>
            <a:pPr lvl="1"/>
            <a:r>
              <a:rPr lang="en-US" sz="1800" dirty="0"/>
              <a:t>If TS(T</a:t>
            </a:r>
            <a:r>
              <a:rPr lang="en-US" sz="1800" baseline="-25000" dirty="0"/>
              <a:t>i</a:t>
            </a:r>
            <a:r>
              <a:rPr lang="en-US" sz="1800" dirty="0"/>
              <a:t>) &lt; WTS(A): this implies that T</a:t>
            </a:r>
            <a:r>
              <a:rPr lang="en-US" sz="1800" baseline="-25000" dirty="0"/>
              <a:t>i</a:t>
            </a:r>
            <a:r>
              <a:rPr lang="en-US" sz="1800" dirty="0"/>
              <a:t> needs to read a value of A which was already overwritten. Hence the </a:t>
            </a:r>
            <a:r>
              <a:rPr lang="en-US" sz="1800" dirty="0">
                <a:solidFill>
                  <a:srgbClr val="FF0000"/>
                </a:solidFill>
              </a:rPr>
              <a:t>read</a:t>
            </a:r>
            <a:r>
              <a:rPr lang="en-US" sz="1800" dirty="0"/>
              <a:t> operation must be </a:t>
            </a:r>
            <a:r>
              <a:rPr lang="en-US" sz="1800" dirty="0">
                <a:solidFill>
                  <a:srgbClr val="FF0000"/>
                </a:solidFill>
              </a:rPr>
              <a:t>rejected</a:t>
            </a:r>
            <a:r>
              <a:rPr lang="en-US" sz="1800" dirty="0"/>
              <a:t> and T</a:t>
            </a:r>
            <a:r>
              <a:rPr lang="en-US" sz="1800" baseline="-25000" dirty="0"/>
              <a:t>i</a:t>
            </a:r>
            <a:r>
              <a:rPr lang="en-US" sz="1800" dirty="0"/>
              <a:t> is </a:t>
            </a:r>
            <a:r>
              <a:rPr lang="en-US" sz="1800" dirty="0">
                <a:solidFill>
                  <a:srgbClr val="FF0000"/>
                </a:solidFill>
              </a:rPr>
              <a:t>rolled back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If TS(T</a:t>
            </a:r>
            <a:r>
              <a:rPr lang="en-US" sz="1800" baseline="-25000" dirty="0"/>
              <a:t>i</a:t>
            </a:r>
            <a:r>
              <a:rPr lang="en-US" sz="1800" dirty="0"/>
              <a:t>) &gt;= WTS(A): then the read is executed and RTS(A) is set to the maximum of RTS(A) and TS(T</a:t>
            </a:r>
            <a:r>
              <a:rPr lang="en-US" sz="1800" baseline="-25000" dirty="0"/>
              <a:t>i</a:t>
            </a:r>
            <a:r>
              <a:rPr lang="en-US" sz="1800" dirty="0"/>
              <a:t>). </a:t>
            </a:r>
          </a:p>
          <a:p>
            <a:pPr lvl="1"/>
            <a:r>
              <a:rPr lang="en-US" sz="1800" dirty="0"/>
              <a:t>Suppose that Transaction T</a:t>
            </a:r>
            <a:r>
              <a:rPr lang="en-US" sz="1800" baseline="-25000" dirty="0"/>
              <a:t>i</a:t>
            </a:r>
            <a:r>
              <a:rPr lang="en-US" sz="1800" dirty="0"/>
              <a:t> issues Write (A) </a:t>
            </a:r>
          </a:p>
          <a:p>
            <a:pPr lvl="1"/>
            <a:r>
              <a:rPr lang="en-US" sz="1800" dirty="0"/>
              <a:t>If TS(T</a:t>
            </a:r>
            <a:r>
              <a:rPr lang="en-US" sz="1800" baseline="-25000" dirty="0"/>
              <a:t>i</a:t>
            </a:r>
            <a:r>
              <a:rPr lang="en-US" sz="1800" dirty="0"/>
              <a:t>) &lt; RTS(A): then this implies that the value of A that T</a:t>
            </a:r>
            <a:r>
              <a:rPr lang="en-US" sz="1800" baseline="-25000" dirty="0"/>
              <a:t>i</a:t>
            </a:r>
            <a:r>
              <a:rPr lang="en-US" sz="1800" dirty="0"/>
              <a:t> is producing was previously needed and it was assumed that it would never be produced. Hence, the Write operation must be </a:t>
            </a:r>
            <a:r>
              <a:rPr lang="en-US" sz="1800" dirty="0">
                <a:solidFill>
                  <a:srgbClr val="FF0000"/>
                </a:solidFill>
              </a:rPr>
              <a:t>rejected</a:t>
            </a:r>
            <a:r>
              <a:rPr lang="en-US" sz="1800" dirty="0"/>
              <a:t> and Ti is </a:t>
            </a:r>
            <a:r>
              <a:rPr lang="en-US" sz="1800" dirty="0">
                <a:solidFill>
                  <a:srgbClr val="FF0000"/>
                </a:solidFill>
              </a:rPr>
              <a:t>rolled back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If TS(T</a:t>
            </a:r>
            <a:r>
              <a:rPr lang="en-US" sz="1800" baseline="-25000" dirty="0"/>
              <a:t>i</a:t>
            </a:r>
            <a:r>
              <a:rPr lang="en-US" sz="1800" dirty="0"/>
              <a:t>) &lt; WTS(A): then this implies that T</a:t>
            </a:r>
            <a:r>
              <a:rPr lang="en-US" sz="1800" baseline="-25000" dirty="0"/>
              <a:t>i</a:t>
            </a:r>
            <a:r>
              <a:rPr lang="en-US" sz="1800" dirty="0"/>
              <a:t> is attempting to Write an object value of A. hence, this write operation can be </a:t>
            </a:r>
            <a:r>
              <a:rPr lang="en-US" sz="1800" dirty="0">
                <a:solidFill>
                  <a:srgbClr val="FF0000"/>
                </a:solidFill>
              </a:rPr>
              <a:t>ignored</a:t>
            </a:r>
            <a:r>
              <a:rPr lang="en-US" sz="1800" dirty="0"/>
              <a:t>. </a:t>
            </a:r>
          </a:p>
          <a:p>
            <a:pPr lvl="1"/>
            <a:r>
              <a:rPr lang="en-US" sz="1800" dirty="0"/>
              <a:t>Otherwise the Write operation is executed and WTS(A) is set to the maximum of WTS(A) or TS(T</a:t>
            </a:r>
            <a:r>
              <a:rPr lang="en-US" sz="1800" baseline="-25000" dirty="0"/>
              <a:t>i</a:t>
            </a:r>
            <a:r>
              <a:rPr lang="en-US" sz="1800" dirty="0"/>
              <a:t>). </a:t>
            </a:r>
          </a:p>
          <a:p>
            <a:pPr lvl="1"/>
            <a:r>
              <a:rPr lang="en-US" sz="1800" dirty="0"/>
              <a:t>A transaction that is rolled back due to </a:t>
            </a:r>
            <a:r>
              <a:rPr lang="en-US" sz="1800" dirty="0">
                <a:solidFill>
                  <a:srgbClr val="FF0000"/>
                </a:solidFill>
              </a:rPr>
              <a:t>conflict</a:t>
            </a:r>
            <a:r>
              <a:rPr lang="en-US" sz="1800" dirty="0"/>
              <a:t> will be </a:t>
            </a:r>
            <a:r>
              <a:rPr lang="en-US" sz="1800" dirty="0">
                <a:solidFill>
                  <a:srgbClr val="FF0000"/>
                </a:solidFill>
              </a:rPr>
              <a:t>restarted</a:t>
            </a:r>
            <a:r>
              <a:rPr lang="en-US" sz="1800" dirty="0"/>
              <a:t> and be given </a:t>
            </a:r>
            <a:r>
              <a:rPr lang="en-US" sz="1800" dirty="0">
                <a:solidFill>
                  <a:srgbClr val="FF0000"/>
                </a:solidFill>
              </a:rPr>
              <a:t>a new timestamp</a:t>
            </a:r>
            <a:r>
              <a:rPr lang="en-US" sz="1800" dirty="0"/>
              <a:t>. </a:t>
            </a:r>
          </a:p>
          <a:p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93719582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Optimistic Technique </a:t>
            </a:r>
            <a:endParaRPr lang="en-US" dirty="0"/>
          </a:p>
        </p:txBody>
      </p:sp>
      <p:sp>
        <p:nvSpPr>
          <p:cNvPr id="33795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295400"/>
            <a:ext cx="8229600" cy="5334000"/>
          </a:xfrm>
        </p:spPr>
        <p:txBody>
          <a:bodyPr/>
          <a:lstStyle/>
          <a:p>
            <a:r>
              <a:rPr lang="en-US" sz="1900" dirty="0"/>
              <a:t>Locking, assigning and checking timestamp values may be unnecessary for some transactions </a:t>
            </a:r>
          </a:p>
          <a:p>
            <a:r>
              <a:rPr lang="en-US" sz="1900" dirty="0"/>
              <a:t>It assumes that conflict is </a:t>
            </a:r>
            <a:r>
              <a:rPr lang="en-US" sz="1900" dirty="0">
                <a:solidFill>
                  <a:srgbClr val="FF0000"/>
                </a:solidFill>
              </a:rPr>
              <a:t>rare</a:t>
            </a:r>
            <a:r>
              <a:rPr lang="en-US" sz="1900" dirty="0"/>
              <a:t>.   </a:t>
            </a:r>
          </a:p>
          <a:p>
            <a:r>
              <a:rPr lang="en-US" sz="1900" dirty="0"/>
              <a:t>When transaction reaches the level of executing commit, a check is performed to determine whether conflict has occurred. </a:t>
            </a:r>
          </a:p>
          <a:p>
            <a:r>
              <a:rPr lang="en-US" sz="1900" dirty="0"/>
              <a:t>If there is a </a:t>
            </a:r>
            <a:r>
              <a:rPr lang="en-US" sz="1900" dirty="0">
                <a:solidFill>
                  <a:srgbClr val="FF0000"/>
                </a:solidFill>
              </a:rPr>
              <a:t>conflict</a:t>
            </a:r>
            <a:r>
              <a:rPr lang="en-US" sz="1900" dirty="0"/>
              <a:t>, transaction is </a:t>
            </a:r>
            <a:r>
              <a:rPr lang="en-US" sz="1900" dirty="0">
                <a:solidFill>
                  <a:srgbClr val="FF0000"/>
                </a:solidFill>
              </a:rPr>
              <a:t>rolled back </a:t>
            </a:r>
            <a:r>
              <a:rPr lang="en-US" sz="1900" dirty="0"/>
              <a:t>and </a:t>
            </a:r>
            <a:r>
              <a:rPr lang="en-US" sz="1900" dirty="0">
                <a:solidFill>
                  <a:srgbClr val="FF0000"/>
                </a:solidFill>
              </a:rPr>
              <a:t>restarted</a:t>
            </a:r>
            <a:r>
              <a:rPr lang="en-US" sz="1900" dirty="0"/>
              <a:t>. </a:t>
            </a:r>
          </a:p>
          <a:p>
            <a:r>
              <a:rPr lang="en-US" sz="1900" dirty="0"/>
              <a:t>Based on assumption that conflict is rare and more efficient to let transactions proceed </a:t>
            </a:r>
            <a:r>
              <a:rPr lang="en-US" sz="1900" dirty="0">
                <a:solidFill>
                  <a:srgbClr val="FF0000"/>
                </a:solidFill>
              </a:rPr>
              <a:t>without delays </a:t>
            </a:r>
            <a:r>
              <a:rPr lang="en-US" sz="1900" dirty="0"/>
              <a:t>to ensure </a:t>
            </a:r>
            <a:r>
              <a:rPr lang="en-US" sz="1900" dirty="0" err="1"/>
              <a:t>serializability</a:t>
            </a:r>
            <a:r>
              <a:rPr lang="en-US" sz="1900" dirty="0"/>
              <a:t>. </a:t>
            </a:r>
          </a:p>
          <a:p>
            <a:r>
              <a:rPr lang="en-US" sz="1900" dirty="0"/>
              <a:t>At commit, check is made to determine whether conflict has occurred. </a:t>
            </a:r>
          </a:p>
          <a:p>
            <a:r>
              <a:rPr lang="en-US" sz="1900" dirty="0"/>
              <a:t>If there is a conflict, transaction must be rolled back and restarted. </a:t>
            </a:r>
          </a:p>
          <a:p>
            <a:r>
              <a:rPr lang="en-US" sz="1900" dirty="0"/>
              <a:t>Potentially allows greater concurrency than traditional protocols. </a:t>
            </a:r>
          </a:p>
          <a:p>
            <a:r>
              <a:rPr lang="en-US" sz="1900" dirty="0"/>
              <a:t>Three phases: </a:t>
            </a:r>
          </a:p>
          <a:p>
            <a:pPr lvl="1"/>
            <a:r>
              <a:rPr lang="en-US" sz="1900" dirty="0"/>
              <a:t>Read </a:t>
            </a:r>
          </a:p>
          <a:p>
            <a:pPr lvl="1"/>
            <a:r>
              <a:rPr lang="en-US" sz="1900" dirty="0"/>
              <a:t>Validation </a:t>
            </a:r>
          </a:p>
          <a:p>
            <a:pPr lvl="1"/>
            <a:r>
              <a:rPr lang="en-US" sz="1900" dirty="0"/>
              <a:t>Write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7891818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98575"/>
            <a:ext cx="8229600" cy="5483225"/>
          </a:xfrm>
        </p:spPr>
        <p:txBody>
          <a:bodyPr/>
          <a:lstStyle/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/>
              <a:t>1) Optimistic Techniques - Read Phase </a:t>
            </a:r>
            <a:endParaRPr lang="en-US" sz="2000" dirty="0"/>
          </a:p>
          <a:p>
            <a:pPr lvl="2">
              <a:defRPr/>
            </a:pPr>
            <a:r>
              <a:rPr lang="en-US" sz="2000" dirty="0"/>
              <a:t>Extends from </a:t>
            </a:r>
            <a:r>
              <a:rPr lang="en-US" sz="2000" dirty="0">
                <a:solidFill>
                  <a:srgbClr val="FF0000"/>
                </a:solidFill>
              </a:rPr>
              <a:t>start</a:t>
            </a:r>
            <a:r>
              <a:rPr lang="en-US" sz="2000" dirty="0"/>
              <a:t> until immediately before </a:t>
            </a:r>
            <a:r>
              <a:rPr lang="en-US" sz="2000" dirty="0">
                <a:solidFill>
                  <a:srgbClr val="FF0000"/>
                </a:solidFill>
              </a:rPr>
              <a:t>commit</a:t>
            </a:r>
            <a:r>
              <a:rPr lang="en-US" sz="2000" dirty="0"/>
              <a:t>.  </a:t>
            </a:r>
          </a:p>
          <a:p>
            <a:pPr lvl="2">
              <a:defRPr/>
            </a:pPr>
            <a:r>
              <a:rPr lang="en-US" sz="2000" dirty="0"/>
              <a:t>Transaction reads values from database and stores them in </a:t>
            </a:r>
            <a:r>
              <a:rPr lang="en-US" sz="2000" dirty="0">
                <a:solidFill>
                  <a:srgbClr val="FF0000"/>
                </a:solidFill>
              </a:rPr>
              <a:t>local variables</a:t>
            </a:r>
            <a:r>
              <a:rPr lang="en-US" sz="2000" dirty="0"/>
              <a:t>. Updates are applied to a </a:t>
            </a:r>
            <a:r>
              <a:rPr lang="en-US" sz="2000" dirty="0">
                <a:solidFill>
                  <a:srgbClr val="FF0000"/>
                </a:solidFill>
              </a:rPr>
              <a:t>local copy of the data</a:t>
            </a:r>
            <a:r>
              <a:rPr lang="en-US" sz="2000" dirty="0"/>
              <a:t>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/>
              <a:t>2)Optimistic Techniques - Validation Phase </a:t>
            </a:r>
            <a:endParaRPr lang="en-US" sz="2000" dirty="0"/>
          </a:p>
          <a:p>
            <a:pPr lvl="2">
              <a:defRPr/>
            </a:pPr>
            <a:r>
              <a:rPr lang="en-US" sz="2000" dirty="0"/>
              <a:t>Follows the </a:t>
            </a:r>
            <a:r>
              <a:rPr lang="en-US" sz="2000" dirty="0">
                <a:solidFill>
                  <a:srgbClr val="FF0000"/>
                </a:solidFill>
              </a:rPr>
              <a:t>read phase</a:t>
            </a:r>
            <a:r>
              <a:rPr lang="en-US" sz="2000" dirty="0"/>
              <a:t>.  </a:t>
            </a:r>
          </a:p>
          <a:p>
            <a:pPr lvl="2">
              <a:defRPr/>
            </a:pPr>
            <a:r>
              <a:rPr lang="en-US" sz="2000" dirty="0"/>
              <a:t>For read-only transaction, checks that data read are still current values. If </a:t>
            </a:r>
            <a:r>
              <a:rPr lang="en-US" sz="2000" dirty="0">
                <a:solidFill>
                  <a:srgbClr val="FF0000"/>
                </a:solidFill>
              </a:rPr>
              <a:t>no interference</a:t>
            </a:r>
            <a:r>
              <a:rPr lang="en-US" sz="2000" dirty="0"/>
              <a:t>, transaction is committed, else </a:t>
            </a:r>
            <a:r>
              <a:rPr lang="en-US" sz="2000" dirty="0">
                <a:solidFill>
                  <a:srgbClr val="FF0000"/>
                </a:solidFill>
              </a:rPr>
              <a:t>aborted</a:t>
            </a:r>
            <a:r>
              <a:rPr lang="en-US" sz="2000" dirty="0"/>
              <a:t> and </a:t>
            </a:r>
            <a:r>
              <a:rPr lang="en-US" sz="2000" dirty="0">
                <a:solidFill>
                  <a:srgbClr val="FF0000"/>
                </a:solidFill>
              </a:rPr>
              <a:t>restarted</a:t>
            </a:r>
            <a:r>
              <a:rPr lang="en-US" sz="2000" dirty="0"/>
              <a:t>. </a:t>
            </a:r>
          </a:p>
          <a:p>
            <a:pPr lvl="2">
              <a:defRPr/>
            </a:pPr>
            <a:r>
              <a:rPr lang="en-US" sz="2000" dirty="0"/>
              <a:t>For update transaction, checks transaction leaves database in a consistent state, with </a:t>
            </a:r>
            <a:r>
              <a:rPr lang="en-US" sz="2000" dirty="0" err="1"/>
              <a:t>serializability</a:t>
            </a:r>
            <a:r>
              <a:rPr lang="en-US" sz="2000" dirty="0"/>
              <a:t> maintained.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b="1" dirty="0"/>
              <a:t>3)Optimistic Techniques - Write Phase </a:t>
            </a:r>
            <a:endParaRPr lang="en-US" sz="2000" dirty="0"/>
          </a:p>
          <a:p>
            <a:pPr lvl="1">
              <a:defRPr/>
            </a:pPr>
            <a:r>
              <a:rPr lang="en-US" sz="2000" dirty="0"/>
              <a:t>Follows successful </a:t>
            </a:r>
            <a:r>
              <a:rPr lang="en-US" sz="2000" dirty="0">
                <a:solidFill>
                  <a:srgbClr val="FF0000"/>
                </a:solidFill>
              </a:rPr>
              <a:t>validation phase </a:t>
            </a:r>
            <a:r>
              <a:rPr lang="en-US" sz="2000" dirty="0"/>
              <a:t>for </a:t>
            </a:r>
            <a:r>
              <a:rPr lang="en-US" sz="2000" dirty="0">
                <a:solidFill>
                  <a:srgbClr val="FF0000"/>
                </a:solidFill>
              </a:rPr>
              <a:t>update transactions.</a:t>
            </a:r>
            <a:r>
              <a:rPr lang="en-US" sz="2000" dirty="0"/>
              <a:t>  </a:t>
            </a:r>
          </a:p>
          <a:p>
            <a:pPr lvl="1">
              <a:defRPr/>
            </a:pPr>
            <a:r>
              <a:rPr lang="en-US" sz="2000" dirty="0"/>
              <a:t>Updates made to local copy are applied to the database. </a:t>
            </a:r>
          </a:p>
          <a:p>
            <a:pPr>
              <a:defRPr/>
            </a:pPr>
            <a:endParaRPr lang="en-US" sz="2000" dirty="0"/>
          </a:p>
        </p:txBody>
      </p:sp>
      <p:sp>
        <p:nvSpPr>
          <p:cNvPr id="34820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5CE94C6-519E-46CF-BF81-2A6EE0759B19}" type="slidenum">
              <a:rPr lang="en-US" smtClean="0">
                <a:solidFill>
                  <a:srgbClr val="FFFFFF"/>
                </a:solidFill>
              </a:rPr>
              <a:pPr/>
              <a:t>28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663560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b="1" dirty="0"/>
              <a:t>Granularity of data items  </a:t>
            </a:r>
            <a:endParaRPr lang="en-US" dirty="0"/>
          </a:p>
        </p:txBody>
      </p:sp>
      <p:sp>
        <p:nvSpPr>
          <p:cNvPr id="35843" name="Content Placeholder 2"/>
          <p:cNvSpPr>
            <a:spLocks noGrp="1"/>
          </p:cNvSpPr>
          <p:nvPr>
            <p:ph sz="quarter" idx="1"/>
          </p:nvPr>
        </p:nvSpPr>
        <p:spPr>
          <a:xfrm>
            <a:off x="381000" y="1295400"/>
            <a:ext cx="8229600" cy="5943600"/>
          </a:xfrm>
        </p:spPr>
        <p:txBody>
          <a:bodyPr/>
          <a:lstStyle/>
          <a:p>
            <a:r>
              <a:rPr lang="en-US" sz="2400" b="1" u="sng" dirty="0"/>
              <a:t>Granularity</a:t>
            </a:r>
            <a:r>
              <a:rPr lang="en-US" sz="2400" dirty="0"/>
              <a:t> is the size of the data items chosen as the unit of protection by a </a:t>
            </a:r>
            <a:r>
              <a:rPr lang="en-US" sz="2400" dirty="0">
                <a:solidFill>
                  <a:srgbClr val="FF0000"/>
                </a:solidFill>
              </a:rPr>
              <a:t>concurrency control protocol</a:t>
            </a:r>
            <a:r>
              <a:rPr lang="en-US" sz="2400" dirty="0"/>
              <a:t>. </a:t>
            </a:r>
          </a:p>
          <a:p>
            <a:r>
              <a:rPr lang="en-US" sz="2000" dirty="0"/>
              <a:t>See figure bellow. </a:t>
            </a:r>
            <a:endParaRPr lang="en-US" sz="1800" dirty="0"/>
          </a:p>
          <a:p>
            <a:r>
              <a:rPr lang="en-US" sz="2000" dirty="0"/>
              <a:t>It could be: </a:t>
            </a:r>
            <a:endParaRPr lang="en-US" sz="1800" dirty="0"/>
          </a:p>
          <a:p>
            <a:pPr lvl="2"/>
            <a:r>
              <a:rPr lang="en-US" dirty="0"/>
              <a:t>The entire database </a:t>
            </a:r>
            <a:endParaRPr lang="en-US" sz="2000" dirty="0"/>
          </a:p>
          <a:p>
            <a:pPr lvl="2"/>
            <a:r>
              <a:rPr lang="en-US" dirty="0"/>
              <a:t>A file </a:t>
            </a:r>
            <a:endParaRPr lang="en-US" sz="2000" dirty="0"/>
          </a:p>
          <a:p>
            <a:pPr lvl="2"/>
            <a:r>
              <a:rPr lang="en-US" dirty="0"/>
              <a:t>A page (a section of physical disk in which relations are stored)(sometimes also called a </a:t>
            </a:r>
            <a:r>
              <a:rPr lang="en-US" dirty="0">
                <a:solidFill>
                  <a:srgbClr val="FF0000"/>
                </a:solidFill>
              </a:rPr>
              <a:t>block</a:t>
            </a:r>
            <a:r>
              <a:rPr lang="en-US" dirty="0"/>
              <a:t>) </a:t>
            </a:r>
            <a:endParaRPr lang="en-US" sz="2000" dirty="0"/>
          </a:p>
          <a:p>
            <a:pPr lvl="2"/>
            <a:r>
              <a:rPr lang="en-US" dirty="0"/>
              <a:t>A record </a:t>
            </a:r>
            <a:endParaRPr lang="en-US" sz="2000" dirty="0"/>
          </a:p>
          <a:p>
            <a:pPr lvl="2"/>
            <a:r>
              <a:rPr lang="en-US" dirty="0"/>
              <a:t>A field value of a record </a:t>
            </a:r>
            <a:endParaRPr lang="en-US" sz="2000" dirty="0"/>
          </a:p>
          <a:p>
            <a:r>
              <a:rPr lang="en-US" sz="2000" dirty="0"/>
              <a:t>The granularity has </a:t>
            </a:r>
            <a:r>
              <a:rPr lang="en-US" sz="2000" dirty="0">
                <a:solidFill>
                  <a:srgbClr val="FF0000"/>
                </a:solidFill>
              </a:rPr>
              <a:t>effect on the performance of the system</a:t>
            </a:r>
            <a:r>
              <a:rPr lang="en-US" sz="2000" dirty="0"/>
              <a:t>. </a:t>
            </a:r>
          </a:p>
          <a:p>
            <a:r>
              <a:rPr lang="en-US" sz="2000" dirty="0"/>
              <a:t>As locking will prevent access to the data, the size of the data required to be locked will </a:t>
            </a:r>
            <a:r>
              <a:rPr lang="en-US" sz="2000" dirty="0">
                <a:solidFill>
                  <a:srgbClr val="FF0000"/>
                </a:solidFill>
              </a:rPr>
              <a:t>prevent</a:t>
            </a:r>
            <a:r>
              <a:rPr lang="en-US" sz="2000" dirty="0"/>
              <a:t> other transactions from having access. </a:t>
            </a:r>
          </a:p>
          <a:p>
            <a:r>
              <a:rPr lang="en-US" sz="2000" dirty="0"/>
              <a:t>If the entire database is locked, then consistency will be highly maintained but </a:t>
            </a:r>
            <a:r>
              <a:rPr lang="en-US" sz="2000" dirty="0">
                <a:solidFill>
                  <a:srgbClr val="FF0000"/>
                </a:solidFill>
              </a:rPr>
              <a:t>less performance </a:t>
            </a:r>
            <a:r>
              <a:rPr lang="en-US" sz="2000" dirty="0"/>
              <a:t>of the system will be witnessed.</a:t>
            </a:r>
          </a:p>
        </p:txBody>
      </p:sp>
    </p:spTree>
    <p:extLst>
      <p:ext uri="{BB962C8B-B14F-4D97-AF65-F5344CB8AC3E}">
        <p14:creationId xmlns:p14="http://schemas.microsoft.com/office/powerpoint/2010/main" val="2198635416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6867" name="Content Placeholder 2"/>
          <p:cNvSpPr>
            <a:spLocks noGrp="1"/>
          </p:cNvSpPr>
          <p:nvPr>
            <p:ph sz="quarter" idx="1"/>
          </p:nvPr>
        </p:nvSpPr>
        <p:spPr>
          <a:xfrm>
            <a:off x="647700" y="1447800"/>
            <a:ext cx="8001000" cy="5026025"/>
          </a:xfrm>
        </p:spPr>
        <p:txBody>
          <a:bodyPr>
            <a:normAutofit/>
          </a:bodyPr>
          <a:lstStyle/>
          <a:p>
            <a:r>
              <a:rPr lang="en-US" sz="2800" dirty="0"/>
              <a:t>Is a single data item is locked; consistency maybe at risk but concurrent processing and performance will be enhanced.</a:t>
            </a:r>
          </a:p>
          <a:p>
            <a:r>
              <a:rPr lang="en-US" sz="2800" dirty="0"/>
              <a:t>Thus, as one go from the entire database to a single value, performance and concurrent processing will be enhanced but consistency will be at risk and needs good concurrency control mechanism and strategy.</a:t>
            </a:r>
          </a:p>
        </p:txBody>
      </p:sp>
      <p:sp>
        <p:nvSpPr>
          <p:cNvPr id="36868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3101AD-419E-42E0-AFEC-A1F2EA52FAE3}" type="slidenum">
              <a:rPr lang="en-US" smtClean="0">
                <a:solidFill>
                  <a:srgbClr val="FFFFFF"/>
                </a:solidFill>
              </a:rPr>
              <a:pPr/>
              <a:t>30</a:t>
            </a:fld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4484065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8458200" cy="1143000"/>
          </a:xfrm>
        </p:spPr>
        <p:txBody>
          <a:bodyPr/>
          <a:lstStyle/>
          <a:p>
            <a:pPr>
              <a:defRPr/>
            </a:pPr>
            <a:r>
              <a:rPr lang="en-US" dirty="0"/>
              <a:t>…CON’T</a:t>
            </a:r>
          </a:p>
        </p:txBody>
      </p:sp>
      <p:sp>
        <p:nvSpPr>
          <p:cNvPr id="37891" name="Content Placeholder 2"/>
          <p:cNvSpPr>
            <a:spLocks noGrp="1"/>
          </p:cNvSpPr>
          <p:nvPr>
            <p:ph sz="quarter" idx="1"/>
          </p:nvPr>
        </p:nvSpPr>
        <p:spPr>
          <a:xfrm>
            <a:off x="458908" y="1276032"/>
            <a:ext cx="7467600" cy="5508625"/>
          </a:xfrm>
        </p:spPr>
        <p:txBody>
          <a:bodyPr/>
          <a:lstStyle/>
          <a:p>
            <a:r>
              <a:rPr lang="en-US" i="1" dirty="0"/>
              <a:t>Granularity of data items</a:t>
            </a:r>
          </a:p>
          <a:p>
            <a:endParaRPr lang="en-US" dirty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C0A1BA38-178A-4D3B-935F-0CD1D7E94657}" type="slidenum">
              <a:rPr lang="en-US" smtClean="0">
                <a:solidFill>
                  <a:srgbClr val="FFFFFF"/>
                </a:solidFill>
              </a:rPr>
              <a:pPr/>
              <a:t>31</a:t>
            </a:fld>
            <a:endParaRPr lang="en-US">
              <a:solidFill>
                <a:srgbClr val="FFFFFF"/>
              </a:solidFill>
            </a:endParaRPr>
          </a:p>
        </p:txBody>
      </p:sp>
      <p:grpSp>
        <p:nvGrpSpPr>
          <p:cNvPr id="37893" name="Group 75"/>
          <p:cNvGrpSpPr>
            <a:grpSpLocks/>
          </p:cNvGrpSpPr>
          <p:nvPr/>
        </p:nvGrpSpPr>
        <p:grpSpPr bwMode="auto">
          <a:xfrm>
            <a:off x="3429000" y="1484312"/>
            <a:ext cx="4017963" cy="5449888"/>
            <a:chOff x="0" y="0"/>
            <a:chExt cx="4018439" cy="5717187"/>
          </a:xfrm>
        </p:grpSpPr>
        <p:sp>
          <p:nvSpPr>
            <p:cNvPr id="77" name="Rectangle 76"/>
            <p:cNvSpPr/>
            <p:nvPr/>
          </p:nvSpPr>
          <p:spPr>
            <a:xfrm>
              <a:off x="0" y="0"/>
              <a:ext cx="53981" cy="214832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250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78" name="Shape 84504"/>
            <p:cNvSpPr/>
            <p:nvPr/>
          </p:nvSpPr>
          <p:spPr>
            <a:xfrm>
              <a:off x="0" y="5404099"/>
              <a:ext cx="3953343" cy="9992"/>
            </a:xfrm>
            <a:custGeom>
              <a:avLst/>
              <a:gdLst/>
              <a:ahLst/>
              <a:cxnLst/>
              <a:rect l="0" t="0" r="0" b="0"/>
              <a:pathLst>
                <a:path w="3953256" h="9144">
                  <a:moveTo>
                    <a:pt x="0" y="0"/>
                  </a:moveTo>
                  <a:lnTo>
                    <a:pt x="3953256" y="0"/>
                  </a:lnTo>
                  <a:lnTo>
                    <a:pt x="3953256" y="9144"/>
                  </a:lnTo>
                  <a:lnTo>
                    <a:pt x="0" y="9144"/>
                  </a:lnTo>
                  <a:lnTo>
                    <a:pt x="0" y="0"/>
                  </a:lnTo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000000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79" name="Rectangle 78"/>
            <p:cNvSpPr/>
            <p:nvPr/>
          </p:nvSpPr>
          <p:spPr>
            <a:xfrm>
              <a:off x="3956519" y="5244224"/>
              <a:ext cx="61920" cy="24980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50" b="1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0" name="Rectangle 79"/>
            <p:cNvSpPr/>
            <p:nvPr/>
          </p:nvSpPr>
          <p:spPr>
            <a:xfrm>
              <a:off x="2240228" y="5467383"/>
              <a:ext cx="61919" cy="249804"/>
            </a:xfrm>
            <a:prstGeom prst="rect">
              <a:avLst/>
            </a:prstGeom>
            <a:ln>
              <a:noFill/>
            </a:ln>
          </p:spPr>
          <p:txBody>
            <a:bodyPr lIns="0" tIns="0" rIns="0" bIns="0"/>
            <a:lstStyle/>
            <a:p>
              <a:pPr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1450" i="1">
                  <a:solidFill>
                    <a:srgbClr val="000000"/>
                  </a:solidFill>
                  <a:latin typeface="Book Antiqua" panose="02040602050305030304" pitchFamily="18" charset="0"/>
                  <a:ea typeface="Book Antiqua" panose="02040602050305030304" pitchFamily="18" charset="0"/>
                  <a:cs typeface="Book Antiqua" panose="02040602050305030304" pitchFamily="18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81" name="Shape 3397"/>
            <p:cNvSpPr/>
            <p:nvPr/>
          </p:nvSpPr>
          <p:spPr>
            <a:xfrm>
              <a:off x="2633975" y="3570535"/>
              <a:ext cx="188934" cy="1602078"/>
            </a:xfrm>
            <a:custGeom>
              <a:avLst/>
              <a:gdLst/>
              <a:ahLst/>
              <a:cxnLst/>
              <a:rect l="0" t="0" r="0" b="0"/>
              <a:pathLst>
                <a:path w="188976" h="1603249">
                  <a:moveTo>
                    <a:pt x="188976" y="1603249"/>
                  </a:moveTo>
                  <a:lnTo>
                    <a:pt x="0" y="1603249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2" name="Shape 3398"/>
            <p:cNvSpPr/>
            <p:nvPr/>
          </p:nvSpPr>
          <p:spPr>
            <a:xfrm>
              <a:off x="2633975" y="3570535"/>
              <a:ext cx="188934" cy="1002548"/>
            </a:xfrm>
            <a:custGeom>
              <a:avLst/>
              <a:gdLst/>
              <a:ahLst/>
              <a:cxnLst/>
              <a:rect l="0" t="0" r="0" b="0"/>
              <a:pathLst>
                <a:path w="188976" h="1002792">
                  <a:moveTo>
                    <a:pt x="188976" y="1002792"/>
                  </a:moveTo>
                  <a:lnTo>
                    <a:pt x="0" y="1002792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3" name="Shape 3399"/>
            <p:cNvSpPr/>
            <p:nvPr/>
          </p:nvSpPr>
          <p:spPr>
            <a:xfrm>
              <a:off x="2633975" y="3570535"/>
              <a:ext cx="188934" cy="401353"/>
            </a:xfrm>
            <a:custGeom>
              <a:avLst/>
              <a:gdLst/>
              <a:ahLst/>
              <a:cxnLst/>
              <a:rect l="0" t="0" r="0" b="0"/>
              <a:pathLst>
                <a:path w="188976" h="402337">
                  <a:moveTo>
                    <a:pt x="188976" y="402337"/>
                  </a:moveTo>
                  <a:lnTo>
                    <a:pt x="0" y="402337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4" name="Shape 3400"/>
            <p:cNvSpPr/>
            <p:nvPr/>
          </p:nvSpPr>
          <p:spPr>
            <a:xfrm>
              <a:off x="1882998" y="1768614"/>
              <a:ext cx="188935" cy="1603744"/>
            </a:xfrm>
            <a:custGeom>
              <a:avLst/>
              <a:gdLst/>
              <a:ahLst/>
              <a:cxnLst/>
              <a:rect l="0" t="0" r="0" b="0"/>
              <a:pathLst>
                <a:path w="188976" h="1603248">
                  <a:moveTo>
                    <a:pt x="188976" y="1603248"/>
                  </a:moveTo>
                  <a:lnTo>
                    <a:pt x="0" y="1603248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5" name="Shape 3401"/>
            <p:cNvSpPr/>
            <p:nvPr/>
          </p:nvSpPr>
          <p:spPr>
            <a:xfrm>
              <a:off x="1882998" y="1768614"/>
              <a:ext cx="188935" cy="1002548"/>
            </a:xfrm>
            <a:custGeom>
              <a:avLst/>
              <a:gdLst/>
              <a:ahLst/>
              <a:cxnLst/>
              <a:rect l="0" t="0" r="0" b="0"/>
              <a:pathLst>
                <a:path w="188976" h="1002792">
                  <a:moveTo>
                    <a:pt x="188976" y="1002792"/>
                  </a:moveTo>
                  <a:lnTo>
                    <a:pt x="0" y="1002792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6" name="Shape 3402"/>
            <p:cNvSpPr/>
            <p:nvPr/>
          </p:nvSpPr>
          <p:spPr>
            <a:xfrm>
              <a:off x="1882998" y="1768614"/>
              <a:ext cx="188935" cy="403018"/>
            </a:xfrm>
            <a:custGeom>
              <a:avLst/>
              <a:gdLst/>
              <a:ahLst/>
              <a:cxnLst/>
              <a:rect l="0" t="0" r="0" b="0"/>
              <a:pathLst>
                <a:path w="188976" h="402336">
                  <a:moveTo>
                    <a:pt x="188976" y="402336"/>
                  </a:moveTo>
                  <a:lnTo>
                    <a:pt x="0" y="402336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7" name="Shape 3403"/>
            <p:cNvSpPr/>
            <p:nvPr/>
          </p:nvSpPr>
          <p:spPr>
            <a:xfrm>
              <a:off x="1882998" y="1167419"/>
              <a:ext cx="1314606" cy="201508"/>
            </a:xfrm>
            <a:custGeom>
              <a:avLst/>
              <a:gdLst/>
              <a:ahLst/>
              <a:cxnLst/>
              <a:rect l="0" t="0" r="0" b="0"/>
              <a:pathLst>
                <a:path w="1313688" h="201168">
                  <a:moveTo>
                    <a:pt x="1313688" y="201168"/>
                  </a:moveTo>
                  <a:lnTo>
                    <a:pt x="1313688" y="100584"/>
                  </a:lnTo>
                  <a:lnTo>
                    <a:pt x="0" y="100584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8" name="Shape 3404"/>
            <p:cNvSpPr/>
            <p:nvPr/>
          </p:nvSpPr>
          <p:spPr>
            <a:xfrm>
              <a:off x="1882998" y="1167419"/>
              <a:ext cx="0" cy="201508"/>
            </a:xfrm>
            <a:custGeom>
              <a:avLst/>
              <a:gdLst/>
              <a:ahLst/>
              <a:cxnLst/>
              <a:rect l="0" t="0" r="0" b="0"/>
              <a:pathLst>
                <a:path h="201168">
                  <a:moveTo>
                    <a:pt x="0" y="201168"/>
                  </a:moveTo>
                  <a:lnTo>
                    <a:pt x="0" y="100584"/>
                  </a:lnTo>
                  <a:lnTo>
                    <a:pt x="0" y="100584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89" name="Shape 3405"/>
            <p:cNvSpPr/>
            <p:nvPr/>
          </p:nvSpPr>
          <p:spPr>
            <a:xfrm>
              <a:off x="569981" y="1167419"/>
              <a:ext cx="1313018" cy="201508"/>
            </a:xfrm>
            <a:custGeom>
              <a:avLst/>
              <a:gdLst/>
              <a:ahLst/>
              <a:cxnLst/>
              <a:rect l="0" t="0" r="0" b="0"/>
              <a:pathLst>
                <a:path w="1313688" h="201168">
                  <a:moveTo>
                    <a:pt x="0" y="201168"/>
                  </a:moveTo>
                  <a:lnTo>
                    <a:pt x="0" y="100584"/>
                  </a:lnTo>
                  <a:lnTo>
                    <a:pt x="1313688" y="100584"/>
                  </a:lnTo>
                  <a:lnTo>
                    <a:pt x="1313688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0" name="Shape 3406"/>
            <p:cNvSpPr/>
            <p:nvPr/>
          </p:nvSpPr>
          <p:spPr>
            <a:xfrm>
              <a:off x="1882998" y="567889"/>
              <a:ext cx="1317781" cy="201508"/>
            </a:xfrm>
            <a:custGeom>
              <a:avLst/>
              <a:gdLst/>
              <a:ahLst/>
              <a:cxnLst/>
              <a:rect l="0" t="0" r="0" b="0"/>
              <a:pathLst>
                <a:path w="1316736" h="201168">
                  <a:moveTo>
                    <a:pt x="1316736" y="201168"/>
                  </a:moveTo>
                  <a:lnTo>
                    <a:pt x="1316736" y="100584"/>
                  </a:lnTo>
                  <a:lnTo>
                    <a:pt x="0" y="100584"/>
                  </a:lnTo>
                  <a:lnTo>
                    <a:pt x="0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1" name="Shape 3407"/>
            <p:cNvSpPr/>
            <p:nvPr/>
          </p:nvSpPr>
          <p:spPr>
            <a:xfrm>
              <a:off x="1882998" y="567889"/>
              <a:ext cx="0" cy="201508"/>
            </a:xfrm>
            <a:custGeom>
              <a:avLst/>
              <a:gdLst/>
              <a:ahLst/>
              <a:cxnLst/>
              <a:rect l="0" t="0" r="0" b="0"/>
              <a:pathLst>
                <a:path h="201168">
                  <a:moveTo>
                    <a:pt x="0" y="201168"/>
                  </a:moveTo>
                  <a:lnTo>
                    <a:pt x="0" y="0"/>
                  </a:lnTo>
                </a:path>
              </a:pathLst>
            </a:custGeom>
            <a:ln w="27432" cap="flat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2" name="Shape 3408"/>
            <p:cNvSpPr/>
            <p:nvPr/>
          </p:nvSpPr>
          <p:spPr>
            <a:xfrm>
              <a:off x="569981" y="567889"/>
              <a:ext cx="1313018" cy="201508"/>
            </a:xfrm>
            <a:custGeom>
              <a:avLst/>
              <a:gdLst/>
              <a:ahLst/>
              <a:cxnLst/>
              <a:rect l="0" t="0" r="0" b="0"/>
              <a:pathLst>
                <a:path w="1313688" h="201168">
                  <a:moveTo>
                    <a:pt x="0" y="201168"/>
                  </a:moveTo>
                  <a:lnTo>
                    <a:pt x="0" y="100584"/>
                  </a:lnTo>
                  <a:lnTo>
                    <a:pt x="1313688" y="100584"/>
                  </a:lnTo>
                  <a:lnTo>
                    <a:pt x="1313688" y="0"/>
                  </a:lnTo>
                </a:path>
              </a:pathLst>
            </a:custGeom>
            <a:ln w="27432" cap="flat">
              <a:miter lim="101600"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3" name="Shape 3409"/>
            <p:cNvSpPr/>
            <p:nvPr/>
          </p:nvSpPr>
          <p:spPr>
            <a:xfrm>
              <a:off x="1319369" y="168202"/>
              <a:ext cx="1128846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27432"/>
                    <a:pt x="1127760" y="67056"/>
                  </a:cubicBezTo>
                  <a:lnTo>
                    <a:pt x="1127760" y="332232"/>
                  </a:lnTo>
                  <a:cubicBezTo>
                    <a:pt x="1127760" y="368809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9"/>
                    <a:pt x="0" y="332232"/>
                  </a:cubicBezTo>
                  <a:lnTo>
                    <a:pt x="0" y="67056"/>
                  </a:lnTo>
                  <a:cubicBezTo>
                    <a:pt x="0" y="27432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4" name="Shape 3410"/>
            <p:cNvSpPr/>
            <p:nvPr/>
          </p:nvSpPr>
          <p:spPr>
            <a:xfrm>
              <a:off x="1319369" y="168202"/>
              <a:ext cx="1128846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27432"/>
                    <a:pt x="0" y="67056"/>
                  </a:cubicBezTo>
                  <a:lnTo>
                    <a:pt x="0" y="332232"/>
                  </a:lnTo>
                  <a:cubicBezTo>
                    <a:pt x="0" y="368809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9"/>
                    <a:pt x="1127760" y="332232"/>
                  </a:cubicBezTo>
                  <a:lnTo>
                    <a:pt x="1127760" y="67056"/>
                  </a:lnTo>
                  <a:cubicBezTo>
                    <a:pt x="1127760" y="27432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12" name="Rectangle 94"/>
            <p:cNvSpPr>
              <a:spLocks noChangeArrowheads="1"/>
            </p:cNvSpPr>
            <p:nvPr/>
          </p:nvSpPr>
          <p:spPr bwMode="auto">
            <a:xfrm>
              <a:off x="1655064" y="219094"/>
              <a:ext cx="604588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Database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13" name="Rectangle 95"/>
            <p:cNvSpPr>
              <a:spLocks noChangeArrowheads="1"/>
            </p:cNvSpPr>
            <p:nvPr/>
          </p:nvSpPr>
          <p:spPr bwMode="auto">
            <a:xfrm>
              <a:off x="2109216" y="219094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97" name="Shape 3413"/>
            <p:cNvSpPr/>
            <p:nvPr/>
          </p:nvSpPr>
          <p:spPr>
            <a:xfrm>
              <a:off x="6351" y="769397"/>
              <a:ext cx="1127259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27432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27432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98" name="Shape 3414"/>
            <p:cNvSpPr/>
            <p:nvPr/>
          </p:nvSpPr>
          <p:spPr>
            <a:xfrm>
              <a:off x="6351" y="769397"/>
              <a:ext cx="1127259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27432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27432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16" name="Rectangle 98"/>
            <p:cNvSpPr>
              <a:spLocks noChangeArrowheads="1"/>
            </p:cNvSpPr>
            <p:nvPr/>
          </p:nvSpPr>
          <p:spPr bwMode="auto">
            <a:xfrm>
              <a:off x="441960" y="825646"/>
              <a:ext cx="334368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File1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17" name="Rectangle 99"/>
            <p:cNvSpPr>
              <a:spLocks noChangeArrowheads="1"/>
            </p:cNvSpPr>
            <p:nvPr/>
          </p:nvSpPr>
          <p:spPr bwMode="auto">
            <a:xfrm>
              <a:off x="697992" y="825646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01" name="Shape 3417"/>
            <p:cNvSpPr/>
            <p:nvPr/>
          </p:nvSpPr>
          <p:spPr>
            <a:xfrm>
              <a:off x="1319369" y="769397"/>
              <a:ext cx="1128846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2" name="Shape 3418"/>
            <p:cNvSpPr/>
            <p:nvPr/>
          </p:nvSpPr>
          <p:spPr>
            <a:xfrm>
              <a:off x="1319369" y="769397"/>
              <a:ext cx="1128846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20" name="Rectangle 102"/>
            <p:cNvSpPr>
              <a:spLocks noChangeArrowheads="1"/>
            </p:cNvSpPr>
            <p:nvPr/>
          </p:nvSpPr>
          <p:spPr bwMode="auto">
            <a:xfrm>
              <a:off x="1755648" y="825646"/>
              <a:ext cx="139182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21" name="Rectangle 103"/>
            <p:cNvSpPr>
              <a:spLocks noChangeArrowheads="1"/>
            </p:cNvSpPr>
            <p:nvPr/>
          </p:nvSpPr>
          <p:spPr bwMode="auto">
            <a:xfrm>
              <a:off x="1856232" y="825646"/>
              <a:ext cx="204465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le2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22" name="Rectangle 104"/>
            <p:cNvSpPr>
              <a:spLocks noChangeArrowheads="1"/>
            </p:cNvSpPr>
            <p:nvPr/>
          </p:nvSpPr>
          <p:spPr bwMode="auto">
            <a:xfrm>
              <a:off x="2011680" y="825646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06" name="Shape 3422"/>
            <p:cNvSpPr/>
            <p:nvPr/>
          </p:nvSpPr>
          <p:spPr>
            <a:xfrm>
              <a:off x="2633975" y="769397"/>
              <a:ext cx="1127259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100328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100328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07" name="Shape 3423"/>
            <p:cNvSpPr/>
            <p:nvPr/>
          </p:nvSpPr>
          <p:spPr>
            <a:xfrm>
              <a:off x="2633975" y="769397"/>
              <a:ext cx="1127259" cy="398022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100328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100328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25" name="Rectangle 107"/>
            <p:cNvSpPr>
              <a:spLocks noChangeArrowheads="1"/>
            </p:cNvSpPr>
            <p:nvPr/>
          </p:nvSpPr>
          <p:spPr bwMode="auto">
            <a:xfrm>
              <a:off x="3069336" y="825646"/>
              <a:ext cx="338179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File3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26" name="Rectangle 108"/>
            <p:cNvSpPr>
              <a:spLocks noChangeArrowheads="1"/>
            </p:cNvSpPr>
            <p:nvPr/>
          </p:nvSpPr>
          <p:spPr bwMode="auto">
            <a:xfrm>
              <a:off x="3325368" y="825646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10" name="Shape 3426"/>
            <p:cNvSpPr/>
            <p:nvPr/>
          </p:nvSpPr>
          <p:spPr>
            <a:xfrm>
              <a:off x="6351" y="1368927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1" name="Shape 3427"/>
            <p:cNvSpPr/>
            <p:nvPr/>
          </p:nvSpPr>
          <p:spPr>
            <a:xfrm>
              <a:off x="6351" y="1368927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29" name="Rectangle 111"/>
            <p:cNvSpPr>
              <a:spLocks noChangeArrowheads="1"/>
            </p:cNvSpPr>
            <p:nvPr/>
          </p:nvSpPr>
          <p:spPr bwMode="auto">
            <a:xfrm>
              <a:off x="417576" y="1423054"/>
              <a:ext cx="402965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Page1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30" name="Rectangle 112"/>
            <p:cNvSpPr>
              <a:spLocks noChangeArrowheads="1"/>
            </p:cNvSpPr>
            <p:nvPr/>
          </p:nvSpPr>
          <p:spPr bwMode="auto">
            <a:xfrm>
              <a:off x="722376" y="1423054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14" name="Shape 3430"/>
            <p:cNvSpPr/>
            <p:nvPr/>
          </p:nvSpPr>
          <p:spPr>
            <a:xfrm>
              <a:off x="1319369" y="1368927"/>
              <a:ext cx="1128846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5" name="Shape 3431"/>
            <p:cNvSpPr/>
            <p:nvPr/>
          </p:nvSpPr>
          <p:spPr>
            <a:xfrm>
              <a:off x="1319369" y="1368927"/>
              <a:ext cx="1128846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33" name="Rectangle 115"/>
            <p:cNvSpPr>
              <a:spLocks noChangeArrowheads="1"/>
            </p:cNvSpPr>
            <p:nvPr/>
          </p:nvSpPr>
          <p:spPr bwMode="auto">
            <a:xfrm>
              <a:off x="1731264" y="1423054"/>
              <a:ext cx="402965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Page2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34" name="Rectangle 116"/>
            <p:cNvSpPr>
              <a:spLocks noChangeArrowheads="1"/>
            </p:cNvSpPr>
            <p:nvPr/>
          </p:nvSpPr>
          <p:spPr bwMode="auto">
            <a:xfrm>
              <a:off x="2036064" y="1423054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18" name="Shape 3434"/>
            <p:cNvSpPr/>
            <p:nvPr/>
          </p:nvSpPr>
          <p:spPr>
            <a:xfrm>
              <a:off x="2633975" y="1368927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2232"/>
                  </a:lnTo>
                  <a:cubicBezTo>
                    <a:pt x="1127760" y="368808"/>
                    <a:pt x="1097280" y="399288"/>
                    <a:pt x="1060704" y="399288"/>
                  </a:cubicBezTo>
                  <a:lnTo>
                    <a:pt x="67056" y="399288"/>
                  </a:lnTo>
                  <a:cubicBezTo>
                    <a:pt x="30480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9" name="Shape 3435"/>
            <p:cNvSpPr/>
            <p:nvPr/>
          </p:nvSpPr>
          <p:spPr>
            <a:xfrm>
              <a:off x="2633975" y="1368927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8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30480" y="399288"/>
                    <a:pt x="67056" y="399288"/>
                  </a:cubicBezTo>
                  <a:lnTo>
                    <a:pt x="1060704" y="399288"/>
                  </a:lnTo>
                  <a:cubicBezTo>
                    <a:pt x="1097280" y="399288"/>
                    <a:pt x="1127760" y="368808"/>
                    <a:pt x="1127760" y="332232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37" name="Rectangle 119"/>
            <p:cNvSpPr>
              <a:spLocks noChangeArrowheads="1"/>
            </p:cNvSpPr>
            <p:nvPr/>
          </p:nvSpPr>
          <p:spPr bwMode="auto">
            <a:xfrm>
              <a:off x="3048000" y="1423054"/>
              <a:ext cx="399154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Page3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38" name="Rectangle 120"/>
            <p:cNvSpPr>
              <a:spLocks noChangeArrowheads="1"/>
            </p:cNvSpPr>
            <p:nvPr/>
          </p:nvSpPr>
          <p:spPr bwMode="auto">
            <a:xfrm>
              <a:off x="3349752" y="1423054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22" name="Shape 3438"/>
            <p:cNvSpPr/>
            <p:nvPr/>
          </p:nvSpPr>
          <p:spPr>
            <a:xfrm>
              <a:off x="2071933" y="1970123"/>
              <a:ext cx="1125670" cy="398021"/>
            </a:xfrm>
            <a:custGeom>
              <a:avLst/>
              <a:gdLst/>
              <a:ahLst/>
              <a:cxnLst/>
              <a:rect l="0" t="0" r="0" b="0"/>
              <a:pathLst>
                <a:path w="1124712" h="399288">
                  <a:moveTo>
                    <a:pt x="64008" y="0"/>
                  </a:moveTo>
                  <a:lnTo>
                    <a:pt x="1057656" y="0"/>
                  </a:lnTo>
                  <a:cubicBezTo>
                    <a:pt x="1094232" y="0"/>
                    <a:pt x="1124712" y="30480"/>
                    <a:pt x="1124712" y="67056"/>
                  </a:cubicBezTo>
                  <a:lnTo>
                    <a:pt x="1124712" y="332232"/>
                  </a:lnTo>
                  <a:cubicBezTo>
                    <a:pt x="1124712" y="371856"/>
                    <a:pt x="1094232" y="399288"/>
                    <a:pt x="1057656" y="399288"/>
                  </a:cubicBezTo>
                  <a:lnTo>
                    <a:pt x="64008" y="399288"/>
                  </a:lnTo>
                  <a:cubicBezTo>
                    <a:pt x="27432" y="399288"/>
                    <a:pt x="0" y="371856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27432" y="0"/>
                    <a:pt x="6400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3" name="Shape 3439"/>
            <p:cNvSpPr/>
            <p:nvPr/>
          </p:nvSpPr>
          <p:spPr>
            <a:xfrm>
              <a:off x="2071933" y="1970123"/>
              <a:ext cx="1125670" cy="398021"/>
            </a:xfrm>
            <a:custGeom>
              <a:avLst/>
              <a:gdLst/>
              <a:ahLst/>
              <a:cxnLst/>
              <a:rect l="0" t="0" r="0" b="0"/>
              <a:pathLst>
                <a:path w="1124712" h="399288">
                  <a:moveTo>
                    <a:pt x="64008" y="0"/>
                  </a:moveTo>
                  <a:cubicBezTo>
                    <a:pt x="27432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71856"/>
                    <a:pt x="27432" y="399288"/>
                    <a:pt x="64008" y="399288"/>
                  </a:cubicBezTo>
                  <a:lnTo>
                    <a:pt x="1057656" y="399288"/>
                  </a:lnTo>
                  <a:cubicBezTo>
                    <a:pt x="1094232" y="399288"/>
                    <a:pt x="1124712" y="371856"/>
                    <a:pt x="1124712" y="332232"/>
                  </a:cubicBezTo>
                  <a:lnTo>
                    <a:pt x="1124712" y="67056"/>
                  </a:lnTo>
                  <a:cubicBezTo>
                    <a:pt x="1124712" y="30480"/>
                    <a:pt x="1094232" y="0"/>
                    <a:pt x="1057656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41" name="Rectangle 123"/>
            <p:cNvSpPr>
              <a:spLocks noChangeArrowheads="1"/>
            </p:cNvSpPr>
            <p:nvPr/>
          </p:nvSpPr>
          <p:spPr bwMode="auto">
            <a:xfrm>
              <a:off x="2423160" y="2026558"/>
              <a:ext cx="557556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Record1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42" name="Rectangle 124"/>
            <p:cNvSpPr>
              <a:spLocks noChangeArrowheads="1"/>
            </p:cNvSpPr>
            <p:nvPr/>
          </p:nvSpPr>
          <p:spPr bwMode="auto">
            <a:xfrm>
              <a:off x="2840736" y="2026558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26" name="Shape 3442"/>
            <p:cNvSpPr/>
            <p:nvPr/>
          </p:nvSpPr>
          <p:spPr>
            <a:xfrm>
              <a:off x="2071933" y="2569654"/>
              <a:ext cx="1125670" cy="399687"/>
            </a:xfrm>
            <a:custGeom>
              <a:avLst/>
              <a:gdLst/>
              <a:ahLst/>
              <a:cxnLst/>
              <a:rect l="0" t="0" r="0" b="0"/>
              <a:pathLst>
                <a:path w="1124712" h="399288">
                  <a:moveTo>
                    <a:pt x="64008" y="0"/>
                  </a:moveTo>
                  <a:lnTo>
                    <a:pt x="1057656" y="0"/>
                  </a:lnTo>
                  <a:cubicBezTo>
                    <a:pt x="1094232" y="0"/>
                    <a:pt x="1124712" y="30480"/>
                    <a:pt x="1124712" y="67056"/>
                  </a:cubicBezTo>
                  <a:lnTo>
                    <a:pt x="1124712" y="332232"/>
                  </a:lnTo>
                  <a:cubicBezTo>
                    <a:pt x="1124712" y="368808"/>
                    <a:pt x="1094232" y="399288"/>
                    <a:pt x="1057656" y="399288"/>
                  </a:cubicBezTo>
                  <a:lnTo>
                    <a:pt x="64008" y="399288"/>
                  </a:lnTo>
                  <a:cubicBezTo>
                    <a:pt x="27432" y="399288"/>
                    <a:pt x="0" y="368808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27432" y="0"/>
                    <a:pt x="6400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7" name="Shape 3443"/>
            <p:cNvSpPr/>
            <p:nvPr/>
          </p:nvSpPr>
          <p:spPr>
            <a:xfrm>
              <a:off x="2071933" y="2569654"/>
              <a:ext cx="1125670" cy="399687"/>
            </a:xfrm>
            <a:custGeom>
              <a:avLst/>
              <a:gdLst/>
              <a:ahLst/>
              <a:cxnLst/>
              <a:rect l="0" t="0" r="0" b="0"/>
              <a:pathLst>
                <a:path w="1124712" h="399288">
                  <a:moveTo>
                    <a:pt x="64008" y="0"/>
                  </a:moveTo>
                  <a:cubicBezTo>
                    <a:pt x="27432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68808"/>
                    <a:pt x="27432" y="399288"/>
                    <a:pt x="64008" y="399288"/>
                  </a:cubicBezTo>
                  <a:lnTo>
                    <a:pt x="1057656" y="399288"/>
                  </a:lnTo>
                  <a:cubicBezTo>
                    <a:pt x="1094232" y="399288"/>
                    <a:pt x="1124712" y="368808"/>
                    <a:pt x="1124712" y="332232"/>
                  </a:cubicBezTo>
                  <a:lnTo>
                    <a:pt x="1124712" y="67056"/>
                  </a:lnTo>
                  <a:cubicBezTo>
                    <a:pt x="1124712" y="30480"/>
                    <a:pt x="1094232" y="0"/>
                    <a:pt x="1057656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45" name="Rectangle 127"/>
            <p:cNvSpPr>
              <a:spLocks noChangeArrowheads="1"/>
            </p:cNvSpPr>
            <p:nvPr/>
          </p:nvSpPr>
          <p:spPr bwMode="auto">
            <a:xfrm>
              <a:off x="2423160" y="2623966"/>
              <a:ext cx="557556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Record2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46" name="Rectangle 128"/>
            <p:cNvSpPr>
              <a:spLocks noChangeArrowheads="1"/>
            </p:cNvSpPr>
            <p:nvPr/>
          </p:nvSpPr>
          <p:spPr bwMode="auto">
            <a:xfrm>
              <a:off x="2840736" y="2623966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30" name="Shape 3446"/>
            <p:cNvSpPr/>
            <p:nvPr/>
          </p:nvSpPr>
          <p:spPr>
            <a:xfrm>
              <a:off x="2071933" y="3170849"/>
              <a:ext cx="1125670" cy="399687"/>
            </a:xfrm>
            <a:custGeom>
              <a:avLst/>
              <a:gdLst/>
              <a:ahLst/>
              <a:cxnLst/>
              <a:rect l="0" t="0" r="0" b="0"/>
              <a:pathLst>
                <a:path w="1124712" h="399287">
                  <a:moveTo>
                    <a:pt x="64008" y="0"/>
                  </a:moveTo>
                  <a:lnTo>
                    <a:pt x="1057656" y="0"/>
                  </a:lnTo>
                  <a:cubicBezTo>
                    <a:pt x="1094232" y="0"/>
                    <a:pt x="1124712" y="30480"/>
                    <a:pt x="1124712" y="67056"/>
                  </a:cubicBezTo>
                  <a:lnTo>
                    <a:pt x="1124712" y="332232"/>
                  </a:lnTo>
                  <a:cubicBezTo>
                    <a:pt x="1124712" y="371856"/>
                    <a:pt x="1094232" y="399287"/>
                    <a:pt x="1057656" y="399287"/>
                  </a:cubicBezTo>
                  <a:lnTo>
                    <a:pt x="64008" y="399287"/>
                  </a:lnTo>
                  <a:cubicBezTo>
                    <a:pt x="27432" y="399287"/>
                    <a:pt x="0" y="371856"/>
                    <a:pt x="0" y="332232"/>
                  </a:cubicBezTo>
                  <a:lnTo>
                    <a:pt x="0" y="67056"/>
                  </a:lnTo>
                  <a:cubicBezTo>
                    <a:pt x="0" y="30480"/>
                    <a:pt x="27432" y="0"/>
                    <a:pt x="64008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1" name="Shape 3447"/>
            <p:cNvSpPr/>
            <p:nvPr/>
          </p:nvSpPr>
          <p:spPr>
            <a:xfrm>
              <a:off x="2071933" y="3170849"/>
              <a:ext cx="1125670" cy="399687"/>
            </a:xfrm>
            <a:custGeom>
              <a:avLst/>
              <a:gdLst/>
              <a:ahLst/>
              <a:cxnLst/>
              <a:rect l="0" t="0" r="0" b="0"/>
              <a:pathLst>
                <a:path w="1124712" h="399287">
                  <a:moveTo>
                    <a:pt x="64008" y="0"/>
                  </a:moveTo>
                  <a:cubicBezTo>
                    <a:pt x="27432" y="0"/>
                    <a:pt x="0" y="30480"/>
                    <a:pt x="0" y="67056"/>
                  </a:cubicBezTo>
                  <a:lnTo>
                    <a:pt x="0" y="332232"/>
                  </a:lnTo>
                  <a:cubicBezTo>
                    <a:pt x="0" y="371856"/>
                    <a:pt x="27432" y="399287"/>
                    <a:pt x="64008" y="399287"/>
                  </a:cubicBezTo>
                  <a:lnTo>
                    <a:pt x="1057656" y="399287"/>
                  </a:lnTo>
                  <a:cubicBezTo>
                    <a:pt x="1094232" y="399287"/>
                    <a:pt x="1124712" y="371856"/>
                    <a:pt x="1124712" y="332232"/>
                  </a:cubicBezTo>
                  <a:lnTo>
                    <a:pt x="1124712" y="67056"/>
                  </a:lnTo>
                  <a:cubicBezTo>
                    <a:pt x="1124712" y="30480"/>
                    <a:pt x="1094232" y="0"/>
                    <a:pt x="1057656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49" name="Rectangle 131"/>
            <p:cNvSpPr>
              <a:spLocks noChangeArrowheads="1"/>
            </p:cNvSpPr>
            <p:nvPr/>
          </p:nvSpPr>
          <p:spPr bwMode="auto">
            <a:xfrm>
              <a:off x="2423160" y="3221375"/>
              <a:ext cx="557556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Record3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50" name="Rectangle 132"/>
            <p:cNvSpPr>
              <a:spLocks noChangeArrowheads="1"/>
            </p:cNvSpPr>
            <p:nvPr/>
          </p:nvSpPr>
          <p:spPr bwMode="auto">
            <a:xfrm>
              <a:off x="2840736" y="3221375"/>
              <a:ext cx="41423" cy="1506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34" name="Shape 3450"/>
            <p:cNvSpPr/>
            <p:nvPr/>
          </p:nvSpPr>
          <p:spPr>
            <a:xfrm>
              <a:off x="2822909" y="3770379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7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5280"/>
                  </a:lnTo>
                  <a:cubicBezTo>
                    <a:pt x="1127760" y="371856"/>
                    <a:pt x="1097280" y="399287"/>
                    <a:pt x="1060704" y="399287"/>
                  </a:cubicBezTo>
                  <a:lnTo>
                    <a:pt x="67056" y="399287"/>
                  </a:lnTo>
                  <a:cubicBezTo>
                    <a:pt x="30480" y="399287"/>
                    <a:pt x="0" y="371856"/>
                    <a:pt x="0" y="335280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5" name="Shape 3451"/>
            <p:cNvSpPr/>
            <p:nvPr/>
          </p:nvSpPr>
          <p:spPr>
            <a:xfrm>
              <a:off x="2822909" y="3770379"/>
              <a:ext cx="1127259" cy="399687"/>
            </a:xfrm>
            <a:custGeom>
              <a:avLst/>
              <a:gdLst/>
              <a:ahLst/>
              <a:cxnLst/>
              <a:rect l="0" t="0" r="0" b="0"/>
              <a:pathLst>
                <a:path w="1127760" h="399287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5280"/>
                  </a:lnTo>
                  <a:cubicBezTo>
                    <a:pt x="0" y="371856"/>
                    <a:pt x="30480" y="399287"/>
                    <a:pt x="67056" y="399287"/>
                  </a:cubicBezTo>
                  <a:lnTo>
                    <a:pt x="1060704" y="399287"/>
                  </a:lnTo>
                  <a:cubicBezTo>
                    <a:pt x="1097280" y="399287"/>
                    <a:pt x="1127760" y="371856"/>
                    <a:pt x="1127760" y="335280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53" name="Rectangle 135"/>
            <p:cNvSpPr>
              <a:spLocks noChangeArrowheads="1"/>
            </p:cNvSpPr>
            <p:nvPr/>
          </p:nvSpPr>
          <p:spPr bwMode="auto">
            <a:xfrm>
              <a:off x="3227832" y="3824878"/>
              <a:ext cx="419368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Field1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54" name="Rectangle 136"/>
            <p:cNvSpPr>
              <a:spLocks noChangeArrowheads="1"/>
            </p:cNvSpPr>
            <p:nvPr/>
          </p:nvSpPr>
          <p:spPr bwMode="auto">
            <a:xfrm>
              <a:off x="3541776" y="3824878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38" name="Shape 3454"/>
            <p:cNvSpPr/>
            <p:nvPr/>
          </p:nvSpPr>
          <p:spPr>
            <a:xfrm>
              <a:off x="2822909" y="4371575"/>
              <a:ext cx="1127259" cy="403018"/>
            </a:xfrm>
            <a:custGeom>
              <a:avLst/>
              <a:gdLst/>
              <a:ahLst/>
              <a:cxnLst/>
              <a:rect l="0" t="0" r="0" b="0"/>
              <a:pathLst>
                <a:path w="1127760" h="402336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5280"/>
                  </a:lnTo>
                  <a:cubicBezTo>
                    <a:pt x="1127760" y="371856"/>
                    <a:pt x="1097280" y="402336"/>
                    <a:pt x="1060704" y="402336"/>
                  </a:cubicBezTo>
                  <a:lnTo>
                    <a:pt x="67056" y="402336"/>
                  </a:lnTo>
                  <a:cubicBezTo>
                    <a:pt x="30480" y="402336"/>
                    <a:pt x="0" y="371856"/>
                    <a:pt x="0" y="335280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9" name="Shape 3455"/>
            <p:cNvSpPr/>
            <p:nvPr/>
          </p:nvSpPr>
          <p:spPr>
            <a:xfrm>
              <a:off x="2822909" y="4371575"/>
              <a:ext cx="1127259" cy="403018"/>
            </a:xfrm>
            <a:custGeom>
              <a:avLst/>
              <a:gdLst/>
              <a:ahLst/>
              <a:cxnLst/>
              <a:rect l="0" t="0" r="0" b="0"/>
              <a:pathLst>
                <a:path w="1127760" h="402336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5280"/>
                  </a:lnTo>
                  <a:cubicBezTo>
                    <a:pt x="0" y="371856"/>
                    <a:pt x="30480" y="402336"/>
                    <a:pt x="67056" y="402336"/>
                  </a:cubicBezTo>
                  <a:lnTo>
                    <a:pt x="1060704" y="402336"/>
                  </a:lnTo>
                  <a:cubicBezTo>
                    <a:pt x="1097280" y="402336"/>
                    <a:pt x="1127760" y="371856"/>
                    <a:pt x="1127760" y="335280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57" name="Rectangle 139"/>
            <p:cNvSpPr>
              <a:spLocks noChangeArrowheads="1"/>
            </p:cNvSpPr>
            <p:nvPr/>
          </p:nvSpPr>
          <p:spPr bwMode="auto">
            <a:xfrm>
              <a:off x="3233928" y="4425335"/>
              <a:ext cx="399154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Field2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58" name="Rectangle 140"/>
            <p:cNvSpPr>
              <a:spLocks noChangeArrowheads="1"/>
            </p:cNvSpPr>
            <p:nvPr/>
          </p:nvSpPr>
          <p:spPr bwMode="auto">
            <a:xfrm>
              <a:off x="3535680" y="4425335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142" name="Shape 3458"/>
            <p:cNvSpPr/>
            <p:nvPr/>
          </p:nvSpPr>
          <p:spPr>
            <a:xfrm>
              <a:off x="2822909" y="4971105"/>
              <a:ext cx="1127259" cy="403018"/>
            </a:xfrm>
            <a:custGeom>
              <a:avLst/>
              <a:gdLst/>
              <a:ahLst/>
              <a:cxnLst/>
              <a:rect l="0" t="0" r="0" b="0"/>
              <a:pathLst>
                <a:path w="1127760" h="402337">
                  <a:moveTo>
                    <a:pt x="67056" y="0"/>
                  </a:moveTo>
                  <a:lnTo>
                    <a:pt x="1060704" y="0"/>
                  </a:lnTo>
                  <a:cubicBezTo>
                    <a:pt x="1097280" y="0"/>
                    <a:pt x="1127760" y="30480"/>
                    <a:pt x="1127760" y="67056"/>
                  </a:cubicBezTo>
                  <a:lnTo>
                    <a:pt x="1127760" y="335280"/>
                  </a:lnTo>
                  <a:cubicBezTo>
                    <a:pt x="1127760" y="371856"/>
                    <a:pt x="1097280" y="402337"/>
                    <a:pt x="1060704" y="402337"/>
                  </a:cubicBezTo>
                  <a:lnTo>
                    <a:pt x="67056" y="402337"/>
                  </a:lnTo>
                  <a:cubicBezTo>
                    <a:pt x="30480" y="402337"/>
                    <a:pt x="0" y="371856"/>
                    <a:pt x="0" y="335280"/>
                  </a:cubicBezTo>
                  <a:lnTo>
                    <a:pt x="0" y="67056"/>
                  </a:lnTo>
                  <a:cubicBezTo>
                    <a:pt x="0" y="30480"/>
                    <a:pt x="30480" y="0"/>
                    <a:pt x="67056" y="0"/>
                  </a:cubicBezTo>
                  <a:close/>
                </a:path>
              </a:pathLst>
            </a:custGeom>
            <a:ln w="0" cap="flat">
              <a:miter lim="127000"/>
            </a:ln>
          </p:spPr>
          <p:style>
            <a:lnRef idx="0">
              <a:srgbClr val="000000"/>
            </a:lnRef>
            <a:fillRef idx="1">
              <a:srgbClr val="BBE0E3"/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3" name="Shape 3459"/>
            <p:cNvSpPr/>
            <p:nvPr/>
          </p:nvSpPr>
          <p:spPr>
            <a:xfrm>
              <a:off x="2822909" y="4971105"/>
              <a:ext cx="1127259" cy="403018"/>
            </a:xfrm>
            <a:custGeom>
              <a:avLst/>
              <a:gdLst/>
              <a:ahLst/>
              <a:cxnLst/>
              <a:rect l="0" t="0" r="0" b="0"/>
              <a:pathLst>
                <a:path w="1127760" h="402337">
                  <a:moveTo>
                    <a:pt x="67056" y="0"/>
                  </a:moveTo>
                  <a:cubicBezTo>
                    <a:pt x="30480" y="0"/>
                    <a:pt x="0" y="30480"/>
                    <a:pt x="0" y="67056"/>
                  </a:cubicBezTo>
                  <a:lnTo>
                    <a:pt x="0" y="335280"/>
                  </a:lnTo>
                  <a:cubicBezTo>
                    <a:pt x="0" y="371856"/>
                    <a:pt x="30480" y="402337"/>
                    <a:pt x="67056" y="402337"/>
                  </a:cubicBezTo>
                  <a:lnTo>
                    <a:pt x="1060704" y="402337"/>
                  </a:lnTo>
                  <a:cubicBezTo>
                    <a:pt x="1097280" y="402337"/>
                    <a:pt x="1127760" y="371856"/>
                    <a:pt x="1127760" y="335280"/>
                  </a:cubicBezTo>
                  <a:lnTo>
                    <a:pt x="1127760" y="67056"/>
                  </a:lnTo>
                  <a:cubicBezTo>
                    <a:pt x="1127760" y="30480"/>
                    <a:pt x="1097280" y="0"/>
                    <a:pt x="1060704" y="0"/>
                  </a:cubicBezTo>
                  <a:close/>
                </a:path>
              </a:pathLst>
            </a:custGeom>
            <a:ln w="9144" cap="rnd">
              <a:round/>
            </a:ln>
          </p:spPr>
          <p:style>
            <a:lnRef idx="1">
              <a:srgbClr val="000000"/>
            </a:lnRef>
            <a:fillRef idx="0">
              <a:srgbClr val="000000">
                <a:alpha val="0"/>
              </a:srgbClr>
            </a:fillRef>
            <a:effectRef idx="0">
              <a:scrgbClr r="0" g="0" b="0"/>
            </a:effectRef>
            <a:fontRef idx="none"/>
          </p:style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961" name="Rectangle 143"/>
            <p:cNvSpPr>
              <a:spLocks noChangeArrowheads="1"/>
            </p:cNvSpPr>
            <p:nvPr/>
          </p:nvSpPr>
          <p:spPr bwMode="auto">
            <a:xfrm>
              <a:off x="3227832" y="5028838"/>
              <a:ext cx="419368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Field3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  <p:sp>
          <p:nvSpPr>
            <p:cNvPr id="37962" name="Rectangle 144"/>
            <p:cNvSpPr>
              <a:spLocks noChangeArrowheads="1"/>
            </p:cNvSpPr>
            <p:nvPr/>
          </p:nvSpPr>
          <p:spPr bwMode="auto">
            <a:xfrm>
              <a:off x="3541776" y="5028838"/>
              <a:ext cx="41423" cy="15064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>
                <a:lnSpc>
                  <a:spcPct val="115000"/>
                </a:lnSpc>
              </a:pPr>
              <a:r>
                <a:rPr lang="en-US" sz="1000">
                  <a:solidFill>
                    <a:srgbClr val="000000"/>
                  </a:solidFill>
                  <a:latin typeface="Times New Roman" panose="02020603050405020304" pitchFamily="18" charset="0"/>
                  <a:ea typeface="Times New Roman" panose="02020603050405020304" pitchFamily="18" charset="0"/>
                  <a:cs typeface="Calibri" panose="020F0502020204030204" pitchFamily="34" charset="0"/>
                </a:rPr>
                <a:t> </a:t>
              </a:r>
              <a:endParaRPr lang="en-US" sz="1100">
                <a:solidFill>
                  <a:srgbClr val="000000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8249570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19900" b="1" dirty="0">
                <a:solidFill>
                  <a:schemeClr val="accent1"/>
                </a:solidFill>
              </a:rPr>
              <a:t>END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>
              <a:defRPr/>
            </a:pPr>
            <a:r>
              <a:rPr lang="en-US"/>
              <a:t>Transactions processing and concurrency Management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0054049"/>
      </p:ext>
    </p:extLst>
  </p:cSld>
  <p:clrMapOvr>
    <a:masterClrMapping/>
  </p:clrMapOvr>
  <p:transition spd="slow">
    <p:push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quity">
  <a:themeElements>
    <a:clrScheme name="Equity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0000"/>
                <a:satMod val="165000"/>
              </a:schemeClr>
            </a:gs>
            <a:gs pos="50000">
              <a:schemeClr val="phClr">
                <a:shade val="80000"/>
                <a:satMod val="155000"/>
              </a:schemeClr>
            </a:gs>
            <a:gs pos="100000">
              <a:schemeClr val="phClr">
                <a:tint val="95000"/>
                <a:satMod val="20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tint val="95000"/>
                <a:satMod val="200000"/>
              </a:schemeClr>
              <a:schemeClr val="phClr">
                <a:shade val="80000"/>
                <a:satMod val="100000"/>
              </a:schemeClr>
            </a:duotone>
          </a:blip>
          <a:tile tx="0" ty="0" sx="55000" sy="5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3834</TotalTime>
  <Words>3165</Words>
  <Application>Microsoft Office PowerPoint</Application>
  <PresentationFormat>On-screen Show (4:3)</PresentationFormat>
  <Paragraphs>388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2" baseType="lpstr">
      <vt:lpstr>Arial</vt:lpstr>
      <vt:lpstr>Book Antiqua</vt:lpstr>
      <vt:lpstr>Calibri</vt:lpstr>
      <vt:lpstr>Corbel</vt:lpstr>
      <vt:lpstr>Georgia</vt:lpstr>
      <vt:lpstr>Tahoma</vt:lpstr>
      <vt:lpstr>Times New Roman</vt:lpstr>
      <vt:lpstr>Wingdings</vt:lpstr>
      <vt:lpstr>Wingdings 2</vt:lpstr>
      <vt:lpstr>Equity</vt:lpstr>
      <vt:lpstr>Chapter 3 </vt:lpstr>
      <vt:lpstr>Concurrency Control</vt:lpstr>
      <vt:lpstr>…CON’T</vt:lpstr>
      <vt:lpstr>Locking Method </vt:lpstr>
      <vt:lpstr>Types of a Lock </vt:lpstr>
      <vt:lpstr>…CON’T</vt:lpstr>
      <vt:lpstr>Locking - Basic Rules </vt:lpstr>
      <vt:lpstr>…CON’T</vt:lpstr>
      <vt:lpstr>…CON’T</vt:lpstr>
      <vt:lpstr>…CON’T</vt:lpstr>
      <vt:lpstr>Two-Phase Locking (2PL) </vt:lpstr>
      <vt:lpstr>Guaranteeing Serializability by Two-Phase Locking</vt:lpstr>
      <vt:lpstr>Variations of Two-Phase Locking</vt:lpstr>
      <vt:lpstr>Variations of Two-Phase Locking (cont’d.)</vt:lpstr>
      <vt:lpstr>Locking methods: problems </vt:lpstr>
      <vt:lpstr>…CON’T</vt:lpstr>
      <vt:lpstr>…CON’T</vt:lpstr>
      <vt:lpstr>…CON’T</vt:lpstr>
      <vt:lpstr>…CON’T</vt:lpstr>
      <vt:lpstr>Time out </vt:lpstr>
      <vt:lpstr>…CON’T</vt:lpstr>
      <vt:lpstr>Time-stamping Method </vt:lpstr>
      <vt:lpstr>Starvation</vt:lpstr>
      <vt:lpstr>…CON’T</vt:lpstr>
      <vt:lpstr>…CON’T</vt:lpstr>
      <vt:lpstr>…CON’T</vt:lpstr>
      <vt:lpstr>Optimistic Technique </vt:lpstr>
      <vt:lpstr>…CON’T</vt:lpstr>
      <vt:lpstr>Granularity of data items  </vt:lpstr>
      <vt:lpstr>…CON’T</vt:lpstr>
      <vt:lpstr>…CON’T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5</dc:title>
  <dc:creator>WHO</dc:creator>
  <cp:lastModifiedBy>Sirage Ahmed</cp:lastModifiedBy>
  <cp:revision>116</cp:revision>
  <dcterms:created xsi:type="dcterms:W3CDTF">2006-08-16T00:00:00Z</dcterms:created>
  <dcterms:modified xsi:type="dcterms:W3CDTF">2024-11-24T05:44:41Z</dcterms:modified>
</cp:coreProperties>
</file>