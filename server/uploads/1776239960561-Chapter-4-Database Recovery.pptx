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4"/>
  </p:notesMasterIdLst>
  <p:handoutMasterIdLst>
    <p:handoutMasterId r:id="rId35"/>
  </p:handoutMasterIdLst>
  <p:sldIdLst>
    <p:sldId id="256" r:id="rId2"/>
    <p:sldId id="322" r:id="rId3"/>
    <p:sldId id="352" r:id="rId4"/>
    <p:sldId id="353" r:id="rId5"/>
    <p:sldId id="354" r:id="rId6"/>
    <p:sldId id="355" r:id="rId7"/>
    <p:sldId id="356" r:id="rId8"/>
    <p:sldId id="360" r:id="rId9"/>
    <p:sldId id="361" r:id="rId10"/>
    <p:sldId id="362" r:id="rId11"/>
    <p:sldId id="363" r:id="rId12"/>
    <p:sldId id="364" r:id="rId13"/>
    <p:sldId id="365" r:id="rId14"/>
    <p:sldId id="366" r:id="rId15"/>
    <p:sldId id="367" r:id="rId16"/>
    <p:sldId id="368" r:id="rId17"/>
    <p:sldId id="369" r:id="rId18"/>
    <p:sldId id="370" r:id="rId19"/>
    <p:sldId id="371" r:id="rId20"/>
    <p:sldId id="372" r:id="rId21"/>
    <p:sldId id="507" r:id="rId22"/>
    <p:sldId id="409" r:id="rId23"/>
    <p:sldId id="505" r:id="rId24"/>
    <p:sldId id="411" r:id="rId25"/>
    <p:sldId id="506" r:id="rId26"/>
    <p:sldId id="333" r:id="rId27"/>
    <p:sldId id="334" r:id="rId28"/>
    <p:sldId id="335" r:id="rId29"/>
    <p:sldId id="336" r:id="rId30"/>
    <p:sldId id="337" r:id="rId31"/>
    <p:sldId id="338" r:id="rId32"/>
    <p:sldId id="320"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8235" autoAdjust="0"/>
  </p:normalViewPr>
  <p:slideViewPr>
    <p:cSldViewPr>
      <p:cViewPr varScale="1">
        <p:scale>
          <a:sx n="75" d="100"/>
          <a:sy n="75" d="100"/>
        </p:scale>
        <p:origin x="123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47DC57-3A9A-43C8-BCD8-E21D228709B1}" type="datetimeFigureOut">
              <a:rPr lang="en-US" smtClean="0"/>
              <a:t>1/16/2025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054A49-6FFB-4FFD-95AE-FCC3498B17EE}" type="slidenum">
              <a:rPr lang="en-US" smtClean="0"/>
              <a:t>‹#›</a:t>
            </a:fld>
            <a:endParaRPr lang="en-US"/>
          </a:p>
        </p:txBody>
      </p:sp>
    </p:spTree>
    <p:extLst>
      <p:ext uri="{BB962C8B-B14F-4D97-AF65-F5344CB8AC3E}">
        <p14:creationId xmlns:p14="http://schemas.microsoft.com/office/powerpoint/2010/main" val="34027595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3CAAC6-8130-4E09-AB9C-3CCA30E3C854}" type="datetimeFigureOut">
              <a:rPr lang="en-US" smtClean="0"/>
              <a:t>1/16/2025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CD4775-F372-411F-9B54-3480B2305727}" type="slidenum">
              <a:rPr lang="en-US" smtClean="0"/>
              <a:t>‹#›</a:t>
            </a:fld>
            <a:endParaRPr lang="en-US"/>
          </a:p>
        </p:txBody>
      </p:sp>
    </p:spTree>
    <p:extLst>
      <p:ext uri="{BB962C8B-B14F-4D97-AF65-F5344CB8AC3E}">
        <p14:creationId xmlns:p14="http://schemas.microsoft.com/office/powerpoint/2010/main" val="255092169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a:extLst>
              <a:ext uri="{FF2B5EF4-FFF2-40B4-BE49-F238E27FC236}">
                <a16:creationId xmlns:a16="http://schemas.microsoft.com/office/drawing/2014/main" id="{CA9FAF8B-2C0B-57FF-DD81-4671D3EAE296}"/>
              </a:ext>
            </a:extLst>
          </p:cNvPr>
          <p:cNvSpPr>
            <a:spLocks noGrp="1" noChangeArrowheads="1"/>
          </p:cNvSpPr>
          <p:nvPr>
            <p:ph type="sldNum" sz="quarter" idx="5"/>
          </p:nvPr>
        </p:nvSpPr>
        <p:spPr bwMode="auto"/>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DF69A0A-DC30-FB46-B08E-60DC173C6741}" type="slidenum">
              <a:rPr lang="en-US" altLang="en-ET"/>
              <a:pPr eaLnBrk="1" hangingPunct="1"/>
              <a:t>26</a:t>
            </a:fld>
            <a:endParaRPr lang="en-US" altLang="en-ET"/>
          </a:p>
        </p:txBody>
      </p:sp>
      <p:sp>
        <p:nvSpPr>
          <p:cNvPr id="76803" name="Rectangle 2">
            <a:extLst>
              <a:ext uri="{FF2B5EF4-FFF2-40B4-BE49-F238E27FC236}">
                <a16:creationId xmlns:a16="http://schemas.microsoft.com/office/drawing/2014/main" id="{BE000310-929E-F7BF-63C1-4C96383109A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4" name="Rectangle 3">
            <a:extLst>
              <a:ext uri="{FF2B5EF4-FFF2-40B4-BE49-F238E27FC236}">
                <a16:creationId xmlns:a16="http://schemas.microsoft.com/office/drawing/2014/main" id="{016E7269-D02C-4714-7C2A-CF2A5411247D}"/>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z="1200" b="1" dirty="0">
                <a:solidFill>
                  <a:srgbClr val="0000FF"/>
                </a:solidFill>
                <a:latin typeface="Times New Roman" panose="02020603050405020304" pitchFamily="18" charset="0"/>
                <a:cs typeface="Times New Roman" panose="02020603050405020304" pitchFamily="18" charset="0"/>
              </a:rPr>
              <a:t>ARIES=</a:t>
            </a:r>
            <a:r>
              <a:rPr lang="en-US" b="0" i="0" dirty="0">
                <a:solidFill>
                  <a:srgbClr val="222222"/>
                </a:solidFill>
                <a:effectLst/>
                <a:latin typeface="Oxygen" panose="020F0502020204030204" pitchFamily="34" charset="0"/>
              </a:rPr>
              <a:t>Algorithms for Recovery and Isolation Exploiting Semantics</a:t>
            </a:r>
            <a:endParaRPr lang="en-US" altLang="en-US"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a:extLst>
              <a:ext uri="{FF2B5EF4-FFF2-40B4-BE49-F238E27FC236}">
                <a16:creationId xmlns:a16="http://schemas.microsoft.com/office/drawing/2014/main" id="{004A9257-DD07-E6B6-E4BC-8EF67B4091AD}"/>
              </a:ext>
            </a:extLst>
          </p:cNvPr>
          <p:cNvSpPr>
            <a:spLocks noGrp="1" noChangeArrowheads="1"/>
          </p:cNvSpPr>
          <p:nvPr>
            <p:ph type="sldNum" sz="quarter" idx="5"/>
          </p:nvPr>
        </p:nvSpPr>
        <p:spPr bwMode="auto"/>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7D50520-1428-7F43-95C7-3D9335DADD68}" type="slidenum">
              <a:rPr lang="en-US" altLang="en-ET"/>
              <a:pPr eaLnBrk="1" hangingPunct="1"/>
              <a:t>27</a:t>
            </a:fld>
            <a:endParaRPr lang="en-US" altLang="en-ET"/>
          </a:p>
        </p:txBody>
      </p:sp>
      <p:sp>
        <p:nvSpPr>
          <p:cNvPr id="77827" name="Rectangle 2">
            <a:extLst>
              <a:ext uri="{FF2B5EF4-FFF2-40B4-BE49-F238E27FC236}">
                <a16:creationId xmlns:a16="http://schemas.microsoft.com/office/drawing/2014/main" id="{9ECF683E-038F-8DA5-FA83-9C30DA74826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8" name="Rectangle 3">
            <a:extLst>
              <a:ext uri="{FF2B5EF4-FFF2-40B4-BE49-F238E27FC236}">
                <a16:creationId xmlns:a16="http://schemas.microsoft.com/office/drawing/2014/main" id="{0145C89E-63F8-0617-8740-785D6C94AAA9}"/>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F94C6724-4F25-239B-15EA-9AAF14849F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a:extLst>
              <a:ext uri="{FF2B5EF4-FFF2-40B4-BE49-F238E27FC236}">
                <a16:creationId xmlns:a16="http://schemas.microsoft.com/office/drawing/2014/main" id="{1E1AC95A-E62D-E717-F5F9-13B65F4000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ndParaRPr>
          </a:p>
        </p:txBody>
      </p:sp>
      <p:sp>
        <p:nvSpPr>
          <p:cNvPr id="194564" name="Slide Number Placeholder 3">
            <a:extLst>
              <a:ext uri="{FF2B5EF4-FFF2-40B4-BE49-F238E27FC236}">
                <a16:creationId xmlns:a16="http://schemas.microsoft.com/office/drawing/2014/main" id="{BA35F36E-6BCD-FE37-B1D8-DE8F2D1C1858}"/>
              </a:ext>
            </a:extLst>
          </p:cNvPr>
          <p:cNvSpPr>
            <a:spLocks noGrp="1"/>
          </p:cNvSpPr>
          <p:nvPr>
            <p:ph type="sldNum" sz="quarter" idx="5"/>
          </p:nvPr>
        </p:nvSpPr>
        <p:spPr bwMode="auto"/>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51BB6BD-1384-C943-9ACF-B0CA3194478B}" type="slidenum">
              <a:rPr lang="en-US" altLang="en-ET"/>
              <a:pPr eaLnBrk="1" hangingPunct="1"/>
              <a:t>28</a:t>
            </a:fld>
            <a:endParaRPr lang="en-US" altLang="en-E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a:extLst>
              <a:ext uri="{FF2B5EF4-FFF2-40B4-BE49-F238E27FC236}">
                <a16:creationId xmlns:a16="http://schemas.microsoft.com/office/drawing/2014/main" id="{7DF830C1-4E90-C51A-64EE-1F8D5C17DD71}"/>
              </a:ext>
            </a:extLst>
          </p:cNvPr>
          <p:cNvSpPr>
            <a:spLocks noGrp="1" noChangeArrowheads="1"/>
          </p:cNvSpPr>
          <p:nvPr>
            <p:ph type="sldNum" sz="quarter" idx="5"/>
          </p:nvPr>
        </p:nvSpPr>
        <p:spPr bwMode="auto"/>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9CBEA16-CDF3-9D47-8737-5F9FDD67AB53}" type="slidenum">
              <a:rPr lang="en-US" altLang="en-ET"/>
              <a:pPr eaLnBrk="1" hangingPunct="1"/>
              <a:t>29</a:t>
            </a:fld>
            <a:endParaRPr lang="en-US" altLang="en-ET"/>
          </a:p>
        </p:txBody>
      </p:sp>
      <p:sp>
        <p:nvSpPr>
          <p:cNvPr id="79875" name="Rectangle 2">
            <a:extLst>
              <a:ext uri="{FF2B5EF4-FFF2-40B4-BE49-F238E27FC236}">
                <a16:creationId xmlns:a16="http://schemas.microsoft.com/office/drawing/2014/main" id="{21305A3E-CD8A-39E1-56F9-C6C17E7037A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1D4106FD-269D-9B1C-9E8C-58D785707202}"/>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a:extLst>
              <a:ext uri="{FF2B5EF4-FFF2-40B4-BE49-F238E27FC236}">
                <a16:creationId xmlns:a16="http://schemas.microsoft.com/office/drawing/2014/main" id="{DF4DE9F5-E3A4-BA2D-3E53-EB045E2085A7}"/>
              </a:ext>
            </a:extLst>
          </p:cNvPr>
          <p:cNvSpPr>
            <a:spLocks noGrp="1" noChangeArrowheads="1"/>
          </p:cNvSpPr>
          <p:nvPr>
            <p:ph type="sldNum" sz="quarter" idx="5"/>
          </p:nvPr>
        </p:nvSpPr>
        <p:spPr bwMode="auto"/>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BA79533-5A0C-8740-92F2-06C5CA6AFAD2}" type="slidenum">
              <a:rPr lang="en-US" altLang="en-ET"/>
              <a:pPr eaLnBrk="1" hangingPunct="1"/>
              <a:t>30</a:t>
            </a:fld>
            <a:endParaRPr lang="en-US" altLang="en-ET"/>
          </a:p>
        </p:txBody>
      </p:sp>
      <p:sp>
        <p:nvSpPr>
          <p:cNvPr id="80899" name="Rectangle 2">
            <a:extLst>
              <a:ext uri="{FF2B5EF4-FFF2-40B4-BE49-F238E27FC236}">
                <a16:creationId xmlns:a16="http://schemas.microsoft.com/office/drawing/2014/main" id="{D3F1B65E-0E48-4BED-2CDF-8096D6FBCC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900" name="Rectangle 3">
            <a:extLst>
              <a:ext uri="{FF2B5EF4-FFF2-40B4-BE49-F238E27FC236}">
                <a16:creationId xmlns:a16="http://schemas.microsoft.com/office/drawing/2014/main" id="{70A90B48-A9C3-6D35-DDB2-D910D21541D6}"/>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a:extLst>
              <a:ext uri="{FF2B5EF4-FFF2-40B4-BE49-F238E27FC236}">
                <a16:creationId xmlns:a16="http://schemas.microsoft.com/office/drawing/2014/main" id="{EF15EF5E-C237-83ED-DCF8-BEBAF26A3FE9}"/>
              </a:ext>
            </a:extLst>
          </p:cNvPr>
          <p:cNvSpPr>
            <a:spLocks noGrp="1" noChangeArrowheads="1"/>
          </p:cNvSpPr>
          <p:nvPr>
            <p:ph type="sldNum" sz="quarter" idx="5"/>
          </p:nvPr>
        </p:nvSpPr>
        <p:spPr bwMode="auto"/>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C6FDDA-DF62-7645-9F94-615F5ECEF0D2}" type="slidenum">
              <a:rPr lang="en-US" altLang="en-ET"/>
              <a:pPr eaLnBrk="1" hangingPunct="1"/>
              <a:t>31</a:t>
            </a:fld>
            <a:endParaRPr lang="en-US" altLang="en-ET"/>
          </a:p>
        </p:txBody>
      </p:sp>
      <p:sp>
        <p:nvSpPr>
          <p:cNvPr id="81923" name="Rectangle 2">
            <a:extLst>
              <a:ext uri="{FF2B5EF4-FFF2-40B4-BE49-F238E27FC236}">
                <a16:creationId xmlns:a16="http://schemas.microsoft.com/office/drawing/2014/main" id="{2CB93AEB-1564-6856-3F3D-6F8093F1CE7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4" name="Rectangle 3">
            <a:extLst>
              <a:ext uri="{FF2B5EF4-FFF2-40B4-BE49-F238E27FC236}">
                <a16:creationId xmlns:a16="http://schemas.microsoft.com/office/drawing/2014/main" id="{CCD9CD44-4AEC-B410-BFEA-F27D4A2C2D72}"/>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CD4BFF7D-1284-499C-B66D-5F0478526F04}" type="datetime1">
              <a:rPr lang="en-US" smtClean="0"/>
              <a:t>1/16/2025</a:t>
            </a:fld>
            <a:endParaRPr lang="en-US"/>
          </a:p>
        </p:txBody>
      </p:sp>
      <p:sp>
        <p:nvSpPr>
          <p:cNvPr id="17" name="Footer Placeholder 16"/>
          <p:cNvSpPr>
            <a:spLocks noGrp="1"/>
          </p:cNvSpPr>
          <p:nvPr>
            <p:ph type="ftr" sz="quarter" idx="11"/>
          </p:nvPr>
        </p:nvSpPr>
        <p:spPr/>
        <p:txBody>
          <a:bodyPr/>
          <a:lstStyle/>
          <a:p>
            <a:r>
              <a:rPr lang="en-US"/>
              <a:t>Transactions processing and concurrency Management</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534400" cy="1143000"/>
          </a:xfrm>
          <a:solidFill>
            <a:schemeClr val="accent1"/>
          </a:solidFill>
          <a:ln w="19050">
            <a:solidFill>
              <a:srgbClr val="0070C0"/>
            </a:solidFill>
          </a:ln>
          <a:effectLst>
            <a:innerShdw blurRad="63500" dist="50800" dir="16200000">
              <a:prstClr val="black">
                <a:alpha val="50000"/>
              </a:prstClr>
            </a:inn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lvl1pPr algn="ctr">
              <a:defRPr b="1" cap="none" spc="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defRPr>
            </a:lvl1pPr>
          </a:lstStyle>
          <a:p>
            <a:r>
              <a:rPr kumimoji="0" lang="en-US" dirty="0"/>
              <a:t>Click to edit Master title style</a:t>
            </a:r>
          </a:p>
        </p:txBody>
      </p:sp>
      <p:sp>
        <p:nvSpPr>
          <p:cNvPr id="4" name="Date Placeholder 3"/>
          <p:cNvSpPr>
            <a:spLocks noGrp="1"/>
          </p:cNvSpPr>
          <p:nvPr>
            <p:ph type="dt" sz="half" idx="10"/>
          </p:nvPr>
        </p:nvSpPr>
        <p:spPr/>
        <p:txBody>
          <a:bodyPr/>
          <a:lstStyle/>
          <a:p>
            <a:fld id="{6F423EEF-B96B-48E3-B005-D2FB77D3F06D}" type="datetime1">
              <a:rPr lang="en-US" smtClean="0"/>
              <a:t>1/16/2025</a:t>
            </a:fld>
            <a:endParaRPr lang="en-US"/>
          </a:p>
        </p:txBody>
      </p:sp>
      <p:sp>
        <p:nvSpPr>
          <p:cNvPr id="5" name="Footer Placeholder 4"/>
          <p:cNvSpPr>
            <a:spLocks noGrp="1"/>
          </p:cNvSpPr>
          <p:nvPr>
            <p:ph type="ftr" sz="quarter" idx="11"/>
          </p:nvPr>
        </p:nvSpPr>
        <p:spPr>
          <a:xfrm>
            <a:off x="914400" y="6172200"/>
            <a:ext cx="4419600" cy="457200"/>
          </a:xfrm>
        </p:spPr>
        <p:txBody>
          <a:bodyPr/>
          <a:lstStyle>
            <a:lvl1pPr>
              <a:defRPr sz="1400">
                <a:solidFill>
                  <a:schemeClr val="accent2">
                    <a:lumMod val="60000"/>
                    <a:lumOff val="40000"/>
                  </a:schemeClr>
                </a:solidFill>
              </a:defRPr>
            </a:lvl1pPr>
          </a:lstStyle>
          <a:p>
            <a:pPr algn="ctr">
              <a:defRPr/>
            </a:pPr>
            <a:r>
              <a:rPr lang="en-US"/>
              <a:t>Transactions processing and concurrency Management</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A34F027-10E6-428A-AAB2-B8944512DE59}" type="datetime1">
              <a:rPr lang="en-US" smtClean="0"/>
              <a:t>1/16/2025</a:t>
            </a:fld>
            <a:endParaRPr lang="en-US"/>
          </a:p>
        </p:txBody>
      </p:sp>
      <p:sp>
        <p:nvSpPr>
          <p:cNvPr id="5" name="Footer Placeholder 4"/>
          <p:cNvSpPr>
            <a:spLocks noGrp="1"/>
          </p:cNvSpPr>
          <p:nvPr>
            <p:ph type="ftr" sz="quarter" idx="11"/>
          </p:nvPr>
        </p:nvSpPr>
        <p:spPr>
          <a:xfrm>
            <a:off x="800100" y="6172200"/>
            <a:ext cx="4533900" cy="457200"/>
          </a:xfrm>
        </p:spPr>
        <p:txBody>
          <a:bodyPr/>
          <a:lstStyle>
            <a:lvl1pPr>
              <a:defRPr>
                <a:solidFill>
                  <a:schemeClr val="accent2">
                    <a:lumMod val="60000"/>
                    <a:lumOff val="40000"/>
                  </a:schemeClr>
                </a:solidFill>
              </a:defRPr>
            </a:lvl1pPr>
          </a:lstStyle>
          <a:p>
            <a:pPr algn="ctr">
              <a:defRPr/>
            </a:pPr>
            <a:r>
              <a:rPr lang="en-US"/>
              <a:t>Transactions processing and concurrency Management</a:t>
            </a:r>
            <a:endParaRPr lang="en-US" dirty="0"/>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A3763B9-C879-47C5-AA4D-0FD84AD89DD5}" type="datetime1">
              <a:rPr lang="en-US" smtClean="0"/>
              <a:t>1/16/2025</a:t>
            </a:fld>
            <a:endParaRPr lang="en-US"/>
          </a:p>
        </p:txBody>
      </p:sp>
      <p:sp>
        <p:nvSpPr>
          <p:cNvPr id="6" name="Footer Placeholder 5"/>
          <p:cNvSpPr>
            <a:spLocks noGrp="1"/>
          </p:cNvSpPr>
          <p:nvPr>
            <p:ph type="ftr" sz="quarter" idx="11"/>
          </p:nvPr>
        </p:nvSpPr>
        <p:spPr>
          <a:xfrm>
            <a:off x="914400" y="6172200"/>
            <a:ext cx="4419600" cy="457200"/>
          </a:xfrm>
        </p:spPr>
        <p:txBody>
          <a:bodyPr/>
          <a:lstStyle>
            <a:lvl1pPr>
              <a:defRPr>
                <a:solidFill>
                  <a:schemeClr val="accent2">
                    <a:lumMod val="60000"/>
                    <a:lumOff val="40000"/>
                  </a:schemeClr>
                </a:solidFill>
              </a:defRPr>
            </a:lvl1pPr>
          </a:lstStyle>
          <a:p>
            <a:r>
              <a:rPr lang="en-US"/>
              <a:t>Transactions processing and concurrency Management</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34E85CCD-D51B-47B8-9671-EEBFE7D6D40D}" type="datetime1">
              <a:rPr lang="en-US" smtClean="0"/>
              <a:t>1/16/2025</a:t>
            </a:fld>
            <a:endParaRPr lang="en-US"/>
          </a:p>
        </p:txBody>
      </p:sp>
      <p:sp>
        <p:nvSpPr>
          <p:cNvPr id="8" name="Footer Placeholder 7"/>
          <p:cNvSpPr>
            <a:spLocks noGrp="1"/>
          </p:cNvSpPr>
          <p:nvPr>
            <p:ph type="ftr" sz="quarter" idx="11"/>
          </p:nvPr>
        </p:nvSpPr>
        <p:spPr>
          <a:xfrm>
            <a:off x="914400" y="6172200"/>
            <a:ext cx="4343400" cy="457200"/>
          </a:xfrm>
        </p:spPr>
        <p:txBody>
          <a:bodyPr/>
          <a:lstStyle>
            <a:lvl1pPr>
              <a:defRPr>
                <a:solidFill>
                  <a:schemeClr val="accent2">
                    <a:lumMod val="60000"/>
                    <a:lumOff val="40000"/>
                  </a:schemeClr>
                </a:solidFill>
              </a:defRPr>
            </a:lvl1pPr>
          </a:lstStyle>
          <a:p>
            <a:pPr algn="ctr">
              <a:defRPr/>
            </a:pPr>
            <a:r>
              <a:rPr lang="en-US"/>
              <a:t>Transactions processing and concurrency Management</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D9DA50F4-5656-48C9-BB3F-4E346837DFD6}" type="datetime1">
              <a:rPr lang="en-US" smtClean="0"/>
              <a:t>1/16/2025</a:t>
            </a:fld>
            <a:endParaRPr lang="en-US"/>
          </a:p>
        </p:txBody>
      </p:sp>
      <p:sp>
        <p:nvSpPr>
          <p:cNvPr id="4" name="Footer Placeholder 3"/>
          <p:cNvSpPr>
            <a:spLocks noGrp="1"/>
          </p:cNvSpPr>
          <p:nvPr>
            <p:ph type="ftr" sz="quarter" idx="11"/>
          </p:nvPr>
        </p:nvSpPr>
        <p:spPr>
          <a:xfrm>
            <a:off x="914400" y="6172200"/>
            <a:ext cx="4343400" cy="457200"/>
          </a:xfrm>
        </p:spPr>
        <p:txBody>
          <a:bodyPr/>
          <a:lstStyle>
            <a:lvl1pPr>
              <a:defRPr>
                <a:solidFill>
                  <a:schemeClr val="accent2">
                    <a:lumMod val="60000"/>
                    <a:lumOff val="40000"/>
                  </a:schemeClr>
                </a:solidFill>
              </a:defRPr>
            </a:lvl1pPr>
          </a:lstStyle>
          <a:p>
            <a:pPr algn="ctr">
              <a:defRPr/>
            </a:pPr>
            <a:r>
              <a:rPr lang="en-US"/>
              <a:t>Transactions processing and concurrency Management</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D0F90D-179F-4878-A533-DDF464DC557C}" type="datetime1">
              <a:rPr lang="en-US" smtClean="0"/>
              <a:t>1/16/2025</a:t>
            </a:fld>
            <a:endParaRPr lang="en-US"/>
          </a:p>
        </p:txBody>
      </p:sp>
      <p:sp>
        <p:nvSpPr>
          <p:cNvPr id="3" name="Footer Placeholder 2"/>
          <p:cNvSpPr>
            <a:spLocks noGrp="1"/>
          </p:cNvSpPr>
          <p:nvPr>
            <p:ph type="ftr" sz="quarter" idx="11"/>
          </p:nvPr>
        </p:nvSpPr>
        <p:spPr>
          <a:xfrm>
            <a:off x="914400" y="6172200"/>
            <a:ext cx="4343400" cy="457200"/>
          </a:xfrm>
        </p:spPr>
        <p:txBody>
          <a:bodyPr/>
          <a:lstStyle>
            <a:lvl1pPr>
              <a:defRPr>
                <a:solidFill>
                  <a:schemeClr val="accent2">
                    <a:lumMod val="60000"/>
                    <a:lumOff val="40000"/>
                  </a:schemeClr>
                </a:solidFill>
              </a:defRPr>
            </a:lvl1pPr>
          </a:lstStyle>
          <a:p>
            <a:pPr algn="ctr">
              <a:defRPr/>
            </a:pPr>
            <a:r>
              <a:rPr lang="en-US"/>
              <a:t>Transactions processing and concurrency Management</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0EAA6D09-D28A-4A3F-A296-18EDF5A9558E}" type="datetime1">
              <a:rPr lang="en-US" smtClean="0"/>
              <a:t>1/16/2025</a:t>
            </a:fld>
            <a:endParaRPr lang="en-US"/>
          </a:p>
        </p:txBody>
      </p:sp>
      <p:sp>
        <p:nvSpPr>
          <p:cNvPr id="6" name="Footer Placeholder 5"/>
          <p:cNvSpPr>
            <a:spLocks noGrp="1"/>
          </p:cNvSpPr>
          <p:nvPr>
            <p:ph type="ftr" sz="quarter" idx="11"/>
          </p:nvPr>
        </p:nvSpPr>
        <p:spPr>
          <a:xfrm>
            <a:off x="914400" y="6172200"/>
            <a:ext cx="4343400" cy="457200"/>
          </a:xfrm>
        </p:spPr>
        <p:txBody>
          <a:bodyPr/>
          <a:lstStyle>
            <a:lvl1pPr>
              <a:defRPr>
                <a:solidFill>
                  <a:schemeClr val="accent2">
                    <a:lumMod val="60000"/>
                    <a:lumOff val="40000"/>
                  </a:schemeClr>
                </a:solidFill>
              </a:defRPr>
            </a:lvl1pPr>
          </a:lstStyle>
          <a:p>
            <a:pPr algn="ctr">
              <a:defRPr/>
            </a:pPr>
            <a:r>
              <a:rPr lang="en-US"/>
              <a:t>Transactions processing and concurrency Management</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9EE8983-7B69-488E-A563-CA30CC67C0A7}" type="datetime1">
              <a:rPr lang="en-US" smtClean="0"/>
              <a:t>1/16/2025</a:t>
            </a:fld>
            <a:endParaRPr lang="en-US"/>
          </a:p>
        </p:txBody>
      </p:sp>
      <p:sp>
        <p:nvSpPr>
          <p:cNvPr id="6" name="Footer Placeholder 5"/>
          <p:cNvSpPr>
            <a:spLocks noGrp="1"/>
          </p:cNvSpPr>
          <p:nvPr>
            <p:ph type="ftr" sz="quarter" idx="11"/>
          </p:nvPr>
        </p:nvSpPr>
        <p:spPr>
          <a:xfrm>
            <a:off x="914400" y="6172200"/>
            <a:ext cx="4343400" cy="457200"/>
          </a:xfrm>
        </p:spPr>
        <p:txBody>
          <a:bodyPr/>
          <a:lstStyle>
            <a:lvl1pPr>
              <a:defRPr>
                <a:solidFill>
                  <a:schemeClr val="accent2">
                    <a:lumMod val="60000"/>
                    <a:lumOff val="40000"/>
                  </a:schemeClr>
                </a:solidFill>
              </a:defRPr>
            </a:lvl1pPr>
          </a:lstStyle>
          <a:p>
            <a:pPr algn="ctr">
              <a:defRPr/>
            </a:pPr>
            <a:r>
              <a:rPr lang="en-US"/>
              <a:t>Transactions processing and concurrency Management</a:t>
            </a:r>
            <a:endParaRPr lang="en-US" dirty="0"/>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6936EF-1333-4EFC-AE36-56589C74E3A3}" type="datetime1">
              <a:rPr lang="en-US" smtClean="0"/>
              <a:t>1/16/2025</a:t>
            </a:fld>
            <a:endParaRPr lang="en-US"/>
          </a:p>
        </p:txBody>
      </p:sp>
      <p:sp>
        <p:nvSpPr>
          <p:cNvPr id="5" name="Footer Placeholder 4"/>
          <p:cNvSpPr>
            <a:spLocks noGrp="1"/>
          </p:cNvSpPr>
          <p:nvPr>
            <p:ph type="ftr" sz="quarter" idx="11"/>
          </p:nvPr>
        </p:nvSpPr>
        <p:spPr/>
        <p:txBody>
          <a:bodyPr/>
          <a:lstStyle/>
          <a:p>
            <a:r>
              <a:rPr lang="en-US"/>
              <a:t>Transactions processing and concurrency Management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23AF831-A96E-41D4-9123-4CBA3061C460}" type="datetime1">
              <a:rPr lang="en-US" smtClean="0"/>
              <a:t>1/16/2025</a:t>
            </a:fld>
            <a:endParaRPr lang="en-US"/>
          </a:p>
        </p:txBody>
      </p:sp>
      <p:sp>
        <p:nvSpPr>
          <p:cNvPr id="5" name="Footer Placeholder 4"/>
          <p:cNvSpPr>
            <a:spLocks noGrp="1"/>
          </p:cNvSpPr>
          <p:nvPr>
            <p:ph type="ftr" sz="quarter" idx="11"/>
          </p:nvPr>
        </p:nvSpPr>
        <p:spPr/>
        <p:txBody>
          <a:bodyPr/>
          <a:lstStyle/>
          <a:p>
            <a:r>
              <a:rPr lang="en-US"/>
              <a:t>Transactions processing and concurrency Management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A95ED63C-FB00-4D26-AFEE-E859A0B8F0A9}" type="datetime1">
              <a:rPr lang="en-US" smtClean="0"/>
              <a:t>1/16/2025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Transactions processing and concurrency Management</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push/>
  </p:transition>
  <p:hf hd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3200400"/>
            <a:ext cx="8382000" cy="2743200"/>
          </a:xfrm>
        </p:spPr>
        <p:txBody>
          <a:bodyPr>
            <a:noAutofit/>
          </a:bodyPr>
          <a:lstStyle/>
          <a:p>
            <a:pPr>
              <a:spcBef>
                <a:spcPts val="0"/>
              </a:spcBef>
              <a:defRPr/>
            </a:pPr>
            <a:r>
              <a:rPr lang="en-US" sz="6000" dirty="0">
                <a:latin typeface="Georgia" panose="02040502050405020303" pitchFamily="18" charset="0"/>
              </a:rPr>
              <a:t>Database Recovery </a:t>
            </a:r>
            <a:r>
              <a:rPr lang="en-ET" sz="6000" dirty="0">
                <a:latin typeface="Georgia" panose="02040502050405020303" pitchFamily="18" charset="0"/>
              </a:rPr>
              <a:t>Techniques</a:t>
            </a:r>
            <a:r>
              <a:rPr lang="en-ET" sz="1800" b="1" dirty="0">
                <a:effectLst/>
                <a:latin typeface="TimesNewRomanPS"/>
                <a:ea typeface="Times New Roman" panose="02020603050405020304" pitchFamily="18" charset="0"/>
                <a:cs typeface="Times New Roman" panose="02020603050405020304" pitchFamily="18" charset="0"/>
              </a:rPr>
              <a:t> </a:t>
            </a:r>
            <a:endParaRPr lang="en-US" sz="6000" dirty="0">
              <a:latin typeface="Georgia" panose="02040502050405020303" pitchFamily="18" charset="0"/>
            </a:endParaRPr>
          </a:p>
        </p:txBody>
      </p:sp>
      <p:sp>
        <p:nvSpPr>
          <p:cNvPr id="2" name="Title 1"/>
          <p:cNvSpPr>
            <a:spLocks noGrp="1"/>
          </p:cNvSpPr>
          <p:nvPr>
            <p:ph type="ctrTitle"/>
          </p:nvPr>
        </p:nvSpPr>
        <p:spPr/>
        <p:txBody>
          <a:bodyPr>
            <a:normAutofit/>
          </a:bodyPr>
          <a:lstStyle/>
          <a:p>
            <a:r>
              <a:rPr lang="en-US" sz="5900" b="1"/>
              <a:t>Chapter </a:t>
            </a:r>
            <a:r>
              <a:rPr lang="en-US" sz="5900" b="1" smtClean="0"/>
              <a:t>4 </a:t>
            </a:r>
            <a:endParaRPr lang="en-US" sz="5900" b="1" dirty="0"/>
          </a:p>
        </p:txBody>
      </p:sp>
    </p:spTree>
    <p:extLst>
      <p:ext uri="{BB962C8B-B14F-4D97-AF65-F5344CB8AC3E}">
        <p14:creationId xmlns:p14="http://schemas.microsoft.com/office/powerpoint/2010/main" val="3741937104"/>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265238"/>
          </a:xfrm>
        </p:spPr>
        <p:txBody>
          <a:bodyPr/>
          <a:lstStyle/>
          <a:p>
            <a:pPr>
              <a:defRPr/>
            </a:pPr>
            <a:r>
              <a:rPr lang="en-US" dirty="0"/>
              <a:t>Chapter Outline</a:t>
            </a:r>
          </a:p>
        </p:txBody>
      </p:sp>
      <p:sp>
        <p:nvSpPr>
          <p:cNvPr id="10243" name="Content Placeholder 2"/>
          <p:cNvSpPr>
            <a:spLocks noGrp="1"/>
          </p:cNvSpPr>
          <p:nvPr>
            <p:ph sz="quarter" idx="1"/>
          </p:nvPr>
        </p:nvSpPr>
        <p:spPr>
          <a:xfrm>
            <a:off x="762000" y="1527175"/>
            <a:ext cx="7467600" cy="4873625"/>
          </a:xfrm>
        </p:spPr>
        <p:txBody>
          <a:bodyPr>
            <a:normAutofit lnSpcReduction="10000"/>
          </a:bodyPr>
          <a:lstStyle/>
          <a:p>
            <a:pPr lvl="1" eaLnBrk="1" hangingPunct="1">
              <a:buFont typeface="Wingdings" panose="05000000000000000000" pitchFamily="2" charset="2"/>
              <a:buChar char="v"/>
            </a:pPr>
            <a:r>
              <a:rPr lang="en-US" sz="2800" dirty="0"/>
              <a:t>Database Recovery</a:t>
            </a:r>
          </a:p>
          <a:p>
            <a:pPr lvl="1" eaLnBrk="1" hangingPunct="1">
              <a:buFont typeface="Wingdings" panose="05000000000000000000" pitchFamily="2" charset="2"/>
              <a:buChar char="v"/>
            </a:pPr>
            <a:r>
              <a:rPr lang="en-ET" sz="2800" dirty="0">
                <a:effectLst/>
                <a:latin typeface="TimesNewRomanPSMT"/>
                <a:ea typeface="Times New Roman" panose="02020603050405020304" pitchFamily="18" charset="0"/>
                <a:cs typeface="Times New Roman" panose="02020603050405020304" pitchFamily="18" charset="0"/>
              </a:rPr>
              <a:t>Backup and Recovery Concepts</a:t>
            </a:r>
            <a:endParaRPr lang="en-US" sz="2800" dirty="0"/>
          </a:p>
          <a:p>
            <a:pPr lvl="1" eaLnBrk="1" hangingPunct="1">
              <a:buFont typeface="Wingdings" panose="05000000000000000000" pitchFamily="2" charset="2"/>
              <a:buChar char="v"/>
            </a:pPr>
            <a:r>
              <a:rPr lang="en-US" sz="2800" dirty="0"/>
              <a:t>Transactions and Recovery </a:t>
            </a:r>
          </a:p>
          <a:p>
            <a:pPr lvl="1" eaLnBrk="1" hangingPunct="1">
              <a:buFont typeface="Wingdings" panose="05000000000000000000" pitchFamily="2" charset="2"/>
              <a:buChar char="v"/>
            </a:pPr>
            <a:r>
              <a:rPr lang="en-US" sz="2800" dirty="0"/>
              <a:t>Recovery Techniques </a:t>
            </a:r>
            <a:endParaRPr lang="en-US" sz="2800" dirty="0">
              <a:solidFill>
                <a:srgbClr val="CC00CC"/>
              </a:solidFill>
            </a:endParaRPr>
          </a:p>
          <a:p>
            <a:pPr lvl="1">
              <a:buFont typeface="Wingdings" panose="05000000000000000000" pitchFamily="2" charset="2"/>
              <a:buChar char="v"/>
            </a:pPr>
            <a:r>
              <a:rPr lang="en-ET" sz="2800" dirty="0"/>
              <a:t>Recovery Concepts Based on Deferred Update </a:t>
            </a:r>
          </a:p>
          <a:p>
            <a:pPr lvl="1">
              <a:buFont typeface="Wingdings" panose="05000000000000000000" pitchFamily="2" charset="2"/>
              <a:buChar char="v"/>
            </a:pPr>
            <a:r>
              <a:rPr lang="en-ET" sz="2800" dirty="0"/>
              <a:t>Recovery Concepts Based on Immediate Update </a:t>
            </a:r>
          </a:p>
          <a:p>
            <a:pPr lvl="1">
              <a:buFont typeface="Wingdings" panose="05000000000000000000" pitchFamily="2" charset="2"/>
              <a:buChar char="v"/>
            </a:pPr>
            <a:r>
              <a:rPr lang="en-ET" sz="2800" dirty="0"/>
              <a:t>Shadow Paging</a:t>
            </a:r>
          </a:p>
          <a:p>
            <a:pPr lvl="1">
              <a:buFont typeface="Wingdings" panose="05000000000000000000" pitchFamily="2" charset="2"/>
              <a:buChar char="v"/>
            </a:pPr>
            <a:r>
              <a:rPr lang="en-ET" sz="2800" dirty="0"/>
              <a:t>The ARIES Recovery Algorithm </a:t>
            </a:r>
          </a:p>
          <a:p>
            <a:pPr lvl="1">
              <a:buFont typeface="Wingdings" panose="05000000000000000000" pitchFamily="2" charset="2"/>
              <a:buChar char="v"/>
            </a:pPr>
            <a:r>
              <a:rPr lang="en-ET" sz="2800" dirty="0"/>
              <a:t>Recovery in Multi database Systems </a:t>
            </a:r>
          </a:p>
          <a:p>
            <a:endParaRPr lang="en-US" dirty="0"/>
          </a:p>
        </p:txBody>
      </p:sp>
      <p:sp>
        <p:nvSpPr>
          <p:cNvPr id="10244"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27D829-ABF8-4532-BDA2-DE119ACA6FAB}" type="slidenum">
              <a:rPr lang="en-US" smtClean="0">
                <a:solidFill>
                  <a:srgbClr val="FFFFFF"/>
                </a:solidFill>
              </a:rPr>
              <a:pPr/>
              <a:t>2</a:t>
            </a:fld>
            <a:endParaRPr lang="en-US">
              <a:solidFill>
                <a:srgbClr val="FFFFFF"/>
              </a:solidFill>
            </a:endParaRPr>
          </a:p>
        </p:txBody>
      </p:sp>
    </p:spTree>
    <p:extLst>
      <p:ext uri="{BB962C8B-B14F-4D97-AF65-F5344CB8AC3E}">
        <p14:creationId xmlns:p14="http://schemas.microsoft.com/office/powerpoint/2010/main" val="1642961117"/>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b="1" dirty="0"/>
              <a:t>Database Recovery</a:t>
            </a:r>
            <a:endParaRPr lang="en-US" dirty="0"/>
          </a:p>
        </p:txBody>
      </p:sp>
      <p:sp>
        <p:nvSpPr>
          <p:cNvPr id="40963" name="Content Placeholder 2"/>
          <p:cNvSpPr>
            <a:spLocks noGrp="1"/>
          </p:cNvSpPr>
          <p:nvPr>
            <p:ph sz="quarter" idx="1"/>
          </p:nvPr>
        </p:nvSpPr>
        <p:spPr>
          <a:xfrm>
            <a:off x="457200" y="1295400"/>
            <a:ext cx="8229600" cy="5178425"/>
          </a:xfrm>
        </p:spPr>
        <p:txBody>
          <a:bodyPr>
            <a:noAutofit/>
          </a:bodyPr>
          <a:lstStyle/>
          <a:p>
            <a:r>
              <a:rPr lang="en-US" sz="2400" dirty="0"/>
              <a:t>Database recovery is the process of restoring database to a correct state in the event of a failure.  </a:t>
            </a:r>
          </a:p>
          <a:p>
            <a:r>
              <a:rPr lang="en-US" sz="2400" b="1" i="1" dirty="0"/>
              <a:t>DR is the process of eliminating the effects of a failure from the database</a:t>
            </a:r>
            <a:r>
              <a:rPr lang="en-US" sz="2400" b="1" dirty="0"/>
              <a:t>.  </a:t>
            </a:r>
            <a:endParaRPr lang="en-US" sz="2400" dirty="0"/>
          </a:p>
          <a:p>
            <a:r>
              <a:rPr lang="en-US" sz="2400" b="1" i="1" dirty="0"/>
              <a:t>Recovery</a:t>
            </a:r>
            <a:r>
              <a:rPr lang="en-US" sz="2400" dirty="0"/>
              <a:t>, in database systems terminology, is called </a:t>
            </a:r>
            <a:r>
              <a:rPr lang="en-US" sz="2400" b="1" i="1" dirty="0"/>
              <a:t>restoring the last consistent state of the data items</a:t>
            </a:r>
            <a:r>
              <a:rPr lang="en-US" sz="2400" dirty="0"/>
              <a:t>. </a:t>
            </a:r>
          </a:p>
          <a:p>
            <a:pPr>
              <a:buFont typeface="Wingdings" panose="05000000000000000000" pitchFamily="2" charset="2"/>
              <a:buChar char="Ø"/>
            </a:pPr>
            <a:r>
              <a:rPr lang="en-US" sz="2400" dirty="0"/>
              <a:t> Need for Recovery Control </a:t>
            </a:r>
          </a:p>
          <a:p>
            <a:pPr lvl="1"/>
            <a:r>
              <a:rPr lang="en-US" dirty="0"/>
              <a:t>Two types of storage: volatile (main memory) and nonvolatile. </a:t>
            </a:r>
          </a:p>
          <a:p>
            <a:pPr lvl="1"/>
            <a:r>
              <a:rPr lang="en-US" dirty="0"/>
              <a:t>Volatile storage does not survive system crashes.  </a:t>
            </a:r>
          </a:p>
          <a:p>
            <a:pPr lvl="1"/>
            <a:r>
              <a:rPr lang="en-US" dirty="0"/>
              <a:t>Stable storage represents information that has been replicated in several nonvolatile storage media with independent failure modes. </a:t>
            </a:r>
          </a:p>
        </p:txBody>
      </p:sp>
      <p:sp>
        <p:nvSpPr>
          <p:cNvPr id="40964"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E3CA9B1-AA53-4625-BBBE-283CBC33788E}" type="slidenum">
              <a:rPr lang="en-US" smtClean="0">
                <a:solidFill>
                  <a:srgbClr val="FFFFFF"/>
                </a:solidFill>
              </a:rPr>
              <a:pPr/>
              <a:t>3</a:t>
            </a:fld>
            <a:endParaRPr lang="en-US">
              <a:solidFill>
                <a:srgbClr val="FFFFFF"/>
              </a:solidFill>
            </a:endParaRPr>
          </a:p>
        </p:txBody>
      </p:sp>
    </p:spTree>
    <p:extLst>
      <p:ext uri="{BB962C8B-B14F-4D97-AF65-F5344CB8AC3E}">
        <p14:creationId xmlns:p14="http://schemas.microsoft.com/office/powerpoint/2010/main" val="3644334475"/>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b="1" dirty="0"/>
              <a:t>Types of failures</a:t>
            </a:r>
            <a:r>
              <a:rPr lang="en-US" dirty="0"/>
              <a:t>  </a:t>
            </a:r>
          </a:p>
        </p:txBody>
      </p:sp>
      <p:sp>
        <p:nvSpPr>
          <p:cNvPr id="41987" name="Content Placeholder 2"/>
          <p:cNvSpPr>
            <a:spLocks noGrp="1"/>
          </p:cNvSpPr>
          <p:nvPr>
            <p:ph sz="quarter" idx="1"/>
          </p:nvPr>
        </p:nvSpPr>
        <p:spPr>
          <a:xfrm>
            <a:off x="533400" y="1295400"/>
            <a:ext cx="8305800" cy="5330825"/>
          </a:xfrm>
        </p:spPr>
        <p:txBody>
          <a:bodyPr>
            <a:normAutofit/>
          </a:bodyPr>
          <a:lstStyle/>
          <a:p>
            <a:r>
              <a:rPr lang="en-US" sz="2800" dirty="0"/>
              <a:t>A failure is a state where data inconsistency is visible to transactions if they are scheduled for execution. </a:t>
            </a:r>
          </a:p>
          <a:p>
            <a:r>
              <a:rPr lang="en-US" sz="2800" dirty="0"/>
              <a:t>The kind of failure could be: </a:t>
            </a:r>
            <a:endParaRPr lang="en-US" sz="2400" dirty="0"/>
          </a:p>
          <a:p>
            <a:pPr lvl="1">
              <a:buFont typeface="Wingdings" panose="05000000000000000000" pitchFamily="2" charset="2"/>
              <a:buChar char="Ø"/>
            </a:pPr>
            <a:r>
              <a:rPr lang="en-US" dirty="0"/>
              <a:t>System crashes, resulting in loss of main memory. </a:t>
            </a:r>
          </a:p>
          <a:p>
            <a:pPr lvl="1">
              <a:buFont typeface="Wingdings" panose="05000000000000000000" pitchFamily="2" charset="2"/>
              <a:buChar char="Ø"/>
            </a:pPr>
            <a:r>
              <a:rPr lang="en-US" dirty="0"/>
              <a:t>Media failures, resulting in loss of parts of secondary storage. </a:t>
            </a:r>
          </a:p>
          <a:p>
            <a:pPr lvl="1">
              <a:buFont typeface="Wingdings" panose="05000000000000000000" pitchFamily="2" charset="2"/>
              <a:buChar char="Ø"/>
            </a:pPr>
            <a:r>
              <a:rPr lang="en-US" dirty="0"/>
              <a:t>Application software errors. </a:t>
            </a:r>
          </a:p>
          <a:p>
            <a:pPr lvl="1">
              <a:buFont typeface="Wingdings" panose="05000000000000000000" pitchFamily="2" charset="2"/>
              <a:buChar char="Ø"/>
            </a:pPr>
            <a:r>
              <a:rPr lang="en-US" dirty="0"/>
              <a:t>Natural physical disasters. </a:t>
            </a:r>
          </a:p>
          <a:p>
            <a:pPr lvl="1">
              <a:buFont typeface="Wingdings" panose="05000000000000000000" pitchFamily="2" charset="2"/>
              <a:buChar char="Ø"/>
            </a:pPr>
            <a:r>
              <a:rPr lang="en-US" dirty="0"/>
              <a:t>Carelessness or unintentional destruction of data or facilities. </a:t>
            </a:r>
          </a:p>
          <a:p>
            <a:pPr lvl="1">
              <a:buFont typeface="Wingdings" panose="05000000000000000000" pitchFamily="2" charset="2"/>
              <a:buChar char="Ø"/>
            </a:pPr>
            <a:r>
              <a:rPr lang="en-US" dirty="0"/>
              <a:t>Sabotage. </a:t>
            </a:r>
          </a:p>
        </p:txBody>
      </p:sp>
    </p:spTree>
    <p:extLst>
      <p:ext uri="{BB962C8B-B14F-4D97-AF65-F5344CB8AC3E}">
        <p14:creationId xmlns:p14="http://schemas.microsoft.com/office/powerpoint/2010/main" val="3380751860"/>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dirty="0"/>
              <a:t>…CON’T</a:t>
            </a:r>
          </a:p>
        </p:txBody>
      </p:sp>
      <p:sp>
        <p:nvSpPr>
          <p:cNvPr id="43011" name="Content Placeholder 2"/>
          <p:cNvSpPr>
            <a:spLocks noGrp="1"/>
          </p:cNvSpPr>
          <p:nvPr>
            <p:ph sz="quarter" idx="1"/>
          </p:nvPr>
        </p:nvSpPr>
        <p:spPr>
          <a:xfrm>
            <a:off x="411480" y="1310640"/>
            <a:ext cx="8153400" cy="5318760"/>
          </a:xfrm>
        </p:spPr>
        <p:txBody>
          <a:bodyPr>
            <a:normAutofit lnSpcReduction="10000"/>
          </a:bodyPr>
          <a:lstStyle/>
          <a:p>
            <a:r>
              <a:rPr lang="en-US" sz="2000" dirty="0"/>
              <a:t>In databases usually a failure can generally be categorized as one of the following major groups: </a:t>
            </a:r>
          </a:p>
          <a:p>
            <a:pPr lvl="1"/>
            <a:r>
              <a:rPr lang="en-US" sz="2000" b="1" dirty="0"/>
              <a:t>1)Transaction failure</a:t>
            </a:r>
            <a:r>
              <a:rPr lang="en-US" sz="2000" dirty="0"/>
              <a:t>: a transaction cannot continue with its execution, therefore, it is aborted and if desired it may be restarted at some other time. </a:t>
            </a:r>
          </a:p>
          <a:p>
            <a:pPr lvl="3"/>
            <a:r>
              <a:rPr lang="en-US" sz="2000" dirty="0"/>
              <a:t>Reasons: Deadlock, timeout, protection violation, or system error. </a:t>
            </a:r>
          </a:p>
          <a:p>
            <a:pPr lvl="1"/>
            <a:r>
              <a:rPr lang="en-US" sz="2000" b="1" dirty="0"/>
              <a:t>2)System failure: </a:t>
            </a:r>
            <a:r>
              <a:rPr lang="en-US" sz="2000" dirty="0"/>
              <a:t>the database system is unable to process any transactions. </a:t>
            </a:r>
          </a:p>
          <a:p>
            <a:pPr lvl="3"/>
            <a:r>
              <a:rPr lang="en-US" sz="2000" dirty="0"/>
              <a:t>Some of the common reasons of system failure are: </a:t>
            </a:r>
          </a:p>
          <a:p>
            <a:pPr lvl="4"/>
            <a:r>
              <a:rPr lang="en-US" sz="2000" dirty="0"/>
              <a:t>wrong data input, register overflow, addressing error, power failure, memory failure, etc. </a:t>
            </a:r>
          </a:p>
          <a:p>
            <a:pPr lvl="1"/>
            <a:r>
              <a:rPr lang="en-US" sz="2000" b="1" dirty="0"/>
              <a:t>3)Media failure</a:t>
            </a:r>
            <a:r>
              <a:rPr lang="en-US" sz="2000" dirty="0"/>
              <a:t>: failure of non-volatile storage media (mainly disk). 	</a:t>
            </a:r>
          </a:p>
          <a:p>
            <a:pPr lvl="3"/>
            <a:r>
              <a:rPr lang="en-US" sz="2000" dirty="0"/>
              <a:t>Some of the common reasons are: </a:t>
            </a:r>
          </a:p>
          <a:p>
            <a:pPr lvl="4"/>
            <a:r>
              <a:rPr lang="en-US" sz="2000" dirty="0"/>
              <a:t>head crash, dust on the recording surfaces, fire, etc. </a:t>
            </a:r>
          </a:p>
          <a:p>
            <a:endParaRPr lang="en-US" sz="2000" dirty="0"/>
          </a:p>
        </p:txBody>
      </p:sp>
      <p:sp>
        <p:nvSpPr>
          <p:cNvPr id="43012"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87EEDA9-EE78-49E3-8AAF-417CF754D529}" type="slidenum">
              <a:rPr lang="en-US" smtClean="0">
                <a:solidFill>
                  <a:srgbClr val="FFFFFF"/>
                </a:solidFill>
              </a:rPr>
              <a:pPr/>
              <a:t>5</a:t>
            </a:fld>
            <a:endParaRPr lang="en-US">
              <a:solidFill>
                <a:srgbClr val="FFFFFF"/>
              </a:solidFill>
            </a:endParaRPr>
          </a:p>
        </p:txBody>
      </p:sp>
    </p:spTree>
    <p:extLst>
      <p:ext uri="{BB962C8B-B14F-4D97-AF65-F5344CB8AC3E}">
        <p14:creationId xmlns:p14="http://schemas.microsoft.com/office/powerpoint/2010/main" val="3040736098"/>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dirty="0"/>
              <a:t>…CON’T</a:t>
            </a:r>
          </a:p>
        </p:txBody>
      </p:sp>
      <p:sp>
        <p:nvSpPr>
          <p:cNvPr id="44035" name="Content Placeholder 2"/>
          <p:cNvSpPr>
            <a:spLocks noGrp="1"/>
          </p:cNvSpPr>
          <p:nvPr>
            <p:ph sz="quarter" idx="1"/>
          </p:nvPr>
        </p:nvSpPr>
        <p:spPr>
          <a:xfrm>
            <a:off x="457200" y="1298575"/>
            <a:ext cx="8305800" cy="5254625"/>
          </a:xfrm>
        </p:spPr>
        <p:txBody>
          <a:bodyPr>
            <a:noAutofit/>
          </a:bodyPr>
          <a:lstStyle/>
          <a:p>
            <a:r>
              <a:rPr lang="en-US" sz="2400" dirty="0"/>
              <a:t>To make the database secured, one should formulate a “plan of attack” in advance.</a:t>
            </a:r>
          </a:p>
          <a:p>
            <a:r>
              <a:rPr lang="en-US" sz="2400" dirty="0"/>
              <a:t> The plan will be used in case of database insecurity that may range from minor inconsistency to total loss of the data due to hazardous events. </a:t>
            </a:r>
          </a:p>
          <a:p>
            <a:r>
              <a:rPr lang="en-US" sz="2400" dirty="0"/>
              <a:t> The basic steps in performing a recovery are </a:t>
            </a:r>
          </a:p>
          <a:p>
            <a:pPr lvl="1"/>
            <a:r>
              <a:rPr lang="en-US" dirty="0"/>
              <a:t>1) Isolating the database from other users. Occasionally, you may need to drop and re-create the database to continue the recovery. </a:t>
            </a:r>
          </a:p>
          <a:p>
            <a:pPr lvl="1"/>
            <a:r>
              <a:rPr lang="en-US" dirty="0"/>
              <a:t>2) Restoring the database from the most recent useable dump. </a:t>
            </a:r>
          </a:p>
          <a:p>
            <a:pPr lvl="1"/>
            <a:r>
              <a:rPr lang="en-US" dirty="0"/>
              <a:t>3) Applying transaction log dumps, in the correct sequence, to the database to make the data as current as possible. </a:t>
            </a:r>
          </a:p>
        </p:txBody>
      </p:sp>
    </p:spTree>
    <p:extLst>
      <p:ext uri="{BB962C8B-B14F-4D97-AF65-F5344CB8AC3E}">
        <p14:creationId xmlns:p14="http://schemas.microsoft.com/office/powerpoint/2010/main" val="2266692525"/>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dirty="0"/>
              <a:t>…CON’T</a:t>
            </a:r>
          </a:p>
        </p:txBody>
      </p:sp>
      <p:sp>
        <p:nvSpPr>
          <p:cNvPr id="45059" name="Content Placeholder 2"/>
          <p:cNvSpPr>
            <a:spLocks noGrp="1"/>
          </p:cNvSpPr>
          <p:nvPr>
            <p:ph sz="quarter" idx="1"/>
          </p:nvPr>
        </p:nvSpPr>
        <p:spPr>
          <a:xfrm>
            <a:off x="411480" y="1371600"/>
            <a:ext cx="8281987" cy="5257800"/>
          </a:xfrm>
        </p:spPr>
        <p:txBody>
          <a:bodyPr>
            <a:normAutofit/>
          </a:bodyPr>
          <a:lstStyle/>
          <a:p>
            <a:r>
              <a:rPr lang="en-US" sz="2300" dirty="0"/>
              <a:t>It is a good idea to test your backup and recovery plans periodically by loading the backups and transaction logs into a test database and verifying that your procedure really works.</a:t>
            </a:r>
          </a:p>
          <a:p>
            <a:r>
              <a:rPr lang="en-US" sz="2300" dirty="0"/>
              <a:t>One can recover databases after three basic types of problems: user error, software failure, and hardware failure.</a:t>
            </a:r>
          </a:p>
          <a:p>
            <a:r>
              <a:rPr lang="en-US" sz="2300" dirty="0"/>
              <a:t>Each type of failure requires a recovery mechanism. </a:t>
            </a:r>
          </a:p>
          <a:p>
            <a:r>
              <a:rPr lang="en-US" sz="2300" dirty="0"/>
              <a:t>In a transaction recovery, the effect of failed transaction is removed from the database, if any. </a:t>
            </a:r>
          </a:p>
          <a:p>
            <a:r>
              <a:rPr lang="en-US" sz="2300" dirty="0"/>
              <a:t>In a system failure, the effects of failed transactions have to be removed from the database and the effects of </a:t>
            </a:r>
            <a:r>
              <a:rPr lang="en-US" sz="2300" i="1" dirty="0"/>
              <a:t>completed </a:t>
            </a:r>
            <a:r>
              <a:rPr lang="en-US" sz="2300" dirty="0"/>
              <a:t>transactions have to be </a:t>
            </a:r>
            <a:r>
              <a:rPr lang="en-US" sz="2300" i="1" dirty="0"/>
              <a:t>installed </a:t>
            </a:r>
            <a:r>
              <a:rPr lang="en-US" sz="2300" dirty="0"/>
              <a:t>in the database.  </a:t>
            </a:r>
          </a:p>
          <a:p>
            <a:r>
              <a:rPr lang="en-US" sz="2300" dirty="0"/>
              <a:t>The database recovery manger is responsible to guarantee the atomicity and durability properties of the ACID property. </a:t>
            </a:r>
          </a:p>
          <a:p>
            <a:endParaRPr lang="en-US" sz="2300" dirty="0"/>
          </a:p>
        </p:txBody>
      </p:sp>
      <p:sp>
        <p:nvSpPr>
          <p:cNvPr id="45060"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D34C88C-8379-4B2A-887E-8E1700CC898D}" type="slidenum">
              <a:rPr lang="en-US" smtClean="0">
                <a:solidFill>
                  <a:srgbClr val="FFFFFF"/>
                </a:solidFill>
              </a:rPr>
              <a:pPr/>
              <a:t>7</a:t>
            </a:fld>
            <a:endParaRPr lang="en-US">
              <a:solidFill>
                <a:srgbClr val="FFFFFF"/>
              </a:solidFill>
            </a:endParaRPr>
          </a:p>
        </p:txBody>
      </p:sp>
    </p:spTree>
    <p:extLst>
      <p:ext uri="{BB962C8B-B14F-4D97-AF65-F5344CB8AC3E}">
        <p14:creationId xmlns:p14="http://schemas.microsoft.com/office/powerpoint/2010/main" val="944953273"/>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b="1" dirty="0"/>
              <a:t>Transactions and Recovery </a:t>
            </a:r>
            <a:endParaRPr lang="en-US" dirty="0"/>
          </a:p>
        </p:txBody>
      </p:sp>
      <p:sp>
        <p:nvSpPr>
          <p:cNvPr id="49155" name="Content Placeholder 2"/>
          <p:cNvSpPr>
            <a:spLocks noGrp="1"/>
          </p:cNvSpPr>
          <p:nvPr>
            <p:ph sz="quarter" idx="1"/>
          </p:nvPr>
        </p:nvSpPr>
        <p:spPr>
          <a:xfrm>
            <a:off x="457200" y="1295400"/>
            <a:ext cx="8229600" cy="5178425"/>
          </a:xfrm>
        </p:spPr>
        <p:txBody>
          <a:bodyPr>
            <a:normAutofit lnSpcReduction="10000"/>
          </a:bodyPr>
          <a:lstStyle/>
          <a:p>
            <a:r>
              <a:rPr lang="en-US" dirty="0"/>
              <a:t>Transactions represent basic unit of recovery. </a:t>
            </a:r>
          </a:p>
          <a:p>
            <a:r>
              <a:rPr lang="en-US" dirty="0"/>
              <a:t>Recovery manager responsible for atomicity and durability. </a:t>
            </a:r>
          </a:p>
          <a:p>
            <a:r>
              <a:rPr lang="en-US" dirty="0"/>
              <a:t>If failure occurs between commit and database buffers being flushed to secondary storage then, to ensure durability, recovery manager has to </a:t>
            </a:r>
            <a:r>
              <a:rPr lang="en-US" i="1" dirty="0"/>
              <a:t>redo</a:t>
            </a:r>
            <a:r>
              <a:rPr lang="en-US" dirty="0"/>
              <a:t> (</a:t>
            </a:r>
            <a:r>
              <a:rPr lang="en-US" i="1" dirty="0"/>
              <a:t>roll forward</a:t>
            </a:r>
            <a:r>
              <a:rPr lang="en-US" dirty="0"/>
              <a:t>) transaction's updates. </a:t>
            </a:r>
          </a:p>
          <a:p>
            <a:r>
              <a:rPr lang="en-US" dirty="0"/>
              <a:t>If transaction had not committed at failure time, recovery manager has to </a:t>
            </a:r>
            <a:r>
              <a:rPr lang="en-US" i="1" dirty="0"/>
              <a:t>undo</a:t>
            </a:r>
            <a:r>
              <a:rPr lang="en-US" dirty="0"/>
              <a:t> (</a:t>
            </a:r>
            <a:r>
              <a:rPr lang="en-US" i="1" dirty="0"/>
              <a:t>rollback</a:t>
            </a:r>
            <a:r>
              <a:rPr lang="en-US" dirty="0"/>
              <a:t>) any effects of that transaction for atomicity. </a:t>
            </a:r>
          </a:p>
          <a:p>
            <a:r>
              <a:rPr lang="en-US" dirty="0"/>
              <a:t>Partial undo - only one transaction has to be undone.  </a:t>
            </a:r>
          </a:p>
          <a:p>
            <a:r>
              <a:rPr lang="en-US" dirty="0"/>
              <a:t>Global undo - all transactions have to be undone.  </a:t>
            </a:r>
          </a:p>
          <a:p>
            <a:endParaRPr lang="en-US" dirty="0"/>
          </a:p>
        </p:txBody>
      </p:sp>
      <p:sp>
        <p:nvSpPr>
          <p:cNvPr id="49156"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8972C04-DC2B-497E-AAC2-9D07C7302B7C}" type="slidenum">
              <a:rPr lang="en-US" smtClean="0">
                <a:solidFill>
                  <a:srgbClr val="FFFFFF"/>
                </a:solidFill>
              </a:rPr>
              <a:pPr/>
              <a:t>8</a:t>
            </a:fld>
            <a:endParaRPr lang="en-US">
              <a:solidFill>
                <a:srgbClr val="FFFFFF"/>
              </a:solidFill>
            </a:endParaRPr>
          </a:p>
        </p:txBody>
      </p:sp>
    </p:spTree>
    <p:extLst>
      <p:ext uri="{BB962C8B-B14F-4D97-AF65-F5344CB8AC3E}">
        <p14:creationId xmlns:p14="http://schemas.microsoft.com/office/powerpoint/2010/main" val="3210498460"/>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dirty="0"/>
              <a:t>…CON’T</a:t>
            </a:r>
          </a:p>
        </p:txBody>
      </p:sp>
      <p:sp>
        <p:nvSpPr>
          <p:cNvPr id="3" name="Content Placeholder 2"/>
          <p:cNvSpPr>
            <a:spLocks noGrp="1"/>
          </p:cNvSpPr>
          <p:nvPr>
            <p:ph sz="quarter" idx="1"/>
          </p:nvPr>
        </p:nvSpPr>
        <p:spPr>
          <a:xfrm>
            <a:off x="445294" y="1386840"/>
            <a:ext cx="8393906" cy="5318760"/>
          </a:xfrm>
        </p:spPr>
        <p:txBody>
          <a:bodyPr>
            <a:normAutofit lnSpcReduction="10000"/>
          </a:bodyPr>
          <a:lstStyle/>
          <a:p>
            <a:pPr>
              <a:defRPr/>
            </a:pPr>
            <a:r>
              <a:rPr lang="en-US" sz="2000" b="1" dirty="0"/>
              <a:t>Transaction Log</a:t>
            </a:r>
            <a:r>
              <a:rPr lang="en-US" sz="2000" dirty="0"/>
              <a:t>: Execution history of concurrent transactions.  </a:t>
            </a:r>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sz="2000" dirty="0"/>
          </a:p>
          <a:p>
            <a:pPr>
              <a:defRPr/>
            </a:pPr>
            <a:r>
              <a:rPr lang="en-US" sz="2000" dirty="0"/>
              <a:t>DBMS starts at time t0, but fails at time </a:t>
            </a:r>
            <a:r>
              <a:rPr lang="en-US" sz="2000" dirty="0" err="1"/>
              <a:t>tf</a:t>
            </a:r>
            <a:r>
              <a:rPr lang="en-US" sz="2000" dirty="0"/>
              <a:t>. </a:t>
            </a:r>
          </a:p>
          <a:p>
            <a:pPr lvl="1">
              <a:defRPr/>
            </a:pPr>
            <a:r>
              <a:rPr lang="en-US" sz="2000" dirty="0"/>
              <a:t>Assume data for transactions T2 and T3 have been written to secondary storage.  </a:t>
            </a:r>
          </a:p>
          <a:p>
            <a:pPr>
              <a:defRPr/>
            </a:pPr>
            <a:r>
              <a:rPr lang="en-US" sz="2000" dirty="0"/>
              <a:t>T1 and T6 have to be undone. In absence of any other information, recovery manager has to redo T2, T3, T4, and T5. </a:t>
            </a:r>
          </a:p>
          <a:p>
            <a:pPr>
              <a:defRPr/>
            </a:pPr>
            <a:r>
              <a:rPr lang="en-US" sz="2000" dirty="0" err="1"/>
              <a:t>tc</a:t>
            </a:r>
            <a:r>
              <a:rPr lang="en-US" sz="2000" dirty="0"/>
              <a:t> is the checkpoint time by the DBMS </a:t>
            </a:r>
          </a:p>
          <a:p>
            <a:pPr>
              <a:defRPr/>
            </a:pPr>
            <a:endParaRPr lang="en-US" dirty="0"/>
          </a:p>
          <a:p>
            <a:pPr marL="0" indent="0">
              <a:buFont typeface="Wingdings" panose="05000000000000000000" pitchFamily="2" charset="2"/>
              <a:buNone/>
              <a:defRPr/>
            </a:pPr>
            <a:endParaRPr lang="en-US" dirty="0"/>
          </a:p>
        </p:txBody>
      </p:sp>
      <p:sp>
        <p:nvSpPr>
          <p:cNvPr id="50180"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845D5D-A162-4393-9C50-A1EC30FD00F6}" type="slidenum">
              <a:rPr lang="en-US" smtClean="0">
                <a:solidFill>
                  <a:srgbClr val="FFFFFF"/>
                </a:solidFill>
              </a:rPr>
              <a:pPr/>
              <a:t>9</a:t>
            </a:fld>
            <a:endParaRPr lang="en-US">
              <a:solidFill>
                <a:srgbClr val="FFFFFF"/>
              </a:solidFill>
            </a:endParaRPr>
          </a:p>
        </p:txBody>
      </p:sp>
      <p:pic>
        <p:nvPicPr>
          <p:cNvPr id="5018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76400"/>
            <a:ext cx="7162800" cy="2963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6379442"/>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b="1" dirty="0"/>
              <a:t>Recovery Facilities </a:t>
            </a:r>
            <a:endParaRPr lang="en-US" dirty="0"/>
          </a:p>
        </p:txBody>
      </p:sp>
      <p:sp>
        <p:nvSpPr>
          <p:cNvPr id="51203" name="Content Placeholder 2"/>
          <p:cNvSpPr>
            <a:spLocks noGrp="1"/>
          </p:cNvSpPr>
          <p:nvPr>
            <p:ph sz="quarter" idx="1"/>
          </p:nvPr>
        </p:nvSpPr>
        <p:spPr>
          <a:xfrm>
            <a:off x="457200" y="1295400"/>
            <a:ext cx="8153400" cy="5211762"/>
          </a:xfrm>
        </p:spPr>
        <p:txBody>
          <a:bodyPr/>
          <a:lstStyle/>
          <a:p>
            <a:r>
              <a:rPr lang="en-US" dirty="0"/>
              <a:t>DBMS should provide following facilities to assist with recovery: </a:t>
            </a:r>
            <a:endParaRPr lang="en-US" sz="2000" dirty="0"/>
          </a:p>
          <a:p>
            <a:pPr lvl="1"/>
            <a:r>
              <a:rPr lang="en-US" sz="2000" b="1" dirty="0"/>
              <a:t>Backup mechanism:</a:t>
            </a:r>
            <a:r>
              <a:rPr lang="en-US" sz="2000" dirty="0"/>
              <a:t> that makes periodic backup copies of database. </a:t>
            </a:r>
            <a:endParaRPr lang="en-US" sz="1800" dirty="0"/>
          </a:p>
          <a:p>
            <a:pPr lvl="1"/>
            <a:r>
              <a:rPr lang="en-US" sz="2000" b="1" dirty="0"/>
              <a:t>Logging facility:</a:t>
            </a:r>
            <a:r>
              <a:rPr lang="en-US" sz="2000" dirty="0"/>
              <a:t> that keeps track of current state of transactions and database changes. </a:t>
            </a:r>
            <a:endParaRPr lang="en-US" sz="1800" dirty="0"/>
          </a:p>
          <a:p>
            <a:pPr lvl="1"/>
            <a:r>
              <a:rPr lang="en-US" sz="2000" b="1" dirty="0"/>
              <a:t>Checkpoint facility:</a:t>
            </a:r>
            <a:r>
              <a:rPr lang="en-US" sz="2000" dirty="0"/>
              <a:t> that enables updates to database in progress to be made permanent. </a:t>
            </a:r>
            <a:endParaRPr lang="en-US" sz="1800" dirty="0"/>
          </a:p>
          <a:p>
            <a:pPr lvl="1"/>
            <a:r>
              <a:rPr lang="en-US" sz="2000" b="1" dirty="0"/>
              <a:t>Recovery manger:</a:t>
            </a:r>
            <a:r>
              <a:rPr lang="en-US" sz="2000" dirty="0"/>
              <a:t> This allows the DBMS to restore the database to a consistent state following a failure. </a:t>
            </a:r>
            <a:endParaRPr lang="en-US" sz="1800" dirty="0"/>
          </a:p>
          <a:p>
            <a:r>
              <a:rPr lang="en-US" sz="2000" dirty="0"/>
              <a:t>Restoring the database means transforming the state of the database to the immediate good state before the failure. </a:t>
            </a:r>
          </a:p>
          <a:p>
            <a:r>
              <a:rPr lang="en-US" sz="2000" dirty="0"/>
              <a:t>To do this, the change made on the database should be preserved. </a:t>
            </a:r>
          </a:p>
          <a:p>
            <a:r>
              <a:rPr lang="en-US" sz="2000" dirty="0"/>
              <a:t>Such kind of information is stored in a </a:t>
            </a:r>
            <a:r>
              <a:rPr lang="en-US" sz="2000" b="1" i="1" dirty="0"/>
              <a:t>system log</a:t>
            </a:r>
            <a:r>
              <a:rPr lang="en-US" sz="2000" dirty="0"/>
              <a:t> or </a:t>
            </a:r>
            <a:r>
              <a:rPr lang="en-US" sz="2000" b="1" i="1" dirty="0"/>
              <a:t>transaction log</a:t>
            </a:r>
            <a:r>
              <a:rPr lang="en-US" sz="2000" dirty="0"/>
              <a:t> file</a:t>
            </a:r>
            <a:r>
              <a:rPr lang="en-US" dirty="0"/>
              <a:t>. </a:t>
            </a:r>
          </a:p>
          <a:p>
            <a:endParaRPr lang="en-US" dirty="0"/>
          </a:p>
        </p:txBody>
      </p:sp>
      <p:sp>
        <p:nvSpPr>
          <p:cNvPr id="51204"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CEB85D5-322A-47A3-8D10-9700ACDEA677}" type="slidenum">
              <a:rPr lang="en-US" smtClean="0">
                <a:solidFill>
                  <a:srgbClr val="FFFFFF"/>
                </a:solidFill>
              </a:rPr>
              <a:pPr/>
              <a:t>10</a:t>
            </a:fld>
            <a:endParaRPr lang="en-US">
              <a:solidFill>
                <a:srgbClr val="FFFFFF"/>
              </a:solidFill>
            </a:endParaRPr>
          </a:p>
        </p:txBody>
      </p:sp>
    </p:spTree>
    <p:extLst>
      <p:ext uri="{BB962C8B-B14F-4D97-AF65-F5344CB8AC3E}">
        <p14:creationId xmlns:p14="http://schemas.microsoft.com/office/powerpoint/2010/main" val="3481272183"/>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b="1" dirty="0"/>
              <a:t>Log File </a:t>
            </a:r>
            <a:endParaRPr lang="en-US" dirty="0"/>
          </a:p>
        </p:txBody>
      </p:sp>
      <p:sp>
        <p:nvSpPr>
          <p:cNvPr id="52227" name="Content Placeholder 2"/>
          <p:cNvSpPr>
            <a:spLocks noGrp="1"/>
          </p:cNvSpPr>
          <p:nvPr>
            <p:ph sz="quarter" idx="1"/>
          </p:nvPr>
        </p:nvSpPr>
        <p:spPr>
          <a:xfrm>
            <a:off x="457200" y="1295400"/>
            <a:ext cx="8382000" cy="5410200"/>
          </a:xfrm>
        </p:spPr>
        <p:txBody>
          <a:bodyPr/>
          <a:lstStyle/>
          <a:p>
            <a:r>
              <a:rPr lang="en-US" sz="2000" dirty="0"/>
              <a:t>Contains information about all updates to database: </a:t>
            </a:r>
            <a:endParaRPr lang="en-US" sz="1800" dirty="0"/>
          </a:p>
          <a:p>
            <a:pPr lvl="1"/>
            <a:r>
              <a:rPr lang="en-US" sz="2000" dirty="0"/>
              <a:t>Transaction records. </a:t>
            </a:r>
            <a:endParaRPr lang="en-US" sz="1800" dirty="0"/>
          </a:p>
          <a:p>
            <a:pPr lvl="1"/>
            <a:r>
              <a:rPr lang="en-US" sz="2000" dirty="0"/>
              <a:t>Checkpoint records. </a:t>
            </a:r>
            <a:endParaRPr lang="en-US" sz="1800" dirty="0"/>
          </a:p>
          <a:p>
            <a:r>
              <a:rPr lang="en-US" sz="2000" dirty="0"/>
              <a:t>Often used for other purposes (for example, auditing). </a:t>
            </a:r>
            <a:endParaRPr lang="en-US" sz="1800" dirty="0"/>
          </a:p>
          <a:p>
            <a:r>
              <a:rPr lang="en-US" sz="2000" dirty="0"/>
              <a:t>Transaction records contain: </a:t>
            </a:r>
            <a:endParaRPr lang="en-US" sz="1800" dirty="0"/>
          </a:p>
          <a:p>
            <a:pPr lvl="1"/>
            <a:r>
              <a:rPr lang="en-US" sz="2000" dirty="0"/>
              <a:t>Transaction identifier. </a:t>
            </a:r>
            <a:endParaRPr lang="en-US" sz="1800" dirty="0"/>
          </a:p>
          <a:p>
            <a:pPr lvl="1"/>
            <a:r>
              <a:rPr lang="en-US" sz="2000" dirty="0"/>
              <a:t>Type of log record, (transaction start, insert, update, delete, abort, commit). </a:t>
            </a:r>
            <a:endParaRPr lang="en-US" sz="1800" dirty="0"/>
          </a:p>
          <a:p>
            <a:pPr lvl="1"/>
            <a:r>
              <a:rPr lang="en-US" sz="2000" dirty="0"/>
              <a:t>Identifier of data item affected by database action (insert, delete, and update operations). </a:t>
            </a:r>
            <a:endParaRPr lang="en-US" sz="1800" dirty="0"/>
          </a:p>
          <a:p>
            <a:pPr lvl="1"/>
            <a:r>
              <a:rPr lang="en-US" sz="2000" dirty="0"/>
              <a:t>Before-image of data item. </a:t>
            </a:r>
            <a:endParaRPr lang="en-US" sz="1800" dirty="0"/>
          </a:p>
          <a:p>
            <a:pPr lvl="1"/>
            <a:r>
              <a:rPr lang="en-US" sz="2000" dirty="0"/>
              <a:t>After-image of data item. </a:t>
            </a:r>
            <a:endParaRPr lang="en-US" sz="1600" dirty="0"/>
          </a:p>
          <a:p>
            <a:r>
              <a:rPr lang="en-US" sz="2000" dirty="0"/>
              <a:t>Log management information. </a:t>
            </a:r>
            <a:endParaRPr lang="en-US" sz="1600" dirty="0"/>
          </a:p>
          <a:p>
            <a:r>
              <a:rPr lang="en-US" sz="2000" dirty="0"/>
              <a:t>Log file sometimes split into two separate random-access files. </a:t>
            </a:r>
            <a:endParaRPr lang="en-US" sz="1600" dirty="0"/>
          </a:p>
          <a:p>
            <a:r>
              <a:rPr lang="en-US" sz="2000" dirty="0"/>
              <a:t>Potential bottleneck; critical in determining overall performance. </a:t>
            </a:r>
            <a:endParaRPr lang="en-US" sz="1600" dirty="0"/>
          </a:p>
          <a:p>
            <a:endParaRPr lang="en-US" sz="2000" dirty="0"/>
          </a:p>
        </p:txBody>
      </p:sp>
      <p:sp>
        <p:nvSpPr>
          <p:cNvPr id="52228"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B774BD-2365-4404-AE34-456E59291735}" type="slidenum">
              <a:rPr lang="en-US" smtClean="0">
                <a:solidFill>
                  <a:srgbClr val="FFFFFF"/>
                </a:solidFill>
              </a:rPr>
              <a:pPr/>
              <a:t>11</a:t>
            </a:fld>
            <a:endParaRPr lang="en-US">
              <a:solidFill>
                <a:srgbClr val="FFFFFF"/>
              </a:solidFill>
            </a:endParaRPr>
          </a:p>
        </p:txBody>
      </p:sp>
    </p:spTree>
    <p:extLst>
      <p:ext uri="{BB962C8B-B14F-4D97-AF65-F5344CB8AC3E}">
        <p14:creationId xmlns:p14="http://schemas.microsoft.com/office/powerpoint/2010/main" val="2717511001"/>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dirty="0"/>
              <a:t>…CON’T</a:t>
            </a:r>
          </a:p>
        </p:txBody>
      </p:sp>
      <p:sp>
        <p:nvSpPr>
          <p:cNvPr id="53251"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65517F2-AED0-4AB5-A8BF-4F4A26FF054A}" type="slidenum">
              <a:rPr lang="en-US" smtClean="0">
                <a:solidFill>
                  <a:srgbClr val="FFFFFF"/>
                </a:solidFill>
              </a:rPr>
              <a:pPr/>
              <a:t>12</a:t>
            </a:fld>
            <a:endParaRPr lang="en-US">
              <a:solidFill>
                <a:srgbClr val="FFFFFF"/>
              </a:solidFill>
            </a:endParaRPr>
          </a:p>
        </p:txBody>
      </p:sp>
      <p:pic>
        <p:nvPicPr>
          <p:cNvPr id="532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2" y="1295401"/>
            <a:ext cx="7672388"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5927810"/>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b="1" dirty="0"/>
              <a:t>Check pointing </a:t>
            </a:r>
            <a:endParaRPr lang="en-US" dirty="0"/>
          </a:p>
        </p:txBody>
      </p:sp>
      <p:sp>
        <p:nvSpPr>
          <p:cNvPr id="54275" name="Content Placeholder 2"/>
          <p:cNvSpPr>
            <a:spLocks noGrp="1"/>
          </p:cNvSpPr>
          <p:nvPr>
            <p:ph sz="quarter" idx="1"/>
          </p:nvPr>
        </p:nvSpPr>
        <p:spPr>
          <a:xfrm>
            <a:off x="457200" y="1295400"/>
            <a:ext cx="8001000" cy="5178425"/>
          </a:xfrm>
        </p:spPr>
        <p:txBody>
          <a:bodyPr/>
          <a:lstStyle/>
          <a:p>
            <a:r>
              <a:rPr lang="en-US" u="sng" dirty="0"/>
              <a:t>Checkpoint: </a:t>
            </a:r>
            <a:r>
              <a:rPr lang="en-US" dirty="0"/>
              <a:t> is a point of synchronization between database and log file. All buffers are force-written to secondary storage. </a:t>
            </a:r>
            <a:endParaRPr lang="en-US" sz="2000" dirty="0"/>
          </a:p>
          <a:p>
            <a:pPr lvl="1"/>
            <a:r>
              <a:rPr lang="en-US" sz="2400" dirty="0"/>
              <a:t>Checkpoint record is created containing identifiers of all active transactions. </a:t>
            </a:r>
            <a:endParaRPr lang="en-US" sz="1800" dirty="0"/>
          </a:p>
          <a:p>
            <a:pPr lvl="1"/>
            <a:r>
              <a:rPr lang="en-US" sz="2400" dirty="0"/>
              <a:t>When failure occurs, redo all transactions that committed since the checkpoint and undo all transactions active at time of crash. </a:t>
            </a:r>
            <a:endParaRPr lang="en-US" sz="1800" dirty="0"/>
          </a:p>
          <a:p>
            <a:pPr lvl="1"/>
            <a:r>
              <a:rPr lang="en-US" sz="2400" dirty="0"/>
              <a:t>In previous example, with checkpoint at time </a:t>
            </a:r>
            <a:r>
              <a:rPr lang="en-US" sz="2400" dirty="0" err="1"/>
              <a:t>tc</a:t>
            </a:r>
            <a:r>
              <a:rPr lang="en-US" sz="2400" dirty="0"/>
              <a:t>, changes made by T2 and T3 have been written to secondary storage.  </a:t>
            </a:r>
            <a:endParaRPr lang="en-US" sz="1800" dirty="0"/>
          </a:p>
          <a:p>
            <a:pPr lvl="1"/>
            <a:r>
              <a:rPr lang="en-US" sz="2400" dirty="0"/>
              <a:t>Thus: </a:t>
            </a:r>
            <a:endParaRPr lang="en-US" sz="1800" dirty="0"/>
          </a:p>
          <a:p>
            <a:pPr lvl="2"/>
            <a:r>
              <a:rPr lang="en-US" sz="2000" dirty="0"/>
              <a:t>Only redo T4 and T5,  Undo transactions T1 and T6. </a:t>
            </a:r>
            <a:endParaRPr lang="en-US" dirty="0"/>
          </a:p>
          <a:p>
            <a:endParaRPr lang="en-US" dirty="0"/>
          </a:p>
        </p:txBody>
      </p:sp>
      <p:sp>
        <p:nvSpPr>
          <p:cNvPr id="54276"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55119D4-0D03-4F15-A79D-66724921FE5C}" type="slidenum">
              <a:rPr lang="en-US" smtClean="0">
                <a:solidFill>
                  <a:srgbClr val="FFFFFF"/>
                </a:solidFill>
              </a:rPr>
              <a:pPr/>
              <a:t>13</a:t>
            </a:fld>
            <a:endParaRPr lang="en-US">
              <a:solidFill>
                <a:srgbClr val="FFFFFF"/>
              </a:solidFill>
            </a:endParaRPr>
          </a:p>
        </p:txBody>
      </p:sp>
    </p:spTree>
    <p:extLst>
      <p:ext uri="{BB962C8B-B14F-4D97-AF65-F5344CB8AC3E}">
        <p14:creationId xmlns:p14="http://schemas.microsoft.com/office/powerpoint/2010/main" val="396726606"/>
      </p:ext>
    </p:extLst>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sz="3200" b="1" dirty="0"/>
              <a:t>Recovery Techniques </a:t>
            </a:r>
            <a:endParaRPr lang="en-US" sz="3200" dirty="0"/>
          </a:p>
        </p:txBody>
      </p:sp>
      <p:sp>
        <p:nvSpPr>
          <p:cNvPr id="55299" name="Content Placeholder 2"/>
          <p:cNvSpPr>
            <a:spLocks noGrp="1"/>
          </p:cNvSpPr>
          <p:nvPr>
            <p:ph sz="quarter" idx="1"/>
          </p:nvPr>
        </p:nvSpPr>
        <p:spPr>
          <a:xfrm>
            <a:off x="457200" y="1298575"/>
            <a:ext cx="8382000" cy="5407025"/>
          </a:xfrm>
        </p:spPr>
        <p:txBody>
          <a:bodyPr>
            <a:noAutofit/>
          </a:bodyPr>
          <a:lstStyle/>
          <a:p>
            <a:r>
              <a:rPr lang="en-US" sz="2700" dirty="0"/>
              <a:t>Damage to the database could be either physical and relate which will result in the loss of the data stored or just inconsistency of the database state after the failure.  </a:t>
            </a:r>
          </a:p>
          <a:p>
            <a:r>
              <a:rPr lang="en-US" sz="2700" dirty="0"/>
              <a:t>For each we can have a recover mechanism: </a:t>
            </a:r>
          </a:p>
          <a:p>
            <a:pPr lvl="1"/>
            <a:r>
              <a:rPr lang="en-US" sz="2700" dirty="0"/>
              <a:t>1) If database has been damaged: </a:t>
            </a:r>
          </a:p>
          <a:p>
            <a:pPr lvl="2"/>
            <a:r>
              <a:rPr lang="en-US" sz="2700" dirty="0"/>
              <a:t>Need to restore last backup copy of database and reapply updates of committed transactions using log file.  </a:t>
            </a:r>
          </a:p>
          <a:p>
            <a:pPr lvl="2"/>
            <a:r>
              <a:rPr lang="en-US" sz="2700" dirty="0"/>
              <a:t>Extensive damage/catastrophic failure: physical media failure; is restored by using the backup copy and by re executing the committed transactions from the log up to the time of failure. </a:t>
            </a:r>
          </a:p>
        </p:txBody>
      </p:sp>
    </p:spTree>
    <p:extLst>
      <p:ext uri="{BB962C8B-B14F-4D97-AF65-F5344CB8AC3E}">
        <p14:creationId xmlns:p14="http://schemas.microsoft.com/office/powerpoint/2010/main" val="2159145130"/>
      </p:ext>
    </p:extLst>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dirty="0"/>
              <a:t>…CON’T</a:t>
            </a:r>
          </a:p>
        </p:txBody>
      </p:sp>
      <p:sp>
        <p:nvSpPr>
          <p:cNvPr id="56323" name="Content Placeholder 2"/>
          <p:cNvSpPr>
            <a:spLocks noGrp="1"/>
          </p:cNvSpPr>
          <p:nvPr>
            <p:ph sz="quarter" idx="1"/>
          </p:nvPr>
        </p:nvSpPr>
        <p:spPr>
          <a:xfrm>
            <a:off x="457200" y="1298575"/>
            <a:ext cx="8077200" cy="4111625"/>
          </a:xfrm>
        </p:spPr>
        <p:txBody>
          <a:bodyPr>
            <a:noAutofit/>
          </a:bodyPr>
          <a:lstStyle/>
          <a:p>
            <a:r>
              <a:rPr lang="en-US" sz="2700" dirty="0"/>
              <a:t>2) ) If database is only inconsistent: </a:t>
            </a:r>
          </a:p>
          <a:p>
            <a:pPr lvl="2"/>
            <a:r>
              <a:rPr lang="en-US" sz="2700" dirty="0"/>
              <a:t>No physical damage/only inconsistent: the restoring is done by reversing the changes made on the database by consulting the transaction log. </a:t>
            </a:r>
          </a:p>
          <a:p>
            <a:pPr lvl="2"/>
            <a:r>
              <a:rPr lang="en-US" sz="2700" dirty="0"/>
              <a:t>Need to undo changes that caused inconsistency. May also need to redo some transactions to ensure updates reach secondary storage.  </a:t>
            </a:r>
          </a:p>
          <a:p>
            <a:pPr lvl="2"/>
            <a:r>
              <a:rPr lang="en-US" sz="2700" dirty="0"/>
              <a:t>Do not need backup, but can restore database using before- and after-images in the log file. </a:t>
            </a:r>
          </a:p>
        </p:txBody>
      </p:sp>
    </p:spTree>
    <p:extLst>
      <p:ext uri="{BB962C8B-B14F-4D97-AF65-F5344CB8AC3E}">
        <p14:creationId xmlns:p14="http://schemas.microsoft.com/office/powerpoint/2010/main" val="1831216310"/>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82000" cy="1143000"/>
          </a:xfrm>
        </p:spPr>
        <p:txBody>
          <a:bodyPr>
            <a:normAutofit fontScale="90000"/>
          </a:bodyPr>
          <a:lstStyle/>
          <a:p>
            <a:pPr>
              <a:defRPr/>
            </a:pPr>
            <a:r>
              <a:rPr lang="en-US" b="1" dirty="0"/>
              <a:t>Recovery Techniques for Inconsistent Database State </a:t>
            </a:r>
            <a:endParaRPr lang="en-US" dirty="0"/>
          </a:p>
        </p:txBody>
      </p:sp>
      <p:sp>
        <p:nvSpPr>
          <p:cNvPr id="57347" name="Content Placeholder 2"/>
          <p:cNvSpPr>
            <a:spLocks noGrp="1"/>
          </p:cNvSpPr>
          <p:nvPr>
            <p:ph sz="quarter" idx="1"/>
          </p:nvPr>
        </p:nvSpPr>
        <p:spPr>
          <a:xfrm>
            <a:off x="457200" y="1524000"/>
            <a:ext cx="8001000" cy="4114800"/>
          </a:xfrm>
        </p:spPr>
        <p:txBody>
          <a:bodyPr/>
          <a:lstStyle/>
          <a:p>
            <a:r>
              <a:rPr lang="en-US" b="1" dirty="0"/>
              <a:t>Recovery is required if only the database is updated. </a:t>
            </a:r>
          </a:p>
          <a:p>
            <a:r>
              <a:rPr lang="en-US" b="1" dirty="0"/>
              <a:t>The kind of recovery also depends on the kind of update made on the database.  </a:t>
            </a:r>
            <a:endParaRPr lang="en-US" sz="1800" dirty="0"/>
          </a:p>
          <a:p>
            <a:r>
              <a:rPr lang="en-US" b="1" dirty="0"/>
              <a:t>Database update: </a:t>
            </a:r>
            <a:r>
              <a:rPr lang="en-US" dirty="0"/>
              <a:t>A transaction’s updates to the database can be applied in two ways: </a:t>
            </a:r>
            <a:endParaRPr lang="en-US" sz="1800" dirty="0"/>
          </a:p>
          <a:p>
            <a:pPr lvl="1"/>
            <a:r>
              <a:rPr lang="en-US" sz="2800" dirty="0"/>
              <a:t>Three main recovery techniques: </a:t>
            </a:r>
            <a:endParaRPr lang="en-US" sz="2000" dirty="0"/>
          </a:p>
          <a:p>
            <a:pPr lvl="2"/>
            <a:r>
              <a:rPr lang="en-US" sz="2400" dirty="0"/>
              <a:t>Deferred Update </a:t>
            </a:r>
            <a:endParaRPr lang="en-US" sz="2000" dirty="0"/>
          </a:p>
          <a:p>
            <a:pPr lvl="2"/>
            <a:r>
              <a:rPr lang="en-US" sz="2400" dirty="0"/>
              <a:t>Immediate Update </a:t>
            </a:r>
            <a:endParaRPr lang="en-US" sz="2000" dirty="0"/>
          </a:p>
          <a:p>
            <a:pPr lvl="2"/>
            <a:r>
              <a:rPr lang="en-US" sz="2400" dirty="0"/>
              <a:t>Shadow Paging </a:t>
            </a:r>
            <a:endParaRPr lang="en-US" sz="2000" dirty="0"/>
          </a:p>
          <a:p>
            <a:pPr marL="0" indent="0">
              <a:buNone/>
            </a:pPr>
            <a:endParaRPr lang="en-US" dirty="0"/>
          </a:p>
        </p:txBody>
      </p:sp>
      <p:sp>
        <p:nvSpPr>
          <p:cNvPr id="57348"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8E295AB-9F8B-4EAD-AE79-BA36930DC9C0}" type="slidenum">
              <a:rPr lang="en-US" smtClean="0">
                <a:solidFill>
                  <a:srgbClr val="FFFFFF"/>
                </a:solidFill>
              </a:rPr>
              <a:pPr/>
              <a:t>16</a:t>
            </a:fld>
            <a:endParaRPr lang="en-US">
              <a:solidFill>
                <a:srgbClr val="FFFFFF"/>
              </a:solidFill>
            </a:endParaRPr>
          </a:p>
        </p:txBody>
      </p:sp>
    </p:spTree>
    <p:extLst>
      <p:ext uri="{BB962C8B-B14F-4D97-AF65-F5344CB8AC3E}">
        <p14:creationId xmlns:p14="http://schemas.microsoft.com/office/powerpoint/2010/main" val="3079401727"/>
      </p:ext>
    </p:extLst>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b="1" dirty="0"/>
              <a:t>Deferred Update </a:t>
            </a:r>
            <a:endParaRPr lang="en-US" dirty="0"/>
          </a:p>
        </p:txBody>
      </p:sp>
      <p:sp>
        <p:nvSpPr>
          <p:cNvPr id="58371" name="Content Placeholder 2"/>
          <p:cNvSpPr>
            <a:spLocks noGrp="1"/>
          </p:cNvSpPr>
          <p:nvPr>
            <p:ph sz="quarter" idx="1"/>
          </p:nvPr>
        </p:nvSpPr>
        <p:spPr>
          <a:xfrm>
            <a:off x="381000" y="1298575"/>
            <a:ext cx="8458200" cy="5254625"/>
          </a:xfrm>
        </p:spPr>
        <p:txBody>
          <a:bodyPr>
            <a:noAutofit/>
          </a:bodyPr>
          <a:lstStyle/>
          <a:p>
            <a:r>
              <a:rPr lang="en-US" sz="2000" dirty="0"/>
              <a:t>Updates are not written to the database until after a transaction has reached its commit point.  </a:t>
            </a:r>
          </a:p>
          <a:p>
            <a:r>
              <a:rPr lang="en-US" sz="2000" dirty="0"/>
              <a:t>If transaction fails before commit, it will not have modified database and so </a:t>
            </a:r>
            <a:r>
              <a:rPr lang="en-US" sz="2000" b="1" dirty="0"/>
              <a:t>no undoing </a:t>
            </a:r>
            <a:r>
              <a:rPr lang="en-US" sz="2000" dirty="0"/>
              <a:t>of changes required.  </a:t>
            </a:r>
          </a:p>
          <a:p>
            <a:r>
              <a:rPr lang="en-US" sz="2000" dirty="0"/>
              <a:t>May be necessary to </a:t>
            </a:r>
            <a:r>
              <a:rPr lang="en-US" sz="2000" b="1" dirty="0"/>
              <a:t>redo </a:t>
            </a:r>
            <a:r>
              <a:rPr lang="en-US" sz="2000" dirty="0"/>
              <a:t>updates of committed transactions as their effect may not have reached database. </a:t>
            </a:r>
          </a:p>
          <a:p>
            <a:r>
              <a:rPr lang="en-US" sz="2000" dirty="0"/>
              <a:t>If a transaction aborts, ignore the log record for it. And do nothing with transaction having a “transaction start” and “Transaction abort” log records </a:t>
            </a:r>
          </a:p>
          <a:p>
            <a:r>
              <a:rPr lang="en-US" sz="2000" dirty="0"/>
              <a:t>A transaction first modifies all its data items and then writes all its updates to the final copy of the database. No change is going to be recorded on the database before commit. The changes will be made only on the local transaction workplace. Update on the actual database is made after commit and after the change is recorded on the log. Since there is no need to perform undo operation it is also called </a:t>
            </a:r>
            <a:r>
              <a:rPr lang="en-US" sz="2000" b="1" dirty="0"/>
              <a:t>NO-UNDO/REDO Algorithm </a:t>
            </a:r>
          </a:p>
          <a:p>
            <a:r>
              <a:rPr lang="en-US" sz="2000" dirty="0"/>
              <a:t>The redo operations are made   in the order they were written to log. </a:t>
            </a:r>
          </a:p>
          <a:p>
            <a:endParaRPr lang="en-US" sz="2000" dirty="0"/>
          </a:p>
        </p:txBody>
      </p:sp>
      <p:sp>
        <p:nvSpPr>
          <p:cNvPr id="58372"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344082F-2A96-4B1D-8B14-A16C66891729}" type="slidenum">
              <a:rPr lang="en-US" smtClean="0">
                <a:solidFill>
                  <a:srgbClr val="FFFFFF"/>
                </a:solidFill>
              </a:rPr>
              <a:pPr/>
              <a:t>17</a:t>
            </a:fld>
            <a:endParaRPr lang="en-US">
              <a:solidFill>
                <a:srgbClr val="FFFFFF"/>
              </a:solidFill>
            </a:endParaRPr>
          </a:p>
        </p:txBody>
      </p:sp>
    </p:spTree>
    <p:extLst>
      <p:ext uri="{BB962C8B-B14F-4D97-AF65-F5344CB8AC3E}">
        <p14:creationId xmlns:p14="http://schemas.microsoft.com/office/powerpoint/2010/main" val="1720378211"/>
      </p:ext>
    </p:extLst>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normAutofit fontScale="90000"/>
          </a:bodyPr>
          <a:lstStyle/>
          <a:p>
            <a:pPr>
              <a:defRPr/>
            </a:pPr>
            <a:r>
              <a:rPr lang="en-US" b="1" dirty="0"/>
              <a:t>Immediate Update/ Update-In-Place </a:t>
            </a:r>
            <a:endParaRPr lang="en-US" dirty="0"/>
          </a:p>
        </p:txBody>
      </p:sp>
      <p:sp>
        <p:nvSpPr>
          <p:cNvPr id="59395" name="Content Placeholder 2"/>
          <p:cNvSpPr>
            <a:spLocks noGrp="1"/>
          </p:cNvSpPr>
          <p:nvPr>
            <p:ph sz="quarter" idx="1"/>
          </p:nvPr>
        </p:nvSpPr>
        <p:spPr>
          <a:xfrm>
            <a:off x="457200" y="1295400"/>
            <a:ext cx="8305800" cy="5330825"/>
          </a:xfrm>
        </p:spPr>
        <p:txBody>
          <a:bodyPr/>
          <a:lstStyle/>
          <a:p>
            <a:r>
              <a:rPr lang="en-US" dirty="0"/>
              <a:t>Updates are applied to database as they occur. </a:t>
            </a:r>
          </a:p>
          <a:p>
            <a:r>
              <a:rPr lang="en-US" dirty="0"/>
              <a:t>Need to redo updates of committed transactions following a failure. </a:t>
            </a:r>
          </a:p>
          <a:p>
            <a:r>
              <a:rPr lang="en-US" dirty="0"/>
              <a:t>May need to undo effects of transactions that had not committed at time of failure. </a:t>
            </a:r>
          </a:p>
          <a:p>
            <a:r>
              <a:rPr lang="en-US" dirty="0"/>
              <a:t>Essential that log records are written before write to database. </a:t>
            </a:r>
            <a:r>
              <a:rPr lang="en-US" b="1" dirty="0"/>
              <a:t>Write ahead log protocol</a:t>
            </a:r>
            <a:r>
              <a:rPr lang="en-US" dirty="0"/>
              <a:t>.  </a:t>
            </a:r>
          </a:p>
          <a:p>
            <a:r>
              <a:rPr lang="en-US" dirty="0"/>
              <a:t>If no "transaction commit" record in log, then that transaction was active at failure and must be </a:t>
            </a:r>
            <a:r>
              <a:rPr lang="en-US" b="1" dirty="0"/>
              <a:t>undone</a:t>
            </a:r>
            <a:r>
              <a:rPr lang="en-US" dirty="0"/>
              <a:t>. </a:t>
            </a:r>
          </a:p>
          <a:p>
            <a:r>
              <a:rPr lang="en-US" dirty="0"/>
              <a:t>Undo operations are performed in reverse order in which they were written to log.  </a:t>
            </a:r>
          </a:p>
          <a:p>
            <a:endParaRPr lang="en-US" dirty="0"/>
          </a:p>
        </p:txBody>
      </p:sp>
      <p:sp>
        <p:nvSpPr>
          <p:cNvPr id="59396"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5F31D3A-49E5-48CB-BE56-2B1EC4572EFD}" type="slidenum">
              <a:rPr lang="en-US" smtClean="0">
                <a:solidFill>
                  <a:srgbClr val="FFFFFF"/>
                </a:solidFill>
              </a:rPr>
              <a:pPr/>
              <a:t>18</a:t>
            </a:fld>
            <a:endParaRPr lang="en-US">
              <a:solidFill>
                <a:srgbClr val="FFFFFF"/>
              </a:solidFill>
            </a:endParaRPr>
          </a:p>
        </p:txBody>
      </p:sp>
    </p:spTree>
    <p:extLst>
      <p:ext uri="{BB962C8B-B14F-4D97-AF65-F5344CB8AC3E}">
        <p14:creationId xmlns:p14="http://schemas.microsoft.com/office/powerpoint/2010/main" val="3904249620"/>
      </p:ext>
    </p:extLst>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dirty="0"/>
              <a:t>…CON’T</a:t>
            </a:r>
          </a:p>
        </p:txBody>
      </p:sp>
      <p:sp>
        <p:nvSpPr>
          <p:cNvPr id="60419" name="Content Placeholder 2"/>
          <p:cNvSpPr>
            <a:spLocks noGrp="1"/>
          </p:cNvSpPr>
          <p:nvPr>
            <p:ph sz="quarter" idx="1"/>
          </p:nvPr>
        </p:nvSpPr>
        <p:spPr>
          <a:xfrm>
            <a:off x="457200" y="1298575"/>
            <a:ext cx="8382000" cy="5330825"/>
          </a:xfrm>
        </p:spPr>
        <p:txBody>
          <a:bodyPr/>
          <a:lstStyle/>
          <a:p>
            <a:r>
              <a:rPr lang="en-US" sz="2400" dirty="0"/>
              <a:t>As soon as a transaction updates a data item, it updates the final copy of the database on the database disk. </a:t>
            </a:r>
          </a:p>
          <a:p>
            <a:r>
              <a:rPr lang="en-US" sz="2400" dirty="0"/>
              <a:t>During making the update, the change will be recorded on the transaction log to permit rollback operation in case of failure. </a:t>
            </a:r>
          </a:p>
          <a:p>
            <a:r>
              <a:rPr lang="en-US" sz="2100" dirty="0"/>
              <a:t>UNDO and REDO are required to make the transaction consistent. </a:t>
            </a:r>
          </a:p>
          <a:p>
            <a:pPr lvl="1"/>
            <a:r>
              <a:rPr lang="en-US" dirty="0"/>
              <a:t>Thus it is called </a:t>
            </a:r>
            <a:r>
              <a:rPr lang="en-US" b="1" dirty="0"/>
              <a:t>UNDO/REDO Algorithm. </a:t>
            </a:r>
          </a:p>
          <a:p>
            <a:pPr lvl="1"/>
            <a:r>
              <a:rPr lang="en-US" dirty="0"/>
              <a:t>This algorithm will undo all updates made in place before commit. </a:t>
            </a:r>
          </a:p>
          <a:p>
            <a:pPr lvl="1"/>
            <a:r>
              <a:rPr lang="en-US" dirty="0"/>
              <a:t>The redo is required because some operations which are completed but not committed should go to the database.</a:t>
            </a:r>
          </a:p>
          <a:p>
            <a:pPr lvl="1"/>
            <a:r>
              <a:rPr lang="en-US" dirty="0"/>
              <a:t>If we don’t have the second scenario, then the other variation of this algorithm is called</a:t>
            </a:r>
            <a:r>
              <a:rPr lang="en-US" b="1" dirty="0"/>
              <a:t> UNDO/NO-REDO Algorithm. </a:t>
            </a:r>
            <a:endParaRPr lang="en-US" dirty="0"/>
          </a:p>
        </p:txBody>
      </p:sp>
      <p:sp>
        <p:nvSpPr>
          <p:cNvPr id="60420"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F87CDC1-CD69-4B10-A1CB-E459335FDE7D}" type="slidenum">
              <a:rPr lang="en-US" smtClean="0">
                <a:solidFill>
                  <a:srgbClr val="FFFFFF"/>
                </a:solidFill>
              </a:rPr>
              <a:pPr/>
              <a:t>19</a:t>
            </a:fld>
            <a:endParaRPr lang="en-US">
              <a:solidFill>
                <a:srgbClr val="FFFFFF"/>
              </a:solidFill>
            </a:endParaRPr>
          </a:p>
        </p:txBody>
      </p:sp>
    </p:spTree>
    <p:extLst>
      <p:ext uri="{BB962C8B-B14F-4D97-AF65-F5344CB8AC3E}">
        <p14:creationId xmlns:p14="http://schemas.microsoft.com/office/powerpoint/2010/main" val="3700395520"/>
      </p:ext>
    </p:extLst>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58200" cy="1143000"/>
          </a:xfrm>
        </p:spPr>
        <p:txBody>
          <a:bodyPr/>
          <a:lstStyle/>
          <a:p>
            <a:pPr>
              <a:defRPr/>
            </a:pPr>
            <a:r>
              <a:rPr lang="en-US" sz="3200" b="1" dirty="0"/>
              <a:t>Shadow Paging </a:t>
            </a:r>
            <a:endParaRPr lang="en-US" sz="3200" dirty="0"/>
          </a:p>
        </p:txBody>
      </p:sp>
      <p:sp>
        <p:nvSpPr>
          <p:cNvPr id="61443" name="Content Placeholder 2"/>
          <p:cNvSpPr>
            <a:spLocks noGrp="1"/>
          </p:cNvSpPr>
          <p:nvPr>
            <p:ph sz="quarter" idx="1"/>
          </p:nvPr>
        </p:nvSpPr>
        <p:spPr>
          <a:xfrm>
            <a:off x="457200" y="1374775"/>
            <a:ext cx="8153400" cy="5330825"/>
          </a:xfrm>
        </p:spPr>
        <p:txBody>
          <a:bodyPr>
            <a:normAutofit lnSpcReduction="10000"/>
          </a:bodyPr>
          <a:lstStyle/>
          <a:p>
            <a:r>
              <a:rPr lang="en-US" dirty="0"/>
              <a:t>Maintain two page tables during life of a transaction:</a:t>
            </a:r>
          </a:p>
          <a:p>
            <a:pPr lvl="1"/>
            <a:r>
              <a:rPr lang="en-US" dirty="0"/>
              <a:t>Current page and </a:t>
            </a:r>
          </a:p>
          <a:p>
            <a:pPr lvl="1"/>
            <a:r>
              <a:rPr lang="en-US" dirty="0"/>
              <a:t>Shadow page table.  </a:t>
            </a:r>
          </a:p>
          <a:p>
            <a:r>
              <a:rPr lang="en-US" dirty="0"/>
              <a:t>When transaction starts, two pages are the same.  </a:t>
            </a:r>
          </a:p>
          <a:p>
            <a:r>
              <a:rPr lang="en-US" dirty="0"/>
              <a:t>Shadow page table is never changed thereafter and is used to restore database in event of failure.  </a:t>
            </a:r>
          </a:p>
          <a:p>
            <a:r>
              <a:rPr lang="en-US" dirty="0"/>
              <a:t>During transaction, current page table records all updates to database. </a:t>
            </a:r>
          </a:p>
          <a:p>
            <a:r>
              <a:rPr lang="en-US" dirty="0"/>
              <a:t>When transaction completes, current page table becomes shadow page table. </a:t>
            </a:r>
          </a:p>
          <a:p>
            <a:r>
              <a:rPr lang="en-US" dirty="0"/>
              <a:t>No log record management </a:t>
            </a:r>
          </a:p>
          <a:p>
            <a:r>
              <a:rPr lang="en-US" dirty="0"/>
              <a:t>However, it has an overhead of managing pages i.e. page replacement issues have to be handled. </a:t>
            </a:r>
          </a:p>
          <a:p>
            <a:endParaRPr lang="en-US" dirty="0"/>
          </a:p>
        </p:txBody>
      </p:sp>
      <p:sp>
        <p:nvSpPr>
          <p:cNvPr id="61444"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F5B3C53-704A-4535-82C8-F237CF146ABF}" type="slidenum">
              <a:rPr lang="en-US" smtClean="0">
                <a:solidFill>
                  <a:srgbClr val="FFFFFF"/>
                </a:solidFill>
              </a:rPr>
              <a:pPr/>
              <a:t>20</a:t>
            </a:fld>
            <a:endParaRPr lang="en-US">
              <a:solidFill>
                <a:srgbClr val="FFFFFF"/>
              </a:solidFill>
            </a:endParaRPr>
          </a:p>
        </p:txBody>
      </p:sp>
    </p:spTree>
    <p:extLst>
      <p:ext uri="{BB962C8B-B14F-4D97-AF65-F5344CB8AC3E}">
        <p14:creationId xmlns:p14="http://schemas.microsoft.com/office/powerpoint/2010/main" val="2402970342"/>
      </p:ext>
    </p:extLst>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1C924-47EC-8FF4-5613-6EC82879F08D}"/>
              </a:ext>
            </a:extLst>
          </p:cNvPr>
          <p:cNvSpPr>
            <a:spLocks noGrp="1"/>
          </p:cNvSpPr>
          <p:nvPr>
            <p:ph type="title"/>
          </p:nvPr>
        </p:nvSpPr>
        <p:spPr/>
        <p:txBody>
          <a:bodyPr/>
          <a:lstStyle/>
          <a:p>
            <a:r>
              <a:rPr lang="en-US" dirty="0"/>
              <a:t>E</a:t>
            </a:r>
            <a:r>
              <a:rPr lang="en-ET" dirty="0"/>
              <a:t>xample of </a:t>
            </a:r>
          </a:p>
        </p:txBody>
      </p:sp>
      <p:sp>
        <p:nvSpPr>
          <p:cNvPr id="4" name="Slide Number Placeholder 3">
            <a:extLst>
              <a:ext uri="{FF2B5EF4-FFF2-40B4-BE49-F238E27FC236}">
                <a16:creationId xmlns:a16="http://schemas.microsoft.com/office/drawing/2014/main" id="{2B10ACB9-162D-1F30-642A-00EDC1167C23}"/>
              </a:ext>
            </a:extLst>
          </p:cNvPr>
          <p:cNvSpPr>
            <a:spLocks noGrp="1"/>
          </p:cNvSpPr>
          <p:nvPr>
            <p:ph type="sldNum" sz="quarter" idx="12"/>
          </p:nvPr>
        </p:nvSpPr>
        <p:spPr/>
        <p:txBody>
          <a:bodyPr/>
          <a:lstStyle/>
          <a:p>
            <a:fld id="{B6F15528-21DE-4FAA-801E-634DDDAF4B2B}" type="slidenum">
              <a:rPr lang="en-US" smtClean="0"/>
              <a:pPr/>
              <a:t>21</a:t>
            </a:fld>
            <a:endParaRPr lang="en-US"/>
          </a:p>
        </p:txBody>
      </p:sp>
      <p:pic>
        <p:nvPicPr>
          <p:cNvPr id="9" name="Content Placeholder 8">
            <a:extLst>
              <a:ext uri="{FF2B5EF4-FFF2-40B4-BE49-F238E27FC236}">
                <a16:creationId xmlns:a16="http://schemas.microsoft.com/office/drawing/2014/main" id="{79B06D85-2D77-C204-BD83-24C924F648D8}"/>
              </a:ext>
            </a:extLst>
          </p:cNvPr>
          <p:cNvPicPr>
            <a:picLocks noGrp="1" noChangeAspect="1"/>
          </p:cNvPicPr>
          <p:nvPr>
            <p:ph sz="quarter" idx="1"/>
          </p:nvPr>
        </p:nvPicPr>
        <p:blipFill>
          <a:blip r:embed="rId2"/>
          <a:stretch>
            <a:fillRect/>
          </a:stretch>
        </p:blipFill>
        <p:spPr>
          <a:xfrm>
            <a:off x="603504" y="1417638"/>
            <a:ext cx="8394192" cy="4906962"/>
          </a:xfrm>
          <a:prstGeom prst="rect">
            <a:avLst/>
          </a:prstGeom>
        </p:spPr>
      </p:pic>
    </p:spTree>
    <p:extLst>
      <p:ext uri="{BB962C8B-B14F-4D97-AF65-F5344CB8AC3E}">
        <p14:creationId xmlns:p14="http://schemas.microsoft.com/office/powerpoint/2010/main" val="1622948939"/>
      </p:ext>
    </p:extLst>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normAutofit fontScale="90000"/>
          </a:bodyPr>
          <a:lstStyle/>
          <a:p>
            <a:r>
              <a:rPr lang="en-US" altLang="en-US" dirty="0"/>
              <a:t>4.6 Recovery in Multidatabase Systems</a:t>
            </a:r>
          </a:p>
        </p:txBody>
      </p:sp>
      <p:sp>
        <p:nvSpPr>
          <p:cNvPr id="38915" name="Content Placeholder 2"/>
          <p:cNvSpPr>
            <a:spLocks noGrp="1"/>
          </p:cNvSpPr>
          <p:nvPr>
            <p:ph idx="1"/>
          </p:nvPr>
        </p:nvSpPr>
        <p:spPr/>
        <p:txBody>
          <a:bodyPr>
            <a:normAutofit/>
          </a:bodyPr>
          <a:lstStyle/>
          <a:p>
            <a:r>
              <a:rPr lang="en-US" dirty="0"/>
              <a:t>Two-level recovery mechanism</a:t>
            </a:r>
          </a:p>
          <a:p>
            <a:r>
              <a:rPr lang="en-US" altLang="en-US" dirty="0"/>
              <a:t>Global recovery manager (coordinator) needed to maintain recovery information</a:t>
            </a:r>
          </a:p>
          <a:p>
            <a:r>
              <a:rPr lang="en-US" altLang="en-US" dirty="0"/>
              <a:t>Coordinator follows two-phase commit protocol</a:t>
            </a:r>
          </a:p>
          <a:p>
            <a:pPr lvl="1"/>
            <a:r>
              <a:rPr lang="en-US" altLang="en-US" dirty="0"/>
              <a:t>Phase 1: Prepare for commit message</a:t>
            </a:r>
          </a:p>
          <a:p>
            <a:pPr lvl="2"/>
            <a:r>
              <a:rPr lang="en-US" altLang="en-US" dirty="0"/>
              <a:t>Ready to commit or cannot commit signal returned</a:t>
            </a:r>
          </a:p>
          <a:p>
            <a:pPr lvl="1"/>
            <a:r>
              <a:rPr lang="en-US" altLang="en-US" dirty="0"/>
              <a:t>Phase 2: Issue commit signal</a:t>
            </a:r>
          </a:p>
          <a:p>
            <a:r>
              <a:rPr lang="en-US" dirty="0"/>
              <a:t>Either all participating databases commit the effect of the transaction or none of them do</a:t>
            </a:r>
            <a:endParaRPr lang="en-US"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normAutofit fontScale="90000"/>
          </a:bodyPr>
          <a:lstStyle/>
          <a:p>
            <a:r>
              <a:rPr lang="en-US" altLang="en-US" dirty="0"/>
              <a:t>Recovery in Multidatabase Systems (cont’d.)</a:t>
            </a:r>
          </a:p>
        </p:txBody>
      </p:sp>
      <p:sp>
        <p:nvSpPr>
          <p:cNvPr id="38915" name="Content Placeholder 2"/>
          <p:cNvSpPr>
            <a:spLocks noGrp="1"/>
          </p:cNvSpPr>
          <p:nvPr>
            <p:ph idx="1"/>
          </p:nvPr>
        </p:nvSpPr>
        <p:spPr/>
        <p:txBody>
          <a:bodyPr/>
          <a:lstStyle/>
          <a:p>
            <a:r>
              <a:rPr lang="en-US" dirty="0"/>
              <a:t>Always possible to recover to a state where either the transaction is committed or it is rolled back</a:t>
            </a:r>
          </a:p>
          <a:p>
            <a:r>
              <a:rPr lang="en-US" altLang="en-US" dirty="0"/>
              <a:t>Failure during phase 1 requires rollback</a:t>
            </a:r>
          </a:p>
          <a:p>
            <a:r>
              <a:rPr lang="en-US" altLang="en-US" dirty="0"/>
              <a:t>Failure during phase 2 means successful transaction can recover and commit</a:t>
            </a:r>
          </a:p>
        </p:txBody>
      </p:sp>
    </p:spTree>
    <p:extLst>
      <p:ext uri="{BB962C8B-B14F-4D97-AF65-F5344CB8AC3E}">
        <p14:creationId xmlns:p14="http://schemas.microsoft.com/office/powerpoint/2010/main" val="1353464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normAutofit fontScale="90000"/>
          </a:bodyPr>
          <a:lstStyle/>
          <a:p>
            <a:r>
              <a:rPr lang="en-US" altLang="en-US" dirty="0"/>
              <a:t>4.7 Database Backup and Recovery</a:t>
            </a:r>
            <a:br>
              <a:rPr lang="en-US" altLang="en-US" dirty="0"/>
            </a:br>
            <a:r>
              <a:rPr lang="en-US" altLang="en-US" dirty="0"/>
              <a:t>from Catastrophic Failures</a:t>
            </a:r>
          </a:p>
        </p:txBody>
      </p:sp>
      <p:sp>
        <p:nvSpPr>
          <p:cNvPr id="39939" name="Content Placeholder 2"/>
          <p:cNvSpPr>
            <a:spLocks noGrp="1"/>
          </p:cNvSpPr>
          <p:nvPr>
            <p:ph idx="1"/>
          </p:nvPr>
        </p:nvSpPr>
        <p:spPr/>
        <p:txBody>
          <a:bodyPr/>
          <a:lstStyle/>
          <a:p>
            <a:r>
              <a:rPr lang="en-US" altLang="en-US" dirty="0"/>
              <a:t>Database backup</a:t>
            </a:r>
          </a:p>
          <a:p>
            <a:pPr lvl="1"/>
            <a:r>
              <a:rPr lang="en-US" altLang="en-US" dirty="0"/>
              <a:t>Entire database and log periodically copied onto inexpensive storage medium</a:t>
            </a:r>
          </a:p>
          <a:p>
            <a:pPr lvl="1"/>
            <a:r>
              <a:rPr lang="en-US" altLang="en-US" dirty="0"/>
              <a:t>Latest backup copy can be reloaded from disk in case of catastrophic failure</a:t>
            </a:r>
          </a:p>
          <a:p>
            <a:r>
              <a:rPr lang="en-US" altLang="en-US" dirty="0"/>
              <a:t>Backups often moved to physically separate locations</a:t>
            </a:r>
          </a:p>
          <a:p>
            <a:pPr lvl="1"/>
            <a:r>
              <a:rPr lang="en-US" altLang="en-US" dirty="0"/>
              <a:t>Subterranean storage vaults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normAutofit fontScale="90000"/>
          </a:bodyPr>
          <a:lstStyle/>
          <a:p>
            <a:r>
              <a:rPr lang="en-US" altLang="en-US" dirty="0"/>
              <a:t>Database Backup and Recovery</a:t>
            </a:r>
            <a:br>
              <a:rPr lang="en-US" altLang="en-US" dirty="0"/>
            </a:br>
            <a:r>
              <a:rPr lang="en-US" altLang="en-US" dirty="0"/>
              <a:t>from Catastrophic Failures (cont’d.)</a:t>
            </a:r>
          </a:p>
        </p:txBody>
      </p:sp>
      <p:sp>
        <p:nvSpPr>
          <p:cNvPr id="39939" name="Content Placeholder 2"/>
          <p:cNvSpPr>
            <a:spLocks noGrp="1"/>
          </p:cNvSpPr>
          <p:nvPr>
            <p:ph idx="1"/>
          </p:nvPr>
        </p:nvSpPr>
        <p:spPr/>
        <p:txBody>
          <a:bodyPr/>
          <a:lstStyle/>
          <a:p>
            <a:r>
              <a:rPr lang="en-US" altLang="en-US" dirty="0"/>
              <a:t>Backup system log at more frequent intervals and copy to magnetic tape</a:t>
            </a:r>
          </a:p>
          <a:p>
            <a:pPr lvl="1"/>
            <a:r>
              <a:rPr lang="en-US" altLang="en-US" dirty="0"/>
              <a:t>System log smaller than database</a:t>
            </a:r>
          </a:p>
          <a:p>
            <a:pPr lvl="2"/>
            <a:r>
              <a:rPr lang="en-US" altLang="en-US" dirty="0"/>
              <a:t>Can be backed up more frequently</a:t>
            </a:r>
          </a:p>
          <a:p>
            <a:pPr lvl="1"/>
            <a:r>
              <a:rPr lang="en-US" altLang="en-US" dirty="0"/>
              <a:t>Benefit: users do not lose all transactions since last database backup</a:t>
            </a:r>
          </a:p>
        </p:txBody>
      </p:sp>
    </p:spTree>
    <p:extLst>
      <p:ext uri="{BB962C8B-B14F-4D97-AF65-F5344CB8AC3E}">
        <p14:creationId xmlns:p14="http://schemas.microsoft.com/office/powerpoint/2010/main" val="4009624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6A6EDBEA-5597-717B-066E-36D50CD03969}"/>
              </a:ext>
            </a:extLst>
          </p:cNvPr>
          <p:cNvSpPr>
            <a:spLocks noGrp="1" noChangeArrowheads="1"/>
          </p:cNvSpPr>
          <p:nvPr>
            <p:ph idx="1"/>
          </p:nvPr>
        </p:nvSpPr>
        <p:spPr>
          <a:xfrm>
            <a:off x="381000" y="914400"/>
            <a:ext cx="8229600" cy="5562600"/>
          </a:xfrm>
        </p:spPr>
        <p:txBody>
          <a:bodyPr/>
          <a:lstStyle/>
          <a:p>
            <a:pPr eaLnBrk="1" hangingPunct="1">
              <a:lnSpc>
                <a:spcPct val="90000"/>
              </a:lnSpc>
            </a:pPr>
            <a:r>
              <a:rPr lang="en-US" altLang="en-US" sz="2200" dirty="0">
                <a:latin typeface="Times New Roman" panose="02020603050405020304" pitchFamily="18" charset="0"/>
                <a:cs typeface="Times New Roman" panose="02020603050405020304" pitchFamily="18" charset="0"/>
              </a:rPr>
              <a:t>It is designed to work with a </a:t>
            </a:r>
            <a:r>
              <a:rPr lang="en-US" altLang="en-US" sz="2200" dirty="0">
                <a:solidFill>
                  <a:srgbClr val="FF0000"/>
                </a:solidFill>
                <a:latin typeface="Times New Roman" panose="02020603050405020304" pitchFamily="18" charset="0"/>
                <a:cs typeface="Times New Roman" panose="02020603050405020304" pitchFamily="18" charset="0"/>
              </a:rPr>
              <a:t>steal , no- force </a:t>
            </a:r>
            <a:r>
              <a:rPr lang="en-US" altLang="en-US" sz="2200" dirty="0">
                <a:latin typeface="Times New Roman" panose="02020603050405020304" pitchFamily="18" charset="0"/>
                <a:cs typeface="Times New Roman" panose="02020603050405020304" pitchFamily="18" charset="0"/>
              </a:rPr>
              <a:t>approach </a:t>
            </a:r>
          </a:p>
          <a:p>
            <a:pPr eaLnBrk="1" hangingPunct="1">
              <a:lnSpc>
                <a:spcPct val="90000"/>
              </a:lnSpc>
            </a:pPr>
            <a:r>
              <a:rPr lang="en-US" altLang="en-US" sz="2200" dirty="0">
                <a:latin typeface="Times New Roman" panose="02020603050405020304" pitchFamily="18" charset="0"/>
                <a:cs typeface="Times New Roman" panose="02020603050405020304" pitchFamily="18" charset="0"/>
              </a:rPr>
              <a:t>It is based on: </a:t>
            </a:r>
            <a:r>
              <a:rPr lang="en-US" altLang="en-US" sz="2200" dirty="0">
                <a:solidFill>
                  <a:srgbClr val="0000FF"/>
                </a:solidFill>
                <a:latin typeface="Times New Roman" panose="02020603050405020304" pitchFamily="18" charset="0"/>
                <a:cs typeface="Times New Roman" panose="02020603050405020304" pitchFamily="18" charset="0"/>
              </a:rPr>
              <a:t>three principles</a:t>
            </a:r>
          </a:p>
          <a:p>
            <a:pPr lvl="1" eaLnBrk="1" hangingPunct="1">
              <a:lnSpc>
                <a:spcPct val="90000"/>
              </a:lnSpc>
            </a:pPr>
            <a:r>
              <a:rPr lang="en-US" altLang="en-US" sz="2200" b="1" dirty="0">
                <a:solidFill>
                  <a:srgbClr val="CC00CC"/>
                </a:solidFill>
                <a:latin typeface="Times New Roman" panose="02020603050405020304" pitchFamily="18" charset="0"/>
                <a:cs typeface="Times New Roman" panose="02020603050405020304" pitchFamily="18" charset="0"/>
              </a:rPr>
              <a:t>WAL</a:t>
            </a:r>
            <a:r>
              <a:rPr lang="en-US" altLang="en-US" sz="2200" dirty="0">
                <a:solidFill>
                  <a:srgbClr val="CC00CC"/>
                </a:solidFill>
                <a:latin typeface="Times New Roman" panose="02020603050405020304" pitchFamily="18" charset="0"/>
                <a:cs typeface="Times New Roman" panose="02020603050405020304" pitchFamily="18" charset="0"/>
              </a:rPr>
              <a:t> (Write Ahead Logging)</a:t>
            </a:r>
          </a:p>
          <a:p>
            <a:pPr lvl="2" eaLnBrk="1" hangingPunct="1">
              <a:lnSpc>
                <a:spcPct val="90000"/>
              </a:lnSpc>
            </a:pPr>
            <a:r>
              <a:rPr lang="en-US" altLang="en-US" sz="2200" dirty="0">
                <a:latin typeface="Times New Roman" panose="02020603050405020304" pitchFamily="18" charset="0"/>
                <a:cs typeface="Times New Roman" panose="02020603050405020304" pitchFamily="18" charset="0"/>
              </a:rPr>
              <a:t>Any change to the database object is first recorded in the log</a:t>
            </a:r>
          </a:p>
          <a:p>
            <a:pPr lvl="2" eaLnBrk="1" hangingPunct="1">
              <a:lnSpc>
                <a:spcPct val="90000"/>
              </a:lnSpc>
            </a:pPr>
            <a:r>
              <a:rPr lang="en-US" altLang="en-US" sz="2200" dirty="0">
                <a:latin typeface="Times New Roman" panose="02020603050405020304" pitchFamily="18" charset="0"/>
                <a:cs typeface="Times New Roman" panose="02020603050405020304" pitchFamily="18" charset="0"/>
              </a:rPr>
              <a:t>The record on the log must first be save on the  disk and then</a:t>
            </a:r>
          </a:p>
          <a:p>
            <a:pPr lvl="2" eaLnBrk="1" hangingPunct="1">
              <a:lnSpc>
                <a:spcPct val="90000"/>
              </a:lnSpc>
            </a:pPr>
            <a:r>
              <a:rPr lang="en-US" altLang="en-US" sz="2200" dirty="0">
                <a:latin typeface="Times New Roman" panose="02020603050405020304" pitchFamily="18" charset="0"/>
                <a:cs typeface="Times New Roman" panose="02020603050405020304" pitchFamily="18" charset="0"/>
              </a:rPr>
              <a:t>The database object is written to disk</a:t>
            </a:r>
          </a:p>
          <a:p>
            <a:pPr lvl="1" eaLnBrk="1" hangingPunct="1">
              <a:lnSpc>
                <a:spcPct val="90000"/>
              </a:lnSpc>
            </a:pPr>
            <a:r>
              <a:rPr lang="en-US" altLang="en-US" sz="2200" b="1" dirty="0">
                <a:solidFill>
                  <a:srgbClr val="CC00CC"/>
                </a:solidFill>
                <a:latin typeface="Times New Roman" panose="02020603050405020304" pitchFamily="18" charset="0"/>
                <a:cs typeface="Times New Roman" panose="02020603050405020304" pitchFamily="18" charset="0"/>
              </a:rPr>
              <a:t>Repeating history during redo</a:t>
            </a:r>
            <a:r>
              <a:rPr lang="en-US" altLang="en-US" sz="2200" dirty="0">
                <a:solidFill>
                  <a:srgbClr val="CC00CC"/>
                </a:solidFill>
                <a:latin typeface="Times New Roman" panose="02020603050405020304" pitchFamily="18" charset="0"/>
                <a:cs typeface="Times New Roman" panose="02020603050405020304" pitchFamily="18" charset="0"/>
              </a:rPr>
              <a:t>:  </a:t>
            </a:r>
          </a:p>
          <a:p>
            <a:pPr lvl="2" eaLnBrk="1" hangingPunct="1">
              <a:lnSpc>
                <a:spcPct val="90000"/>
              </a:lnSpc>
            </a:pPr>
            <a:r>
              <a:rPr lang="en-US" altLang="en-US" sz="2200" dirty="0">
                <a:latin typeface="Times New Roman" panose="02020603050405020304" pitchFamily="18" charset="0"/>
                <a:cs typeface="Times New Roman" panose="02020603050405020304" pitchFamily="18" charset="0"/>
              </a:rPr>
              <a:t>ARIES will retrace all actions of the database system prior to the crash to reconstruct the database state when the crash occurred.</a:t>
            </a:r>
          </a:p>
          <a:p>
            <a:pPr lvl="2" eaLnBrk="1" hangingPunct="1">
              <a:lnSpc>
                <a:spcPct val="90000"/>
              </a:lnSpc>
            </a:pPr>
            <a:r>
              <a:rPr lang="en-US" altLang="en-US" sz="2200" dirty="0">
                <a:latin typeface="Times New Roman" panose="02020603050405020304" pitchFamily="18" charset="0"/>
                <a:cs typeface="Times New Roman" panose="02020603050405020304" pitchFamily="18" charset="0"/>
              </a:rPr>
              <a:t>Transaction that were un committed at the time of crash are undone</a:t>
            </a:r>
          </a:p>
          <a:p>
            <a:pPr lvl="1" eaLnBrk="1" hangingPunct="1">
              <a:lnSpc>
                <a:spcPct val="90000"/>
              </a:lnSpc>
            </a:pPr>
            <a:r>
              <a:rPr lang="en-US" altLang="en-US" sz="2200" b="1" dirty="0">
                <a:solidFill>
                  <a:srgbClr val="CC00CC"/>
                </a:solidFill>
                <a:latin typeface="Times New Roman" panose="02020603050405020304" pitchFamily="18" charset="0"/>
                <a:cs typeface="Times New Roman" panose="02020603050405020304" pitchFamily="18" charset="0"/>
              </a:rPr>
              <a:t>Logging changes during undo</a:t>
            </a:r>
            <a:r>
              <a:rPr lang="en-US" altLang="en-US" sz="2200" dirty="0">
                <a:solidFill>
                  <a:srgbClr val="CC00CC"/>
                </a:solidFill>
                <a:latin typeface="Times New Roman" panose="02020603050405020304" pitchFamily="18" charset="0"/>
                <a:cs typeface="Times New Roman" panose="02020603050405020304" pitchFamily="18" charset="0"/>
              </a:rPr>
              <a:t>:</a:t>
            </a:r>
          </a:p>
          <a:p>
            <a:pPr lvl="2" eaLnBrk="1" hangingPunct="1">
              <a:lnSpc>
                <a:spcPct val="90000"/>
              </a:lnSpc>
            </a:pPr>
            <a:r>
              <a:rPr lang="en-US" altLang="en-US" sz="2200" dirty="0">
                <a:latin typeface="Times New Roman" panose="02020603050405020304" pitchFamily="18" charset="0"/>
                <a:cs typeface="Times New Roman" panose="02020603050405020304" pitchFamily="18" charset="0"/>
              </a:rPr>
              <a:t>It will prevent ARIES from repeating the completed undo operations if a failure occurs during recovery, which causes a restart of the recovery process.</a:t>
            </a:r>
          </a:p>
          <a:p>
            <a:pPr eaLnBrk="1" hangingPunct="1">
              <a:lnSpc>
                <a:spcPct val="90000"/>
              </a:lnSpc>
            </a:pPr>
            <a:endParaRPr lang="en-US" altLang="en-US" sz="2200" dirty="0">
              <a:latin typeface="Times New Roman" panose="02020603050405020304" pitchFamily="18" charset="0"/>
              <a:cs typeface="Times New Roman" panose="02020603050405020304" pitchFamily="18" charset="0"/>
            </a:endParaRPr>
          </a:p>
        </p:txBody>
      </p:sp>
      <p:sp>
        <p:nvSpPr>
          <p:cNvPr id="41987" name="Slide Number Placeholder 5">
            <a:extLst>
              <a:ext uri="{FF2B5EF4-FFF2-40B4-BE49-F238E27FC236}">
                <a16:creationId xmlns:a16="http://schemas.microsoft.com/office/drawing/2014/main" id="{908FA3E0-17AB-3B65-D9E8-B70FADA419EC}"/>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fld id="{FDDC3626-A677-8248-ABDA-945058962D01}" type="slidenum">
              <a:rPr lang="en-US" altLang="en-US" sz="1400"/>
              <a:pPr algn="r" eaLnBrk="1" hangingPunct="1"/>
              <a:t>26</a:t>
            </a:fld>
            <a:endParaRPr lang="en-US" altLang="en-US" sz="1400"/>
          </a:p>
        </p:txBody>
      </p:sp>
      <p:sp>
        <p:nvSpPr>
          <p:cNvPr id="2" name="Title 1">
            <a:extLst>
              <a:ext uri="{FF2B5EF4-FFF2-40B4-BE49-F238E27FC236}">
                <a16:creationId xmlns:a16="http://schemas.microsoft.com/office/drawing/2014/main" id="{5138CE8A-4007-9E89-6F33-A52A803E6B48}"/>
              </a:ext>
            </a:extLst>
          </p:cNvPr>
          <p:cNvSpPr>
            <a:spLocks noGrp="1"/>
          </p:cNvSpPr>
          <p:nvPr>
            <p:ph type="title"/>
          </p:nvPr>
        </p:nvSpPr>
        <p:spPr>
          <a:xfrm>
            <a:off x="381000" y="136525"/>
            <a:ext cx="8534400" cy="614361"/>
          </a:xfrm>
        </p:spPr>
        <p:txBody>
          <a:bodyPr>
            <a:normAutofit fontScale="90000"/>
          </a:bodyPr>
          <a:lstStyle/>
          <a:p>
            <a:r>
              <a:rPr lang="en-US" altLang="en-US" sz="4000" b="1" dirty="0">
                <a:latin typeface="Times New Roman" panose="02020603050405020304" pitchFamily="18" charset="0"/>
                <a:cs typeface="Times New Roman" panose="02020603050405020304" pitchFamily="18" charset="0"/>
              </a:rPr>
              <a:t>The ARIES Recovery Algorithm</a:t>
            </a:r>
            <a:endParaRPr lang="en-US" altLang="en-US" dirty="0"/>
          </a:p>
        </p:txBody>
      </p:sp>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a:extLst>
              <a:ext uri="{FF2B5EF4-FFF2-40B4-BE49-F238E27FC236}">
                <a16:creationId xmlns:a16="http://schemas.microsoft.com/office/drawing/2014/main" id="{D879292B-8D3C-25C1-45DB-B5A6C1987E73}"/>
              </a:ext>
            </a:extLst>
          </p:cNvPr>
          <p:cNvSpPr>
            <a:spLocks noGrp="1" noChangeArrowheads="1"/>
          </p:cNvSpPr>
          <p:nvPr>
            <p:ph idx="1"/>
          </p:nvPr>
        </p:nvSpPr>
        <p:spPr>
          <a:xfrm>
            <a:off x="228600" y="228600"/>
            <a:ext cx="8915400" cy="6096000"/>
          </a:xfrm>
        </p:spPr>
        <p:txBody>
          <a:bodyPr/>
          <a:lstStyle/>
          <a:p>
            <a:pPr marL="812800" indent="-812800" eaLnBrk="1" hangingPunct="1">
              <a:buFont typeface="Wingdings 2" pitchFamily="2" charset="2"/>
              <a:buNone/>
            </a:pPr>
            <a:r>
              <a:rPr lang="en-US" altLang="en-US" sz="3600">
                <a:solidFill>
                  <a:srgbClr val="0000FF"/>
                </a:solidFill>
                <a:latin typeface="Times New Roman" panose="02020603050405020304" pitchFamily="18" charset="0"/>
              </a:rPr>
              <a:t>Data Update </a:t>
            </a:r>
            <a:r>
              <a:rPr lang="en-US" altLang="en-US" sz="2400">
                <a:solidFill>
                  <a:srgbClr val="0000FF"/>
                </a:solidFill>
                <a:latin typeface="Times New Roman" panose="02020603050405020304" pitchFamily="18" charset="0"/>
              </a:rPr>
              <a:t>: </a:t>
            </a:r>
            <a:r>
              <a:rPr lang="en-US" altLang="en-US" sz="2400">
                <a:solidFill>
                  <a:srgbClr val="FF3300"/>
                </a:solidFill>
                <a:latin typeface="Times New Roman" panose="02020603050405020304" pitchFamily="18" charset="0"/>
              </a:rPr>
              <a:t>Four types</a:t>
            </a:r>
          </a:p>
          <a:p>
            <a:pPr marL="1168400" lvl="1" indent="-711200" eaLnBrk="1" hangingPunct="1"/>
            <a:r>
              <a:rPr lang="en-US" altLang="en-US" sz="2400" b="1">
                <a:solidFill>
                  <a:srgbClr val="FF00FF"/>
                </a:solidFill>
                <a:latin typeface="Times New Roman" panose="02020603050405020304" pitchFamily="18" charset="0"/>
              </a:rPr>
              <a:t>Deferred Update</a:t>
            </a:r>
            <a:r>
              <a:rPr lang="en-US" altLang="en-US" sz="2400">
                <a:latin typeface="Times New Roman" panose="02020603050405020304" pitchFamily="18" charset="0"/>
              </a:rPr>
              <a:t>:  </a:t>
            </a:r>
          </a:p>
          <a:p>
            <a:pPr marL="1524000" lvl="2" indent="-609600" eaLnBrk="1" hangingPunct="1">
              <a:buClr>
                <a:srgbClr val="FF0000"/>
              </a:buClr>
              <a:buFont typeface="Wingdings" pitchFamily="2" charset="2"/>
              <a:buChar char="§"/>
            </a:pPr>
            <a:r>
              <a:rPr lang="en-US" altLang="en-US">
                <a:latin typeface="Times New Roman" panose="02020603050405020304" pitchFamily="18" charset="0"/>
              </a:rPr>
              <a:t>All transaction  updates are recorded in the local workspace (cache)</a:t>
            </a:r>
          </a:p>
          <a:p>
            <a:pPr marL="1524000" lvl="2" indent="-609600" eaLnBrk="1" hangingPunct="1">
              <a:buClr>
                <a:srgbClr val="FF0000"/>
              </a:buClr>
              <a:buFont typeface="Wingdings" pitchFamily="2" charset="2"/>
              <a:buChar char="§"/>
            </a:pPr>
            <a:r>
              <a:rPr lang="en-US" altLang="en-US">
                <a:solidFill>
                  <a:srgbClr val="0070C0"/>
                </a:solidFill>
                <a:latin typeface="Times New Roman" panose="02020603050405020304" pitchFamily="18" charset="0"/>
              </a:rPr>
              <a:t>All modified data items in the cache is then written after a transaction ends its execution or after a fixed number of transactions have completed their execution.</a:t>
            </a:r>
          </a:p>
          <a:p>
            <a:pPr marL="1524000" lvl="2" indent="-609600" eaLnBrk="1" hangingPunct="1">
              <a:buClr>
                <a:srgbClr val="FF0000"/>
              </a:buClr>
              <a:buFont typeface="Wingdings" pitchFamily="2" charset="2"/>
              <a:buChar char="§"/>
            </a:pPr>
            <a:r>
              <a:rPr lang="en-US" altLang="en-US">
                <a:latin typeface="Times New Roman" panose="02020603050405020304" pitchFamily="18" charset="0"/>
              </a:rPr>
              <a:t>During commit the updates are first recorded on the log and then on the database</a:t>
            </a:r>
          </a:p>
          <a:p>
            <a:pPr marL="1524000" lvl="2" indent="-609600" eaLnBrk="1" hangingPunct="1">
              <a:buClr>
                <a:srgbClr val="FF0000"/>
              </a:buClr>
              <a:buFont typeface="Wingdings" pitchFamily="2" charset="2"/>
              <a:buChar char="§"/>
            </a:pPr>
            <a:r>
              <a:rPr lang="en-US" altLang="en-US">
                <a:latin typeface="Times New Roman" panose="02020603050405020304" pitchFamily="18" charset="0"/>
              </a:rPr>
              <a:t>If a transaction fails before reaching its commit point undo is not needed because it didn’t change the database yet</a:t>
            </a:r>
          </a:p>
          <a:p>
            <a:pPr marL="1524000" lvl="2" indent="-609600" eaLnBrk="1" hangingPunct="1">
              <a:buClr>
                <a:srgbClr val="FF0000"/>
              </a:buClr>
              <a:buFont typeface="Wingdings" pitchFamily="2" charset="2"/>
              <a:buChar char="§"/>
            </a:pPr>
            <a:r>
              <a:rPr lang="en-US" altLang="en-US">
                <a:latin typeface="Times New Roman" panose="02020603050405020304" pitchFamily="18" charset="0"/>
              </a:rPr>
              <a:t>If a transaction fails after commit (writing on the log) but before finishing saving to the data base redoing is needed from the log</a:t>
            </a:r>
          </a:p>
        </p:txBody>
      </p:sp>
      <p:sp>
        <p:nvSpPr>
          <p:cNvPr id="43011" name="Slide Number Placeholder 5">
            <a:extLst>
              <a:ext uri="{FF2B5EF4-FFF2-40B4-BE49-F238E27FC236}">
                <a16:creationId xmlns:a16="http://schemas.microsoft.com/office/drawing/2014/main" id="{90F28959-A9B0-598A-7A65-19537DBDCF9E}"/>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fld id="{96392943-2A4C-5B41-A065-C1C51B87A648}" type="slidenum">
              <a:rPr lang="en-US" altLang="en-US" sz="1400"/>
              <a:pPr algn="r" eaLnBrk="1" hangingPunct="1"/>
              <a:t>27</a:t>
            </a:fld>
            <a:endParaRPr lang="en-US" altLang="en-US" sz="1400"/>
          </a:p>
        </p:txBody>
      </p:sp>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a:extLst>
              <a:ext uri="{FF2B5EF4-FFF2-40B4-BE49-F238E27FC236}">
                <a16:creationId xmlns:a16="http://schemas.microsoft.com/office/drawing/2014/main" id="{1D5BBC82-3749-A9F6-27FB-C40468812E9D}"/>
              </a:ext>
            </a:extLst>
          </p:cNvPr>
          <p:cNvSpPr>
            <a:spLocks noGrp="1" noChangeArrowheads="1"/>
          </p:cNvSpPr>
          <p:nvPr>
            <p:ph idx="1"/>
          </p:nvPr>
        </p:nvSpPr>
        <p:spPr>
          <a:xfrm>
            <a:off x="228600" y="457200"/>
            <a:ext cx="8458200" cy="6096000"/>
          </a:xfrm>
        </p:spPr>
        <p:txBody>
          <a:bodyPr/>
          <a:lstStyle/>
          <a:p>
            <a:pPr lvl="1" algn="just" eaLnBrk="1" hangingPunct="1">
              <a:lnSpc>
                <a:spcPct val="80000"/>
              </a:lnSpc>
            </a:pPr>
            <a:r>
              <a:rPr lang="en-US" altLang="en-US" sz="2400" b="1">
                <a:solidFill>
                  <a:srgbClr val="FF00FF"/>
                </a:solidFill>
                <a:latin typeface="Times New Roman" panose="02020603050405020304" pitchFamily="18" charset="0"/>
              </a:rPr>
              <a:t>Immediate Update</a:t>
            </a:r>
            <a:r>
              <a:rPr lang="en-US" altLang="en-US" sz="2400">
                <a:latin typeface="Times New Roman" panose="02020603050405020304" pitchFamily="18" charset="0"/>
              </a:rPr>
              <a:t>: </a:t>
            </a:r>
          </a:p>
          <a:p>
            <a:pPr lvl="2" algn="just" eaLnBrk="1" hangingPunct="1">
              <a:lnSpc>
                <a:spcPct val="80000"/>
              </a:lnSpc>
              <a:buClr>
                <a:srgbClr val="FF0000"/>
              </a:buClr>
              <a:buFont typeface="Wingdings" pitchFamily="2" charset="2"/>
              <a:buChar char="§"/>
            </a:pPr>
            <a:r>
              <a:rPr lang="en-US" altLang="en-US">
                <a:latin typeface="Times New Roman" panose="02020603050405020304" pitchFamily="18" charset="0"/>
              </a:rPr>
              <a:t> As soon as a data item is modified in cache, the disk copy is updated.</a:t>
            </a:r>
          </a:p>
          <a:p>
            <a:pPr lvl="2" algn="just" eaLnBrk="1" hangingPunct="1">
              <a:lnSpc>
                <a:spcPct val="80000"/>
              </a:lnSpc>
              <a:buClr>
                <a:srgbClr val="FF0000"/>
              </a:buClr>
              <a:buFont typeface="Wingdings" pitchFamily="2" charset="2"/>
              <a:buChar char="§"/>
            </a:pPr>
            <a:r>
              <a:rPr lang="en-US" altLang="en-US">
                <a:latin typeface="Times New Roman" panose="02020603050405020304" pitchFamily="18" charset="0"/>
              </a:rPr>
              <a:t>These update are first recorded </a:t>
            </a:r>
            <a:r>
              <a:rPr lang="en-US" altLang="en-US" i="1">
                <a:solidFill>
                  <a:srgbClr val="0000FF"/>
                </a:solidFill>
                <a:latin typeface="Times New Roman" panose="02020603050405020304" pitchFamily="18" charset="0"/>
              </a:rPr>
              <a:t>on the log and on the disk </a:t>
            </a:r>
            <a:r>
              <a:rPr lang="en-US" altLang="en-US">
                <a:latin typeface="Times New Roman" panose="02020603050405020304" pitchFamily="18" charset="0"/>
              </a:rPr>
              <a:t>by force writing, before the database is updated </a:t>
            </a:r>
          </a:p>
          <a:p>
            <a:pPr lvl="2" algn="just" eaLnBrk="1" hangingPunct="1">
              <a:lnSpc>
                <a:spcPct val="80000"/>
              </a:lnSpc>
              <a:buClr>
                <a:srgbClr val="FF0000"/>
              </a:buClr>
              <a:buFont typeface="Wingdings" pitchFamily="2" charset="2"/>
              <a:buChar char="§"/>
            </a:pPr>
            <a:r>
              <a:rPr lang="en-US" altLang="en-US">
                <a:latin typeface="Times New Roman" panose="02020603050405020304" pitchFamily="18" charset="0"/>
              </a:rPr>
              <a:t>If a transaction fails after recording some change to the database  but before reaching its commit point , this  will be rolled back </a:t>
            </a:r>
          </a:p>
          <a:p>
            <a:pPr lvl="1" algn="just" eaLnBrk="1" hangingPunct="1">
              <a:lnSpc>
                <a:spcPct val="80000"/>
              </a:lnSpc>
            </a:pPr>
            <a:r>
              <a:rPr lang="en-US" altLang="en-US" sz="2400" b="1">
                <a:solidFill>
                  <a:srgbClr val="FF00FF"/>
                </a:solidFill>
                <a:latin typeface="Times New Roman" panose="02020603050405020304" pitchFamily="18" charset="0"/>
              </a:rPr>
              <a:t>Shadow update</a:t>
            </a:r>
            <a:r>
              <a:rPr lang="en-US" altLang="en-US" sz="2400">
                <a:latin typeface="Times New Roman" panose="02020603050405020304" pitchFamily="18" charset="0"/>
              </a:rPr>
              <a:t>: </a:t>
            </a:r>
          </a:p>
          <a:p>
            <a:pPr lvl="2" algn="just" eaLnBrk="1" hangingPunct="1">
              <a:lnSpc>
                <a:spcPct val="80000"/>
              </a:lnSpc>
              <a:buClr>
                <a:srgbClr val="FF0000"/>
              </a:buClr>
              <a:buFont typeface="Wingdings" pitchFamily="2" charset="2"/>
              <a:buChar char="§"/>
            </a:pPr>
            <a:r>
              <a:rPr lang="en-US" altLang="en-US">
                <a:latin typeface="Times New Roman" panose="02020603050405020304" pitchFamily="18" charset="0"/>
              </a:rPr>
              <a:t> The modified version of a data item does not overwrite its disk copy but is written at a separate disk location.</a:t>
            </a:r>
          </a:p>
          <a:p>
            <a:pPr lvl="2" algn="just" eaLnBrk="1" hangingPunct="1">
              <a:lnSpc>
                <a:spcPct val="80000"/>
              </a:lnSpc>
              <a:buClr>
                <a:srgbClr val="FF0000"/>
              </a:buClr>
              <a:buFont typeface="Wingdings" pitchFamily="2" charset="2"/>
              <a:buChar char="§"/>
            </a:pPr>
            <a:r>
              <a:rPr lang="en-US" altLang="en-US">
                <a:latin typeface="Times New Roman" panose="02020603050405020304" pitchFamily="18" charset="0"/>
              </a:rPr>
              <a:t>Multiple version of the same data item can be maintained </a:t>
            </a:r>
          </a:p>
          <a:p>
            <a:pPr lvl="2" algn="just" eaLnBrk="1" hangingPunct="1">
              <a:lnSpc>
                <a:spcPct val="80000"/>
              </a:lnSpc>
              <a:buClr>
                <a:srgbClr val="FF0000"/>
              </a:buClr>
              <a:buFont typeface="Wingdings" pitchFamily="2" charset="2"/>
              <a:buChar char="§"/>
            </a:pPr>
            <a:r>
              <a:rPr lang="en-US" altLang="en-US">
                <a:latin typeface="Times New Roman" panose="02020603050405020304" pitchFamily="18" charset="0"/>
              </a:rPr>
              <a:t>Thus the old value ( before image BFIM) and the new value (AFIM) are kept in the disk</a:t>
            </a:r>
          </a:p>
          <a:p>
            <a:pPr lvl="2" algn="just" eaLnBrk="1" hangingPunct="1">
              <a:lnSpc>
                <a:spcPct val="80000"/>
              </a:lnSpc>
              <a:buClr>
                <a:srgbClr val="FF0000"/>
              </a:buClr>
              <a:buFont typeface="Wingdings" pitchFamily="2" charset="2"/>
              <a:buChar char="§"/>
            </a:pPr>
            <a:r>
              <a:rPr lang="en-US" altLang="en-US">
                <a:latin typeface="Times New Roman" panose="02020603050405020304" pitchFamily="18" charset="0"/>
              </a:rPr>
              <a:t>No need of Log for recovery </a:t>
            </a:r>
          </a:p>
          <a:p>
            <a:pPr lvl="1" algn="just" eaLnBrk="1" hangingPunct="1">
              <a:lnSpc>
                <a:spcPct val="80000"/>
              </a:lnSpc>
            </a:pPr>
            <a:r>
              <a:rPr lang="en-US" altLang="en-US" sz="2400" b="1">
                <a:solidFill>
                  <a:srgbClr val="FF00FF"/>
                </a:solidFill>
                <a:latin typeface="Times New Roman" panose="02020603050405020304" pitchFamily="18" charset="0"/>
              </a:rPr>
              <a:t>In-place update</a:t>
            </a:r>
            <a:r>
              <a:rPr lang="en-US" altLang="en-US" sz="2400">
                <a:latin typeface="Times New Roman" panose="02020603050405020304" pitchFamily="18" charset="0"/>
              </a:rPr>
              <a:t>: The disk version of the data item is overwritten by the cache version.</a:t>
            </a:r>
          </a:p>
          <a:p>
            <a:pPr algn="just" eaLnBrk="1" hangingPunct="1">
              <a:lnSpc>
                <a:spcPct val="80000"/>
              </a:lnSpc>
            </a:pPr>
            <a:endParaRPr lang="en-US" altLang="en-US" sz="2400"/>
          </a:p>
        </p:txBody>
      </p:sp>
      <p:sp>
        <p:nvSpPr>
          <p:cNvPr id="44035" name="Slide Number Placeholder 2">
            <a:extLst>
              <a:ext uri="{FF2B5EF4-FFF2-40B4-BE49-F238E27FC236}">
                <a16:creationId xmlns:a16="http://schemas.microsoft.com/office/drawing/2014/main" id="{80B576D4-B99F-A573-7B6E-BE4CB65BA724}"/>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fld id="{102C2A2B-86BE-474D-BE56-948A49219D7B}" type="slidenum">
              <a:rPr lang="en-US" altLang="en-US" sz="1400"/>
              <a:pPr algn="r" eaLnBrk="1" hangingPunct="1"/>
              <a:t>28</a:t>
            </a:fld>
            <a:endParaRPr lang="en-US" altLang="en-US" sz="1400"/>
          </a:p>
        </p:txBody>
      </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a:extLst>
              <a:ext uri="{FF2B5EF4-FFF2-40B4-BE49-F238E27FC236}">
                <a16:creationId xmlns:a16="http://schemas.microsoft.com/office/drawing/2014/main" id="{32126600-DA9B-0134-ABD1-2BE2C76CD4BD}"/>
              </a:ext>
            </a:extLst>
          </p:cNvPr>
          <p:cNvSpPr>
            <a:spLocks noGrp="1" noChangeArrowheads="1"/>
          </p:cNvSpPr>
          <p:nvPr>
            <p:ph idx="1"/>
          </p:nvPr>
        </p:nvSpPr>
        <p:spPr>
          <a:xfrm>
            <a:off x="381000" y="533400"/>
            <a:ext cx="8229600" cy="5257800"/>
          </a:xfrm>
        </p:spPr>
        <p:txBody>
          <a:bodyPr rtlCol="0">
            <a:normAutofit/>
          </a:bodyPr>
          <a:lstStyle/>
          <a:p>
            <a:pPr marL="552450" indent="-495300" eaLnBrk="1" fontAlgn="auto" hangingPunct="1">
              <a:spcAft>
                <a:spcPts val="0"/>
              </a:spcAft>
              <a:buClr>
                <a:srgbClr val="0000FF"/>
              </a:buClr>
              <a:buFont typeface="Wingdings" pitchFamily="2" charset="2"/>
              <a:buChar char="§"/>
              <a:defRPr/>
            </a:pPr>
            <a:r>
              <a:rPr lang="en-US" sz="2400" dirty="0">
                <a:latin typeface="Times New Roman" pitchFamily="18" charset="0"/>
                <a:cs typeface="Times New Roman" pitchFamily="18" charset="0"/>
              </a:rPr>
              <a:t>Information for ARIES to accomplish recovery procedures includes:</a:t>
            </a:r>
          </a:p>
          <a:p>
            <a:pPr marL="2266950" lvl="4" indent="-495300" eaLnBrk="1" fontAlgn="auto" hangingPunct="1">
              <a:spcAft>
                <a:spcPts val="0"/>
              </a:spcAft>
              <a:buClr>
                <a:srgbClr val="C00000"/>
              </a:buClr>
              <a:buFont typeface="Wingdings" pitchFamily="2" charset="2"/>
              <a:buChar char="§"/>
              <a:defRPr/>
            </a:pPr>
            <a:r>
              <a:rPr lang="en-US" sz="2400" dirty="0">
                <a:latin typeface="Times New Roman" pitchFamily="18" charset="0"/>
                <a:cs typeface="Times New Roman" pitchFamily="18" charset="0"/>
              </a:rPr>
              <a:t>Log</a:t>
            </a:r>
          </a:p>
          <a:p>
            <a:pPr marL="2266950" lvl="4" indent="-495300" eaLnBrk="1" fontAlgn="auto" hangingPunct="1">
              <a:spcAft>
                <a:spcPts val="0"/>
              </a:spcAft>
              <a:buClr>
                <a:srgbClr val="C00000"/>
              </a:buClr>
              <a:buFont typeface="Wingdings" pitchFamily="2" charset="2"/>
              <a:buChar char="§"/>
              <a:defRPr/>
            </a:pPr>
            <a:r>
              <a:rPr lang="en-US" sz="2400" dirty="0">
                <a:latin typeface="Times New Roman" pitchFamily="18" charset="0"/>
                <a:cs typeface="Times New Roman" pitchFamily="18" charset="0"/>
              </a:rPr>
              <a:t>Transaction Table &amp;</a:t>
            </a:r>
          </a:p>
          <a:p>
            <a:pPr marL="2266950" lvl="4" indent="-495300" eaLnBrk="1" fontAlgn="auto" hangingPunct="1">
              <a:spcAft>
                <a:spcPts val="0"/>
              </a:spcAft>
              <a:buClr>
                <a:srgbClr val="C00000"/>
              </a:buClr>
              <a:buFont typeface="Wingdings" pitchFamily="2" charset="2"/>
              <a:buChar char="§"/>
              <a:defRPr/>
            </a:pPr>
            <a:r>
              <a:rPr lang="en-US" sz="2400" dirty="0">
                <a:latin typeface="Times New Roman" pitchFamily="18" charset="0"/>
                <a:cs typeface="Times New Roman" pitchFamily="18" charset="0"/>
              </a:rPr>
              <a:t>Dirty page table</a:t>
            </a:r>
            <a:endParaRPr lang="en-US" sz="2400" b="1" dirty="0">
              <a:solidFill>
                <a:srgbClr val="0000FF"/>
              </a:solidFill>
              <a:latin typeface="Times New Roman" pitchFamily="18" charset="0"/>
              <a:cs typeface="Times New Roman" pitchFamily="18" charset="0"/>
            </a:endParaRPr>
          </a:p>
          <a:p>
            <a:pPr marL="514350" indent="-514350" eaLnBrk="1" fontAlgn="auto" hangingPunct="1">
              <a:spcAft>
                <a:spcPts val="0"/>
              </a:spcAft>
              <a:buClr>
                <a:srgbClr val="FF00FF"/>
              </a:buClr>
              <a:buFontTx/>
              <a:buAutoNum type="romanLcPeriod"/>
              <a:defRPr/>
            </a:pPr>
            <a:r>
              <a:rPr lang="en-US" sz="2400" b="1" dirty="0">
                <a:solidFill>
                  <a:srgbClr val="0000FF"/>
                </a:solidFill>
                <a:latin typeface="Times New Roman" pitchFamily="18" charset="0"/>
                <a:cs typeface="Times New Roman" pitchFamily="18" charset="0"/>
              </a:rPr>
              <a:t>The Log and Log Sequence Number (LSN)</a:t>
            </a:r>
          </a:p>
          <a:p>
            <a:pPr marL="640080" lvl="1" indent="-237744" eaLnBrk="1" fontAlgn="auto" hangingPunct="1">
              <a:spcAft>
                <a:spcPts val="0"/>
              </a:spcAft>
              <a:buFont typeface="Verdana"/>
              <a:buChar char="◦"/>
              <a:defRPr/>
            </a:pPr>
            <a:r>
              <a:rPr lang="en-US" sz="2400" dirty="0">
                <a:latin typeface="Times New Roman" pitchFamily="18" charset="0"/>
                <a:cs typeface="Times New Roman" pitchFamily="18" charset="0"/>
              </a:rPr>
              <a:t>The log is a history of actions executed by the DBMS in terms of a file of records stored in disk for recovery purpose</a:t>
            </a:r>
          </a:p>
          <a:p>
            <a:pPr marL="640080" lvl="1" indent="-237744" eaLnBrk="1" fontAlgn="auto" hangingPunct="1">
              <a:spcAft>
                <a:spcPts val="0"/>
              </a:spcAft>
              <a:buFont typeface="Verdana"/>
              <a:buChar char="◦"/>
              <a:defRPr/>
            </a:pPr>
            <a:r>
              <a:rPr lang="en-US" sz="2400" dirty="0">
                <a:latin typeface="Times New Roman" pitchFamily="18" charset="0"/>
                <a:cs typeface="Times New Roman" pitchFamily="18" charset="0"/>
              </a:rPr>
              <a:t>A unique LSN is associated with every log record</a:t>
            </a:r>
          </a:p>
          <a:p>
            <a:pPr marL="886968" lvl="2" eaLnBrk="1" fontAlgn="auto" hangingPunct="1">
              <a:spcAft>
                <a:spcPts val="0"/>
              </a:spcAft>
              <a:buFont typeface="Wingdings 2"/>
              <a:buChar char=""/>
              <a:defRPr/>
            </a:pPr>
            <a:r>
              <a:rPr lang="en-US" dirty="0">
                <a:latin typeface="Times New Roman" pitchFamily="18" charset="0"/>
                <a:cs typeface="Times New Roman" pitchFamily="18" charset="0"/>
              </a:rPr>
              <a:t>LSN increases monotonically and indicates the disk address of the log record it is associated with. </a:t>
            </a:r>
          </a:p>
          <a:p>
            <a:pPr marL="886968" lvl="2" eaLnBrk="1" fontAlgn="auto" hangingPunct="1">
              <a:spcAft>
                <a:spcPts val="0"/>
              </a:spcAft>
              <a:buFont typeface="Wingdings 2"/>
              <a:buChar char=""/>
              <a:defRPr/>
            </a:pPr>
            <a:r>
              <a:rPr lang="en-US" dirty="0">
                <a:latin typeface="Times New Roman" pitchFamily="18" charset="0"/>
                <a:cs typeface="Times New Roman" pitchFamily="18" charset="0"/>
              </a:rPr>
              <a:t>In addition, each </a:t>
            </a:r>
            <a:r>
              <a:rPr lang="en-US" dirty="0">
                <a:solidFill>
                  <a:srgbClr val="FF00FF"/>
                </a:solidFill>
                <a:latin typeface="Times New Roman" pitchFamily="18" charset="0"/>
                <a:cs typeface="Times New Roman" pitchFamily="18" charset="0"/>
              </a:rPr>
              <a:t>data page </a:t>
            </a:r>
            <a:r>
              <a:rPr lang="en-US" dirty="0">
                <a:latin typeface="Times New Roman" pitchFamily="18" charset="0"/>
                <a:cs typeface="Times New Roman" pitchFamily="18" charset="0"/>
              </a:rPr>
              <a:t>stores the LSN of the latest log record corresponding to a change for that page.</a:t>
            </a:r>
          </a:p>
        </p:txBody>
      </p:sp>
      <p:sp>
        <p:nvSpPr>
          <p:cNvPr id="45059" name="Rectangle 4">
            <a:extLst>
              <a:ext uri="{FF2B5EF4-FFF2-40B4-BE49-F238E27FC236}">
                <a16:creationId xmlns:a16="http://schemas.microsoft.com/office/drawing/2014/main" id="{8DDC4E49-61F8-A82B-216B-F55205F61FDD}"/>
              </a:ext>
            </a:extLst>
          </p:cNvPr>
          <p:cNvSpPr>
            <a:spLocks noChangeArrowheads="1"/>
          </p:cNvSpPr>
          <p:nvPr/>
        </p:nvSpPr>
        <p:spPr bwMode="auto">
          <a:xfrm>
            <a:off x="1284288" y="1725613"/>
            <a:ext cx="7745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11430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algn="just" eaLnBrk="1" hangingPunct="1"/>
            <a:endParaRPr lang="en-US" altLang="en-US" sz="2000" b="1">
              <a:solidFill>
                <a:schemeClr val="bg2"/>
              </a:solidFill>
            </a:endParaRPr>
          </a:p>
        </p:txBody>
      </p:sp>
      <p:sp>
        <p:nvSpPr>
          <p:cNvPr id="45060" name="Slide Number Placeholder 6">
            <a:extLst>
              <a:ext uri="{FF2B5EF4-FFF2-40B4-BE49-F238E27FC236}">
                <a16:creationId xmlns:a16="http://schemas.microsoft.com/office/drawing/2014/main" id="{B14F401C-0DFE-D391-1021-1CF07FD36EB2}"/>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fld id="{F8457D3D-3452-6F45-8929-0E7B75288B1D}" type="slidenum">
              <a:rPr lang="en-US" altLang="en-US" sz="1400"/>
              <a:pPr algn="r" eaLnBrk="1" hangingPunct="1"/>
              <a:t>29</a:t>
            </a:fld>
            <a:endParaRPr lang="en-US" altLang="en-US" sz="1400"/>
          </a:p>
        </p:txBody>
      </p:sp>
    </p:spTree>
  </p:cSld>
  <p:clrMapOvr>
    <a:masterClrMapping/>
  </p:clrMapOvr>
  <p:transition spd="slow">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602C6C0D-741E-B296-4D29-A4150FA2BFBC}"/>
              </a:ext>
            </a:extLst>
          </p:cNvPr>
          <p:cNvSpPr>
            <a:spLocks noGrp="1" noChangeArrowheads="1"/>
          </p:cNvSpPr>
          <p:nvPr>
            <p:ph idx="1"/>
          </p:nvPr>
        </p:nvSpPr>
        <p:spPr>
          <a:xfrm>
            <a:off x="152400" y="152400"/>
            <a:ext cx="8686800" cy="6553200"/>
          </a:xfrm>
        </p:spPr>
        <p:txBody>
          <a:bodyPr/>
          <a:lstStyle/>
          <a:p>
            <a:pPr lvl="1" eaLnBrk="1" hangingPunct="1"/>
            <a:r>
              <a:rPr lang="en-US" altLang="en-US" sz="2400">
                <a:solidFill>
                  <a:srgbClr val="0000FF"/>
                </a:solidFill>
                <a:latin typeface="Times New Roman" panose="02020603050405020304" pitchFamily="18" charset="0"/>
                <a:cs typeface="Times New Roman" panose="02020603050405020304" pitchFamily="18" charset="0"/>
              </a:rPr>
              <a:t>A log record is written for each of the following actions:</a:t>
            </a:r>
          </a:p>
          <a:p>
            <a:pPr lvl="2" eaLnBrk="1" hangingPunct="1">
              <a:buClr>
                <a:srgbClr val="0000FF"/>
              </a:buClr>
            </a:pPr>
            <a:r>
              <a:rPr lang="en-US" altLang="en-US">
                <a:latin typeface="Times New Roman" panose="02020603050405020304" pitchFamily="18" charset="0"/>
                <a:cs typeface="Times New Roman" panose="02020603050405020304" pitchFamily="18" charset="0"/>
              </a:rPr>
              <a:t> </a:t>
            </a:r>
            <a:r>
              <a:rPr lang="en-US" altLang="en-US">
                <a:solidFill>
                  <a:srgbClr val="FF00FF"/>
                </a:solidFill>
                <a:latin typeface="Times New Roman" panose="02020603050405020304" pitchFamily="18" charset="0"/>
                <a:cs typeface="Times New Roman" panose="02020603050405020304" pitchFamily="18" charset="0"/>
              </a:rPr>
              <a:t>updating a page</a:t>
            </a:r>
          </a:p>
          <a:p>
            <a:pPr lvl="3" eaLnBrk="1" hangingPunct="1">
              <a:buClr>
                <a:srgbClr val="0000FF"/>
              </a:buClr>
            </a:pPr>
            <a:r>
              <a:rPr lang="en-US" altLang="en-US" sz="2400">
                <a:latin typeface="Times New Roman" panose="02020603050405020304" pitchFamily="18" charset="0"/>
                <a:cs typeface="Times New Roman" panose="02020603050405020304" pitchFamily="18" charset="0"/>
              </a:rPr>
              <a:t>After modifying the page , an update record is appended to the log tail.</a:t>
            </a:r>
          </a:p>
          <a:p>
            <a:pPr lvl="3" eaLnBrk="1" hangingPunct="1">
              <a:buClr>
                <a:srgbClr val="0000FF"/>
              </a:buClr>
            </a:pPr>
            <a:r>
              <a:rPr lang="en-US" altLang="en-US" sz="2400">
                <a:latin typeface="Times New Roman" panose="02020603050405020304" pitchFamily="18" charset="0"/>
                <a:cs typeface="Times New Roman" panose="02020603050405020304" pitchFamily="18" charset="0"/>
              </a:rPr>
              <a:t>The LSN of the page is then set to the LSN of the update log record</a:t>
            </a:r>
          </a:p>
          <a:p>
            <a:pPr lvl="2" eaLnBrk="1" hangingPunct="1">
              <a:buClr>
                <a:srgbClr val="0000FF"/>
              </a:buClr>
            </a:pPr>
            <a:r>
              <a:rPr lang="en-US" altLang="en-US">
                <a:solidFill>
                  <a:srgbClr val="FF00FF"/>
                </a:solidFill>
                <a:latin typeface="Times New Roman" panose="02020603050405020304" pitchFamily="18" charset="0"/>
                <a:cs typeface="Times New Roman" panose="02020603050405020304" pitchFamily="18" charset="0"/>
              </a:rPr>
              <a:t>commit</a:t>
            </a:r>
            <a:r>
              <a:rPr lang="en-US" altLang="en-US">
                <a:latin typeface="Times New Roman" panose="02020603050405020304" pitchFamily="18" charset="0"/>
                <a:cs typeface="Times New Roman" panose="02020603050405020304" pitchFamily="18" charset="0"/>
              </a:rPr>
              <a:t>- when a transaction decides to commit , it force writes a commit type log record containing the transaction id</a:t>
            </a:r>
          </a:p>
          <a:p>
            <a:pPr lvl="2" eaLnBrk="1" hangingPunct="1">
              <a:buClr>
                <a:srgbClr val="0000FF"/>
              </a:buClr>
            </a:pPr>
            <a:r>
              <a:rPr lang="en-US" altLang="en-US">
                <a:solidFill>
                  <a:srgbClr val="FF00FF"/>
                </a:solidFill>
                <a:latin typeface="Times New Roman" panose="02020603050405020304" pitchFamily="18" charset="0"/>
                <a:cs typeface="Times New Roman" panose="02020603050405020304" pitchFamily="18" charset="0"/>
              </a:rPr>
              <a:t>Abort-  </a:t>
            </a:r>
            <a:r>
              <a:rPr lang="en-US" altLang="en-US">
                <a:latin typeface="Times New Roman" panose="02020603050405020304" pitchFamily="18" charset="0"/>
                <a:cs typeface="Times New Roman" panose="02020603050405020304" pitchFamily="18" charset="0"/>
              </a:rPr>
              <a:t>when a transaction is aborted , an abort type log containing the transaction id is appended to the log</a:t>
            </a:r>
          </a:p>
          <a:p>
            <a:pPr lvl="2" eaLnBrk="1" hangingPunct="1">
              <a:buClr>
                <a:srgbClr val="0000FF"/>
              </a:buClr>
            </a:pPr>
            <a:r>
              <a:rPr lang="en-US" altLang="en-US">
                <a:solidFill>
                  <a:srgbClr val="FF00FF"/>
                </a:solidFill>
                <a:latin typeface="Times New Roman" panose="02020603050405020304" pitchFamily="18" charset="0"/>
                <a:cs typeface="Times New Roman" panose="02020603050405020304" pitchFamily="18" charset="0"/>
              </a:rPr>
              <a:t>End</a:t>
            </a:r>
            <a:r>
              <a:rPr lang="en-US" altLang="en-US">
                <a:latin typeface="Times New Roman" panose="02020603050405020304" pitchFamily="18" charset="0"/>
                <a:cs typeface="Times New Roman" panose="02020603050405020304" pitchFamily="18" charset="0"/>
              </a:rPr>
              <a:t>-when a transaction is aborted or committed , an end type log record containing transaction id is appended to the log</a:t>
            </a:r>
          </a:p>
          <a:p>
            <a:pPr lvl="2" eaLnBrk="1" hangingPunct="1">
              <a:buClr>
                <a:srgbClr val="0000FF"/>
              </a:buClr>
            </a:pPr>
            <a:r>
              <a:rPr lang="en-US" altLang="en-US">
                <a:solidFill>
                  <a:srgbClr val="FF00FF"/>
                </a:solidFill>
                <a:latin typeface="Times New Roman" panose="02020603050405020304" pitchFamily="18" charset="0"/>
                <a:cs typeface="Times New Roman" panose="02020603050405020304" pitchFamily="18" charset="0"/>
              </a:rPr>
              <a:t> undo update- </a:t>
            </a:r>
            <a:r>
              <a:rPr lang="en-US" altLang="en-US">
                <a:latin typeface="Times New Roman" panose="02020603050405020304" pitchFamily="18" charset="0"/>
                <a:cs typeface="Times New Roman" panose="02020603050405020304" pitchFamily="18" charset="0"/>
              </a:rPr>
              <a:t>when transaction is roll back its updates are undone</a:t>
            </a:r>
          </a:p>
          <a:p>
            <a:pPr lvl="1" eaLnBrk="1" hangingPunct="1">
              <a:buFontTx/>
              <a:buNone/>
            </a:pPr>
            <a:endParaRPr lang="en-US" altLang="en-US" sz="2400">
              <a:latin typeface="Times New Roman" panose="02020603050405020304" pitchFamily="18" charset="0"/>
              <a:cs typeface="Times New Roman" panose="02020603050405020304" pitchFamily="18" charset="0"/>
            </a:endParaRPr>
          </a:p>
          <a:p>
            <a:pPr lvl="1" eaLnBrk="1" hangingPunct="1"/>
            <a:endParaRPr lang="en-US" altLang="en-US" sz="2400">
              <a:latin typeface="Times New Roman" panose="02020603050405020304" pitchFamily="18" charset="0"/>
              <a:cs typeface="Times New Roman" panose="02020603050405020304" pitchFamily="18" charset="0"/>
            </a:endParaRPr>
          </a:p>
          <a:p>
            <a:pPr lvl="1" eaLnBrk="1" hangingPunct="1"/>
            <a:endParaRPr lang="en-US" altLang="en-US" sz="2400">
              <a:latin typeface="Times New Roman" panose="02020603050405020304" pitchFamily="18" charset="0"/>
              <a:cs typeface="Times New Roman" panose="02020603050405020304" pitchFamily="18" charset="0"/>
            </a:endParaRPr>
          </a:p>
        </p:txBody>
      </p:sp>
      <p:sp>
        <p:nvSpPr>
          <p:cNvPr id="46083" name="Rectangle 6">
            <a:extLst>
              <a:ext uri="{FF2B5EF4-FFF2-40B4-BE49-F238E27FC236}">
                <a16:creationId xmlns:a16="http://schemas.microsoft.com/office/drawing/2014/main" id="{BD414E75-9276-145C-E702-E7B1AFEC60E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49329BB-9621-3441-96D7-39EFA36120FB}" type="slidenum">
              <a:rPr lang="en-US" altLang="en-US"/>
              <a:pPr eaLnBrk="1" hangingPunct="1"/>
              <a:t>30</a:t>
            </a:fld>
            <a:endParaRPr lang="en-US" altLang="en-US"/>
          </a:p>
        </p:txBody>
      </p:sp>
    </p:spTree>
  </p:cSld>
  <p:clrMapOvr>
    <a:masterClrMapping/>
  </p:clrMapOvr>
  <p:transition spd="slow">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D763FA9A-69B0-FE47-3BDD-E74A07D3C593}"/>
              </a:ext>
            </a:extLst>
          </p:cNvPr>
          <p:cNvSpPr>
            <a:spLocks noGrp="1" noChangeArrowheads="1"/>
          </p:cNvSpPr>
          <p:nvPr>
            <p:ph type="body" idx="1"/>
          </p:nvPr>
        </p:nvSpPr>
        <p:spPr>
          <a:xfrm>
            <a:off x="457200" y="3505200"/>
            <a:ext cx="8229600" cy="3048000"/>
          </a:xfrm>
        </p:spPr>
        <p:txBody>
          <a:bodyPr rtlCol="0">
            <a:normAutofit lnSpcReduction="10000"/>
          </a:bodyPr>
          <a:lstStyle/>
          <a:p>
            <a:pPr marL="514350" indent="-514350" eaLnBrk="1" fontAlgn="auto" hangingPunct="1">
              <a:lnSpc>
                <a:spcPct val="90000"/>
              </a:lnSpc>
              <a:spcAft>
                <a:spcPts val="0"/>
              </a:spcAft>
              <a:buFontTx/>
              <a:buAutoNum type="romanLcPeriod" startAt="2"/>
              <a:defRPr/>
            </a:pPr>
            <a:r>
              <a:rPr lang="en-US" sz="2200" dirty="0">
                <a:solidFill>
                  <a:srgbClr val="0000FF"/>
                </a:solidFill>
                <a:latin typeface="Times New Roman" pitchFamily="18" charset="0"/>
                <a:cs typeface="Times New Roman" pitchFamily="18" charset="0"/>
              </a:rPr>
              <a:t>The </a:t>
            </a:r>
            <a:r>
              <a:rPr lang="en-US" sz="2200" b="1" dirty="0">
                <a:solidFill>
                  <a:srgbClr val="0000FF"/>
                </a:solidFill>
                <a:latin typeface="Times New Roman" pitchFamily="18" charset="0"/>
                <a:cs typeface="Times New Roman" pitchFamily="18" charset="0"/>
              </a:rPr>
              <a:t>Transaction table</a:t>
            </a:r>
            <a:r>
              <a:rPr lang="en-US" sz="2200" dirty="0">
                <a:solidFill>
                  <a:srgbClr val="0000FF"/>
                </a:solidFill>
                <a:latin typeface="Times New Roman" pitchFamily="18" charset="0"/>
                <a:cs typeface="Times New Roman" pitchFamily="18" charset="0"/>
              </a:rPr>
              <a:t> and the </a:t>
            </a:r>
            <a:r>
              <a:rPr lang="en-US" sz="2200" b="1" dirty="0">
                <a:solidFill>
                  <a:srgbClr val="0000FF"/>
                </a:solidFill>
                <a:latin typeface="Times New Roman" pitchFamily="18" charset="0"/>
                <a:cs typeface="Times New Roman" pitchFamily="18" charset="0"/>
              </a:rPr>
              <a:t>Dirty Page table</a:t>
            </a:r>
          </a:p>
          <a:p>
            <a:pPr lvl="1" eaLnBrk="1" fontAlgn="auto" hangingPunct="1">
              <a:lnSpc>
                <a:spcPct val="90000"/>
              </a:lnSpc>
              <a:spcAft>
                <a:spcPts val="0"/>
              </a:spcAft>
              <a:defRPr/>
            </a:pPr>
            <a:r>
              <a:rPr lang="en-US" sz="2200" dirty="0">
                <a:latin typeface="Times New Roman" pitchFamily="18" charset="0"/>
                <a:cs typeface="Times New Roman" pitchFamily="18" charset="0"/>
              </a:rPr>
              <a:t>For efficient recovery following tables are also stored in the log </a:t>
            </a:r>
            <a:r>
              <a:rPr lang="en-US" sz="2200" b="1" dirty="0">
                <a:solidFill>
                  <a:srgbClr val="0070C0"/>
                </a:solidFill>
                <a:latin typeface="Times New Roman" pitchFamily="18" charset="0"/>
                <a:cs typeface="Times New Roman" pitchFamily="18" charset="0"/>
              </a:rPr>
              <a:t>during </a:t>
            </a:r>
            <a:r>
              <a:rPr lang="en-US" sz="2200" b="1" dirty="0" err="1">
                <a:solidFill>
                  <a:srgbClr val="0070C0"/>
                </a:solidFill>
                <a:latin typeface="Times New Roman" pitchFamily="18" charset="0"/>
                <a:cs typeface="Times New Roman" pitchFamily="18" charset="0"/>
              </a:rPr>
              <a:t>checkpointing</a:t>
            </a:r>
            <a:r>
              <a:rPr lang="en-US" sz="2200" b="1" dirty="0">
                <a:solidFill>
                  <a:srgbClr val="0070C0"/>
                </a:solidFill>
                <a:latin typeface="Times New Roman" pitchFamily="18" charset="0"/>
                <a:cs typeface="Times New Roman" pitchFamily="18" charset="0"/>
              </a:rPr>
              <a:t>:</a:t>
            </a:r>
          </a:p>
          <a:p>
            <a:pPr lvl="2" eaLnBrk="1" fontAlgn="auto" hangingPunct="1">
              <a:lnSpc>
                <a:spcPct val="90000"/>
              </a:lnSpc>
              <a:spcAft>
                <a:spcPts val="0"/>
              </a:spcAft>
              <a:buFont typeface="Wingdings 2" pitchFamily="18" charset="2"/>
              <a:buChar char=""/>
              <a:defRPr/>
            </a:pPr>
            <a:r>
              <a:rPr lang="en-US" sz="2200" b="1" dirty="0">
                <a:solidFill>
                  <a:srgbClr val="FF00FF"/>
                </a:solidFill>
                <a:latin typeface="Times New Roman" pitchFamily="18" charset="0"/>
                <a:cs typeface="Times New Roman" pitchFamily="18" charset="0"/>
              </a:rPr>
              <a:t>Transaction</a:t>
            </a:r>
            <a:r>
              <a:rPr lang="en-US" sz="2200" dirty="0">
                <a:solidFill>
                  <a:srgbClr val="FF00FF"/>
                </a:solidFill>
                <a:latin typeface="Times New Roman" pitchFamily="18" charset="0"/>
                <a:cs typeface="Times New Roman" pitchFamily="18" charset="0"/>
              </a:rPr>
              <a:t> </a:t>
            </a:r>
            <a:r>
              <a:rPr lang="en-US" sz="2200" b="1" dirty="0">
                <a:solidFill>
                  <a:srgbClr val="FF00FF"/>
                </a:solidFill>
                <a:latin typeface="Times New Roman" pitchFamily="18" charset="0"/>
                <a:cs typeface="Times New Roman" pitchFamily="18" charset="0"/>
              </a:rPr>
              <a:t>table</a:t>
            </a:r>
            <a:r>
              <a:rPr lang="en-US" sz="2200" dirty="0">
                <a:solidFill>
                  <a:srgbClr val="FF00FF"/>
                </a:solidFill>
                <a:latin typeface="Times New Roman" pitchFamily="18" charset="0"/>
                <a:cs typeface="Times New Roman" pitchFamily="18" charset="0"/>
              </a:rPr>
              <a:t>:  </a:t>
            </a:r>
            <a:r>
              <a:rPr lang="en-US" sz="2200" dirty="0">
                <a:latin typeface="Times New Roman" pitchFamily="18" charset="0"/>
                <a:cs typeface="Times New Roman" pitchFamily="18" charset="0"/>
              </a:rPr>
              <a:t>Contains an entry for each active transaction, with information such as transaction </a:t>
            </a:r>
            <a:r>
              <a:rPr lang="en-US" sz="2200" dirty="0">
                <a:solidFill>
                  <a:srgbClr val="FF3300"/>
                </a:solidFill>
                <a:latin typeface="Times New Roman" pitchFamily="18" charset="0"/>
                <a:cs typeface="Times New Roman" pitchFamily="18" charset="0"/>
              </a:rPr>
              <a:t>ID</a:t>
            </a:r>
            <a:r>
              <a:rPr lang="en-US" sz="2200" dirty="0">
                <a:latin typeface="Times New Roman" pitchFamily="18" charset="0"/>
                <a:cs typeface="Times New Roman" pitchFamily="18" charset="0"/>
              </a:rPr>
              <a:t>, </a:t>
            </a:r>
            <a:r>
              <a:rPr lang="en-US" sz="2200" dirty="0">
                <a:solidFill>
                  <a:srgbClr val="FF3300"/>
                </a:solidFill>
                <a:latin typeface="Times New Roman" pitchFamily="18" charset="0"/>
                <a:cs typeface="Times New Roman" pitchFamily="18" charset="0"/>
              </a:rPr>
              <a:t>transaction</a:t>
            </a:r>
            <a:r>
              <a:rPr lang="en-US" sz="2200" dirty="0">
                <a:latin typeface="Times New Roman" pitchFamily="18" charset="0"/>
                <a:cs typeface="Times New Roman" pitchFamily="18" charset="0"/>
              </a:rPr>
              <a:t> </a:t>
            </a:r>
            <a:r>
              <a:rPr lang="en-US" sz="2200" dirty="0">
                <a:solidFill>
                  <a:srgbClr val="FF3300"/>
                </a:solidFill>
                <a:latin typeface="Times New Roman" pitchFamily="18" charset="0"/>
                <a:cs typeface="Times New Roman" pitchFamily="18" charset="0"/>
              </a:rPr>
              <a:t>status( in progresses, committed or aborted)</a:t>
            </a:r>
            <a:r>
              <a:rPr lang="en-US" sz="2200" dirty="0">
                <a:latin typeface="Times New Roman" pitchFamily="18" charset="0"/>
                <a:cs typeface="Times New Roman" pitchFamily="18" charset="0"/>
              </a:rPr>
              <a:t> and the </a:t>
            </a:r>
            <a:r>
              <a:rPr lang="en-US" sz="2200" dirty="0">
                <a:solidFill>
                  <a:srgbClr val="FF3300"/>
                </a:solidFill>
                <a:latin typeface="Times New Roman" pitchFamily="18" charset="0"/>
                <a:cs typeface="Times New Roman" pitchFamily="18" charset="0"/>
              </a:rPr>
              <a:t>LSN</a:t>
            </a:r>
            <a:r>
              <a:rPr lang="en-US" sz="2200" dirty="0">
                <a:latin typeface="Times New Roman" pitchFamily="18" charset="0"/>
                <a:cs typeface="Times New Roman" pitchFamily="18" charset="0"/>
              </a:rPr>
              <a:t> of the most recent log record for the transaction.</a:t>
            </a:r>
          </a:p>
          <a:p>
            <a:pPr lvl="2" eaLnBrk="1" fontAlgn="auto" hangingPunct="1">
              <a:lnSpc>
                <a:spcPct val="90000"/>
              </a:lnSpc>
              <a:spcAft>
                <a:spcPts val="0"/>
              </a:spcAft>
              <a:buFont typeface="Wingdings 2" pitchFamily="18" charset="2"/>
              <a:buChar char=""/>
              <a:defRPr/>
            </a:pPr>
            <a:r>
              <a:rPr lang="en-US" sz="2200" b="1" dirty="0">
                <a:solidFill>
                  <a:srgbClr val="FF00FF"/>
                </a:solidFill>
                <a:latin typeface="Times New Roman" pitchFamily="18" charset="0"/>
                <a:cs typeface="Times New Roman" pitchFamily="18" charset="0"/>
              </a:rPr>
              <a:t>Dirty Page table:  </a:t>
            </a:r>
            <a:r>
              <a:rPr lang="en-US" sz="2200" dirty="0">
                <a:latin typeface="Times New Roman" pitchFamily="18" charset="0"/>
                <a:cs typeface="Times New Roman" pitchFamily="18" charset="0"/>
              </a:rPr>
              <a:t>Contains an entry for each dirty page in the buffer, which includes the page ID and the LSN corresponding to the earliest update to that page.</a:t>
            </a:r>
          </a:p>
        </p:txBody>
      </p:sp>
      <p:sp>
        <p:nvSpPr>
          <p:cNvPr id="47107" name="Rectangle 4">
            <a:extLst>
              <a:ext uri="{FF2B5EF4-FFF2-40B4-BE49-F238E27FC236}">
                <a16:creationId xmlns:a16="http://schemas.microsoft.com/office/drawing/2014/main" id="{41A27700-5ED0-D155-7B97-C9EDECEB2D27}"/>
              </a:ext>
            </a:extLst>
          </p:cNvPr>
          <p:cNvSpPr>
            <a:spLocks noChangeArrowheads="1"/>
          </p:cNvSpPr>
          <p:nvPr/>
        </p:nvSpPr>
        <p:spPr bwMode="auto">
          <a:xfrm>
            <a:off x="1284288" y="1725613"/>
            <a:ext cx="7745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11430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algn="just" eaLnBrk="1" hangingPunct="1"/>
            <a:endParaRPr lang="en-US" altLang="en-US" sz="2000" b="1">
              <a:solidFill>
                <a:schemeClr val="bg2"/>
              </a:solidFill>
            </a:endParaRPr>
          </a:p>
        </p:txBody>
      </p:sp>
      <p:sp>
        <p:nvSpPr>
          <p:cNvPr id="47108" name="Slide Number Placeholder 6">
            <a:extLst>
              <a:ext uri="{FF2B5EF4-FFF2-40B4-BE49-F238E27FC236}">
                <a16:creationId xmlns:a16="http://schemas.microsoft.com/office/drawing/2014/main" id="{3E270D88-BEFE-730C-5791-CB83F82FF930}"/>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fld id="{6A9E8866-F9E2-054E-8525-DAC05A5166A3}" type="slidenum">
              <a:rPr lang="en-US" altLang="en-US" sz="1400"/>
              <a:pPr algn="r" eaLnBrk="1" hangingPunct="1"/>
              <a:t>31</a:t>
            </a:fld>
            <a:endParaRPr lang="en-US" altLang="en-US" sz="1400"/>
          </a:p>
        </p:txBody>
      </p:sp>
      <p:sp>
        <p:nvSpPr>
          <p:cNvPr id="8" name="Rectangle 3">
            <a:extLst>
              <a:ext uri="{FF2B5EF4-FFF2-40B4-BE49-F238E27FC236}">
                <a16:creationId xmlns:a16="http://schemas.microsoft.com/office/drawing/2014/main" id="{88EA63C8-6210-C13C-4226-55F2FA00CDC9}"/>
              </a:ext>
            </a:extLst>
          </p:cNvPr>
          <p:cNvSpPr txBox="1">
            <a:spLocks noChangeArrowheads="1"/>
          </p:cNvSpPr>
          <p:nvPr/>
        </p:nvSpPr>
        <p:spPr bwMode="auto">
          <a:xfrm>
            <a:off x="304800" y="0"/>
            <a:ext cx="8686800" cy="3352800"/>
          </a:xfrm>
          <a:prstGeom prst="rect">
            <a:avLst/>
          </a:prstGeom>
          <a:noFill/>
          <a:ln w="9525">
            <a:noFill/>
            <a:miter lim="800000"/>
            <a:headEnd/>
            <a:tailEnd/>
          </a:ln>
        </p:spPr>
        <p:txBody>
          <a:bodyPr/>
          <a:lstStyle/>
          <a:p>
            <a:pPr marL="742950" lvl="1" indent="-285750" fontAlgn="auto">
              <a:spcBef>
                <a:spcPct val="20000"/>
              </a:spcBef>
              <a:spcAft>
                <a:spcPts val="0"/>
              </a:spcAft>
              <a:buFontTx/>
              <a:buChar char="–"/>
              <a:defRPr/>
            </a:pPr>
            <a:r>
              <a:rPr lang="en-US" sz="2200" kern="0" dirty="0">
                <a:solidFill>
                  <a:srgbClr val="FF3300"/>
                </a:solidFill>
                <a:latin typeface="+mn-lt"/>
                <a:cs typeface="Times New Roman" pitchFamily="18" charset="0"/>
              </a:rPr>
              <a:t>A log record stores </a:t>
            </a:r>
          </a:p>
          <a:p>
            <a:pPr marL="1143000" lvl="2" indent="-228600" fontAlgn="auto">
              <a:spcBef>
                <a:spcPct val="20000"/>
              </a:spcBef>
              <a:spcAft>
                <a:spcPts val="0"/>
              </a:spcAft>
              <a:buFontTx/>
              <a:buChar char="•"/>
              <a:defRPr/>
            </a:pPr>
            <a:r>
              <a:rPr lang="en-US" sz="2200" kern="0" dirty="0">
                <a:latin typeface="+mn-lt"/>
                <a:cs typeface="Times New Roman" pitchFamily="18" charset="0"/>
              </a:rPr>
              <a:t> the previous LSN of that transaction</a:t>
            </a:r>
          </a:p>
          <a:p>
            <a:pPr marL="1143000" lvl="2" indent="-228600" fontAlgn="auto">
              <a:spcBef>
                <a:spcPct val="20000"/>
              </a:spcBef>
              <a:spcAft>
                <a:spcPts val="0"/>
              </a:spcAft>
              <a:buFontTx/>
              <a:buChar char="•"/>
              <a:defRPr/>
            </a:pPr>
            <a:r>
              <a:rPr lang="en-US" sz="2200" kern="0" dirty="0">
                <a:latin typeface="+mn-lt"/>
                <a:cs typeface="Times New Roman" pitchFamily="18" charset="0"/>
              </a:rPr>
              <a:t>the transaction ID</a:t>
            </a:r>
          </a:p>
          <a:p>
            <a:pPr marL="1143000" lvl="2" indent="-228600" fontAlgn="auto">
              <a:spcBef>
                <a:spcPct val="20000"/>
              </a:spcBef>
              <a:spcAft>
                <a:spcPts val="0"/>
              </a:spcAft>
              <a:buFontTx/>
              <a:buChar char="•"/>
              <a:defRPr/>
            </a:pPr>
            <a:r>
              <a:rPr lang="en-US" sz="2200" kern="0" dirty="0">
                <a:latin typeface="+mn-lt"/>
                <a:cs typeface="Times New Roman" pitchFamily="18" charset="0"/>
              </a:rPr>
              <a:t> the type of log record. </a:t>
            </a:r>
          </a:p>
          <a:p>
            <a:pPr marL="1143000" lvl="2" indent="-228600" fontAlgn="auto">
              <a:spcBef>
                <a:spcPct val="20000"/>
              </a:spcBef>
              <a:spcAft>
                <a:spcPts val="0"/>
              </a:spcAft>
              <a:buFontTx/>
              <a:buChar char="•"/>
              <a:defRPr/>
            </a:pPr>
            <a:r>
              <a:rPr lang="en-US" sz="2200" kern="0" dirty="0">
                <a:latin typeface="+mn-lt"/>
                <a:cs typeface="Times New Roman" pitchFamily="18" charset="0"/>
              </a:rPr>
              <a:t>For a write operation the following additional information is logged:</a:t>
            </a:r>
          </a:p>
          <a:p>
            <a:pPr marL="1695450" lvl="3" indent="-381000" fontAlgn="auto">
              <a:lnSpc>
                <a:spcPct val="80000"/>
              </a:lnSpc>
              <a:spcBef>
                <a:spcPct val="20000"/>
              </a:spcBef>
              <a:spcAft>
                <a:spcPts val="0"/>
              </a:spcAft>
              <a:buFontTx/>
              <a:buChar char="•"/>
              <a:defRPr/>
            </a:pPr>
            <a:r>
              <a:rPr lang="en-US" sz="2000" kern="0" dirty="0">
                <a:latin typeface="+mn-lt"/>
                <a:cs typeface="Times New Roman" pitchFamily="18" charset="0"/>
              </a:rPr>
              <a:t>Page ID for the page that includes the item</a:t>
            </a:r>
          </a:p>
          <a:p>
            <a:pPr marL="1695450" lvl="3" indent="-381000" fontAlgn="auto">
              <a:lnSpc>
                <a:spcPct val="80000"/>
              </a:lnSpc>
              <a:spcBef>
                <a:spcPct val="20000"/>
              </a:spcBef>
              <a:spcAft>
                <a:spcPts val="0"/>
              </a:spcAft>
              <a:buFontTx/>
              <a:buChar char="•"/>
              <a:defRPr/>
            </a:pPr>
            <a:r>
              <a:rPr lang="en-US" sz="2000" kern="0" dirty="0">
                <a:latin typeface="+mn-lt"/>
                <a:cs typeface="Times New Roman" pitchFamily="18" charset="0"/>
              </a:rPr>
              <a:t>Length of the updated item</a:t>
            </a:r>
          </a:p>
          <a:p>
            <a:pPr marL="1695450" lvl="3" indent="-381000" fontAlgn="auto">
              <a:lnSpc>
                <a:spcPct val="80000"/>
              </a:lnSpc>
              <a:spcBef>
                <a:spcPct val="20000"/>
              </a:spcBef>
              <a:spcAft>
                <a:spcPts val="0"/>
              </a:spcAft>
              <a:buFontTx/>
              <a:buChar char="•"/>
              <a:defRPr/>
            </a:pPr>
            <a:r>
              <a:rPr lang="en-US" sz="2000" kern="0" dirty="0">
                <a:latin typeface="+mn-lt"/>
                <a:cs typeface="Times New Roman" pitchFamily="18" charset="0"/>
              </a:rPr>
              <a:t>Its offset from the beginning of the page</a:t>
            </a:r>
          </a:p>
          <a:p>
            <a:pPr marL="1695450" lvl="3" indent="-381000" fontAlgn="auto">
              <a:lnSpc>
                <a:spcPct val="80000"/>
              </a:lnSpc>
              <a:spcBef>
                <a:spcPct val="20000"/>
              </a:spcBef>
              <a:spcAft>
                <a:spcPts val="0"/>
              </a:spcAft>
              <a:buFontTx/>
              <a:buChar char="•"/>
              <a:defRPr/>
            </a:pPr>
            <a:r>
              <a:rPr lang="en-US" sz="2000" kern="0" dirty="0">
                <a:latin typeface="+mn-lt"/>
                <a:cs typeface="Times New Roman" pitchFamily="18" charset="0"/>
              </a:rPr>
              <a:t>BFIM of the item</a:t>
            </a:r>
          </a:p>
          <a:p>
            <a:pPr marL="742950" lvl="1" indent="-285750" fontAlgn="auto">
              <a:spcBef>
                <a:spcPct val="20000"/>
              </a:spcBef>
              <a:spcAft>
                <a:spcPts val="0"/>
              </a:spcAft>
              <a:buFontTx/>
              <a:buChar char="–"/>
              <a:defRPr/>
            </a:pPr>
            <a:endParaRPr lang="en-US" sz="2200" kern="0" dirty="0">
              <a:latin typeface="+mn-lt"/>
              <a:cs typeface="Times New Roman" pitchFamily="18" charset="0"/>
            </a:endParaRPr>
          </a:p>
          <a:p>
            <a:pPr marL="742950" lvl="1" indent="-285750" fontAlgn="auto">
              <a:spcBef>
                <a:spcPct val="20000"/>
              </a:spcBef>
              <a:spcAft>
                <a:spcPts val="0"/>
              </a:spcAft>
              <a:buFontTx/>
              <a:buChar char="–"/>
              <a:defRPr/>
            </a:pPr>
            <a:endParaRPr lang="en-US" sz="2200" kern="0" dirty="0">
              <a:latin typeface="+mn-lt"/>
              <a:cs typeface="Times New Roman" pitchFamily="18" charset="0"/>
            </a:endParaRPr>
          </a:p>
          <a:p>
            <a:pPr marL="742950" lvl="1" indent="-285750" fontAlgn="auto">
              <a:spcBef>
                <a:spcPct val="20000"/>
              </a:spcBef>
              <a:spcAft>
                <a:spcPts val="0"/>
              </a:spcAft>
              <a:buFontTx/>
              <a:buChar char="–"/>
              <a:defRPr/>
            </a:pPr>
            <a:endParaRPr lang="en-US" sz="2200" kern="0" dirty="0">
              <a:latin typeface="+mn-lt"/>
              <a:cs typeface="Times New Roman" pitchFamily="18" charset="0"/>
            </a:endParaRPr>
          </a:p>
        </p:txBody>
      </p:sp>
    </p:spTree>
  </p:cSld>
  <p:clrMapOvr>
    <a:masterClrMapping/>
  </p:clrMapOvr>
  <p:transition spd="slow">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
          </p:nvPr>
        </p:nvSpPr>
        <p:spPr/>
        <p:txBody>
          <a:bodyPr>
            <a:normAutofit/>
          </a:bodyPr>
          <a:lstStyle/>
          <a:p>
            <a:pPr marL="0" indent="0" algn="ctr">
              <a:buNone/>
            </a:pPr>
            <a:r>
              <a:rPr lang="en-US" sz="19900" b="1" dirty="0">
                <a:solidFill>
                  <a:schemeClr val="accent1"/>
                </a:solidFill>
              </a:rPr>
              <a:t>END</a:t>
            </a:r>
          </a:p>
        </p:txBody>
      </p:sp>
      <p:sp>
        <p:nvSpPr>
          <p:cNvPr id="2" name="Slide Number Placeholder 1"/>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1070054049"/>
      </p:ext>
    </p:extLst>
  </p:cSld>
  <p:clrMapOvr>
    <a:masterClrMapping/>
  </p:clrMapOvr>
  <p:transition spd="slow">
    <p:push/>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3914</TotalTime>
  <Words>2757</Words>
  <Application>Microsoft Office PowerPoint</Application>
  <PresentationFormat>On-screen Show (4:3)</PresentationFormat>
  <Paragraphs>271</Paragraphs>
  <Slides>32</Slides>
  <Notes>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32</vt:i4>
      </vt:variant>
    </vt:vector>
  </HeadingPairs>
  <TitlesOfParts>
    <vt:vector size="45" baseType="lpstr">
      <vt:lpstr>Arial</vt:lpstr>
      <vt:lpstr>Calibri</vt:lpstr>
      <vt:lpstr>Corbel</vt:lpstr>
      <vt:lpstr>Georgia</vt:lpstr>
      <vt:lpstr>Oxygen</vt:lpstr>
      <vt:lpstr>Tahoma</vt:lpstr>
      <vt:lpstr>Times New Roman</vt:lpstr>
      <vt:lpstr>TimesNewRomanPS</vt:lpstr>
      <vt:lpstr>TimesNewRomanPSMT</vt:lpstr>
      <vt:lpstr>Verdana</vt:lpstr>
      <vt:lpstr>Wingdings</vt:lpstr>
      <vt:lpstr>Wingdings 2</vt:lpstr>
      <vt:lpstr>Equity</vt:lpstr>
      <vt:lpstr>Chapter 4 </vt:lpstr>
      <vt:lpstr>Chapter Outline</vt:lpstr>
      <vt:lpstr>Database Recovery</vt:lpstr>
      <vt:lpstr>Types of failures  </vt:lpstr>
      <vt:lpstr>…CON’T</vt:lpstr>
      <vt:lpstr>…CON’T</vt:lpstr>
      <vt:lpstr>…CON’T</vt:lpstr>
      <vt:lpstr>Transactions and Recovery </vt:lpstr>
      <vt:lpstr>…CON’T</vt:lpstr>
      <vt:lpstr>Recovery Facilities </vt:lpstr>
      <vt:lpstr>Log File </vt:lpstr>
      <vt:lpstr>…CON’T</vt:lpstr>
      <vt:lpstr>Check pointing </vt:lpstr>
      <vt:lpstr>Recovery Techniques </vt:lpstr>
      <vt:lpstr>…CON’T</vt:lpstr>
      <vt:lpstr>Recovery Techniques for Inconsistent Database State </vt:lpstr>
      <vt:lpstr>Deferred Update </vt:lpstr>
      <vt:lpstr>Immediate Update/ Update-In-Place </vt:lpstr>
      <vt:lpstr>…CON’T</vt:lpstr>
      <vt:lpstr>Shadow Paging </vt:lpstr>
      <vt:lpstr>Example of </vt:lpstr>
      <vt:lpstr>4.6 Recovery in Multidatabase Systems</vt:lpstr>
      <vt:lpstr>Recovery in Multidatabase Systems (cont’d.)</vt:lpstr>
      <vt:lpstr>4.7 Database Backup and Recovery from Catastrophic Failures</vt:lpstr>
      <vt:lpstr>Database Backup and Recovery from Catastrophic Failures (cont’d.)</vt:lpstr>
      <vt:lpstr>The ARIES Recovery Algorithm</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creator>WHO</dc:creator>
  <cp:lastModifiedBy>Sirage Ahmed</cp:lastModifiedBy>
  <cp:revision>115</cp:revision>
  <dcterms:created xsi:type="dcterms:W3CDTF">2006-08-16T00:00:00Z</dcterms:created>
  <dcterms:modified xsi:type="dcterms:W3CDTF">2025-01-16T08:30:22Z</dcterms:modified>
</cp:coreProperties>
</file>