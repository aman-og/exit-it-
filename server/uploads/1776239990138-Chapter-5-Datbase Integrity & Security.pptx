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256" r:id="rId2"/>
    <p:sldId id="402" r:id="rId3"/>
    <p:sldId id="403" r:id="rId4"/>
    <p:sldId id="404" r:id="rId5"/>
    <p:sldId id="405" r:id="rId6"/>
    <p:sldId id="406" r:id="rId7"/>
    <p:sldId id="407" r:id="rId8"/>
    <p:sldId id="408" r:id="rId9"/>
    <p:sldId id="410" r:id="rId10"/>
    <p:sldId id="411" r:id="rId11"/>
    <p:sldId id="412" r:id="rId12"/>
    <p:sldId id="413" r:id="rId13"/>
    <p:sldId id="414" r:id="rId14"/>
    <p:sldId id="415" r:id="rId15"/>
    <p:sldId id="416" r:id="rId16"/>
    <p:sldId id="417" r:id="rId17"/>
    <p:sldId id="418" r:id="rId18"/>
    <p:sldId id="419" r:id="rId19"/>
    <p:sldId id="420" r:id="rId20"/>
    <p:sldId id="421" r:id="rId21"/>
    <p:sldId id="422" r:id="rId22"/>
    <p:sldId id="423" r:id="rId23"/>
    <p:sldId id="424" r:id="rId24"/>
    <p:sldId id="425" r:id="rId25"/>
    <p:sldId id="426" r:id="rId26"/>
    <p:sldId id="427" r:id="rId27"/>
    <p:sldId id="428" r:id="rId28"/>
    <p:sldId id="429" r:id="rId29"/>
    <p:sldId id="430" r:id="rId30"/>
    <p:sldId id="431" r:id="rId31"/>
    <p:sldId id="320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80" autoAdjust="0"/>
  </p:normalViewPr>
  <p:slideViewPr>
    <p:cSldViewPr>
      <p:cViewPr varScale="1">
        <p:scale>
          <a:sx n="78" d="100"/>
          <a:sy n="78" d="100"/>
        </p:scale>
        <p:origin x="117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7DC57-3A9A-43C8-BCD8-E21D228709B1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54A49-6FFB-4FFD-95AE-FCC3498B1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595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CAAC6-8130-4E09-AB9C-3CCA30E3C85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D4775-F372-411F-9B54-3480B230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21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D4775-F372-411F-9B54-3480B23057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02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D4775-F372-411F-9B54-3480B23057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33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D4775-F372-411F-9B54-3480B230572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26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>
                <a:latin typeface="Arial" panose="020B0604020202020204" pitchFamily="34" charset="0"/>
              </a:rPr>
              <a:t>?</a:t>
            </a:r>
            <a:br>
              <a:rPr lang="en-US" smtClean="0">
                <a:latin typeface="Arial" panose="020B0604020202020204" pitchFamily="34" charset="0"/>
              </a:rPr>
            </a:br>
            <a:r>
              <a:rPr lang="en-US" smtClean="0">
                <a:latin typeface="Arial" panose="020B0604020202020204" pitchFamily="34" charset="0"/>
              </a:rPr>
              <a:t>:,mp’[\45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9A3325-40D2-4EB8-BC11-C3F5EDA5D486}" type="slidenum">
              <a:rPr lang="en-US" smtClean="0"/>
              <a:pPr/>
              <a:t>25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65391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integrity &amp; Security 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534400" cy="1143000"/>
          </a:xfrm>
          <a:solidFill>
            <a:schemeClr val="accent1"/>
          </a:solidFill>
          <a:ln w="19050">
            <a:solidFill>
              <a:srgbClr val="0070C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>
            <a:lvl1pPr algn="ctr">
              <a:defRPr b="1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419600" cy="457200"/>
          </a:xfrm>
        </p:spPr>
        <p:txBody>
          <a:bodyPr/>
          <a:lstStyle>
            <a:lvl1pPr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Database integrity &amp; Security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210300"/>
            <a:ext cx="457200" cy="45720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5339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Database integrity &amp; Security 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210300"/>
            <a:ext cx="457200" cy="45720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4196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Database integrity &amp; Security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210300"/>
            <a:ext cx="457200" cy="45720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3434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Database integrity &amp; Security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210300"/>
            <a:ext cx="457200" cy="45720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3434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Database integrity &amp; Security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210300"/>
            <a:ext cx="457200" cy="45720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3434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Database integrity &amp; Security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210300"/>
            <a:ext cx="457200" cy="45720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 userDrawn="1"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3434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Database integrity &amp; Security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210300"/>
            <a:ext cx="457200" cy="45720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3434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Database integrity &amp; Security </a:t>
            </a:r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210300"/>
            <a:ext cx="457200" cy="45720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210300"/>
            <a:ext cx="457200" cy="45720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8200" y="6210300"/>
            <a:ext cx="457200" cy="45720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Database integrity &amp; Security 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/>
  </p:transition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200400"/>
            <a:ext cx="8382000" cy="2743200"/>
          </a:xfrm>
        </p:spPr>
        <p:txBody>
          <a:bodyPr>
            <a:noAutofit/>
          </a:bodyPr>
          <a:lstStyle/>
          <a:p>
            <a:r>
              <a:rPr lang="en-US" sz="6000" b="1" smtClean="0"/>
              <a:t>Database </a:t>
            </a:r>
            <a:r>
              <a:rPr lang="en-US" sz="6000" b="1" smtClean="0"/>
              <a:t>Security</a:t>
            </a:r>
            <a:endParaRPr lang="en-US" sz="6000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900" b="1" smtClean="0"/>
              <a:t>Chapter 5 </a:t>
            </a:r>
            <a:endParaRPr lang="en-US" sz="5900" b="1"/>
          </a:p>
        </p:txBody>
      </p:sp>
    </p:spTree>
    <p:extLst>
      <p:ext uri="{BB962C8B-B14F-4D97-AF65-F5344CB8AC3E}">
        <p14:creationId xmlns:p14="http://schemas.microsoft.com/office/powerpoint/2010/main" val="374193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534400" cy="118903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mtClean="0"/>
              <a:t>OVERVIEW OF DATABASE SECURITY</a:t>
            </a:r>
            <a:endParaRPr lang="en-US"/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76400"/>
            <a:ext cx="8458200" cy="4797425"/>
          </a:xfrm>
        </p:spPr>
        <p:txBody>
          <a:bodyPr/>
          <a:lstStyle/>
          <a:p>
            <a:r>
              <a:rPr lang="en-US" b="1" smtClean="0"/>
              <a:t>Privacy</a:t>
            </a:r>
            <a:r>
              <a:rPr lang="en-US" smtClean="0"/>
              <a:t> – Ethical and legal rights that individuals have with regard to control over the dissemination and user of their personal information.</a:t>
            </a:r>
          </a:p>
          <a:p>
            <a:r>
              <a:rPr lang="en-US" b="1" smtClean="0"/>
              <a:t>Database security </a:t>
            </a:r>
            <a:r>
              <a:rPr lang="en-US" smtClean="0"/>
              <a:t>– Protection of information contained in the database against unauthorized access, modification or destruction. </a:t>
            </a:r>
          </a:p>
          <a:p>
            <a:r>
              <a:rPr lang="en-US" b="1" smtClean="0"/>
              <a:t>Database integrity </a:t>
            </a:r>
            <a:r>
              <a:rPr lang="en-US" smtClean="0"/>
              <a:t>– Mechanism that is applied to ensure that the data in the database is correct and consistent.</a:t>
            </a:r>
          </a:p>
          <a:p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6083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  <p:sp>
        <p:nvSpPr>
          <p:cNvPr id="13315" name="Content Placeholder 2"/>
          <p:cNvSpPr>
            <a:spLocks noGrp="1"/>
          </p:cNvSpPr>
          <p:nvPr>
            <p:ph sz="quarter" idx="1"/>
          </p:nvPr>
        </p:nvSpPr>
        <p:spPr>
          <a:xfrm>
            <a:off x="341312" y="1143000"/>
            <a:ext cx="8574087" cy="5257800"/>
          </a:xfrm>
        </p:spPr>
        <p:txBody>
          <a:bodyPr>
            <a:normAutofit lnSpcReduction="10000"/>
          </a:bodyPr>
          <a:lstStyle/>
          <a:p>
            <a:r>
              <a:rPr lang="en-US" smtClean="0"/>
              <a:t>A good database security management system has:</a:t>
            </a:r>
          </a:p>
          <a:p>
            <a:pPr lvl="1"/>
            <a:r>
              <a:rPr lang="en-US" smtClean="0"/>
              <a:t>data independence, shared access,  minimal redundancy, data consistency, and data integrity</a:t>
            </a:r>
          </a:p>
          <a:p>
            <a:r>
              <a:rPr lang="en-US" smtClean="0"/>
              <a:t>A good database security management system also has the following characteristics: </a:t>
            </a:r>
          </a:p>
          <a:p>
            <a:pPr lvl="1"/>
            <a:r>
              <a:rPr lang="en-US" b="1" smtClean="0">
                <a:solidFill>
                  <a:srgbClr val="FF0000"/>
                </a:solidFill>
              </a:rPr>
              <a:t>Privacy</a:t>
            </a:r>
            <a:r>
              <a:rPr lang="en-US" smtClean="0"/>
              <a:t> signifies that an unauthorized user cannot disclose data</a:t>
            </a:r>
          </a:p>
          <a:p>
            <a:pPr lvl="1"/>
            <a:r>
              <a:rPr lang="en-US" b="1" smtClean="0">
                <a:solidFill>
                  <a:srgbClr val="FF0000"/>
                </a:solidFill>
              </a:rPr>
              <a:t>Integrity</a:t>
            </a:r>
            <a:r>
              <a:rPr lang="en-US" smtClean="0"/>
              <a:t> ensures that an unauthorized user cannot modify data.</a:t>
            </a:r>
          </a:p>
          <a:p>
            <a:pPr lvl="1"/>
            <a:r>
              <a:rPr lang="en-US" b="1" smtClean="0">
                <a:solidFill>
                  <a:srgbClr val="FF0000"/>
                </a:solidFill>
              </a:rPr>
              <a:t>Availability</a:t>
            </a:r>
            <a:r>
              <a:rPr lang="en-US" smtClean="0"/>
              <a:t> ensures that data be made available to the authorized user unfailingly</a:t>
            </a:r>
          </a:p>
          <a:p>
            <a:pPr lvl="1"/>
            <a:r>
              <a:rPr lang="en-US" b="1" smtClean="0">
                <a:solidFill>
                  <a:srgbClr val="FF0000"/>
                </a:solidFill>
              </a:rPr>
              <a:t>Copyright</a:t>
            </a:r>
            <a:r>
              <a:rPr lang="en-US" smtClean="0"/>
              <a:t> ensures the native rights of individuals as a creator of information. </a:t>
            </a:r>
          </a:p>
          <a:p>
            <a:pPr lvl="1"/>
            <a:r>
              <a:rPr lang="en-US" b="1" smtClean="0">
                <a:solidFill>
                  <a:srgbClr val="FF0000"/>
                </a:solidFill>
              </a:rPr>
              <a:t>Validity</a:t>
            </a:r>
            <a:r>
              <a:rPr lang="en-US" smtClean="0"/>
              <a:t> ensures activities to be accountable by law. </a:t>
            </a:r>
          </a:p>
          <a:p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384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8458200" cy="5638800"/>
          </a:xfrm>
        </p:spPr>
        <p:txBody>
          <a:bodyPr>
            <a:normAutofit/>
          </a:bodyPr>
          <a:lstStyle/>
          <a:p>
            <a:r>
              <a:rPr lang="en-US" smtClean="0"/>
              <a:t>Database system can effectively prevent accidental security and integrity threats from:</a:t>
            </a:r>
          </a:p>
          <a:p>
            <a:pPr lvl="1"/>
            <a:r>
              <a:rPr lang="en-US" smtClean="0"/>
              <a:t>System error, </a:t>
            </a:r>
          </a:p>
          <a:p>
            <a:pPr lvl="1"/>
            <a:r>
              <a:rPr lang="en-US" smtClean="0"/>
              <a:t>Improper authorization and</a:t>
            </a:r>
          </a:p>
          <a:p>
            <a:pPr lvl="1"/>
            <a:r>
              <a:rPr lang="en-US" smtClean="0"/>
              <a:t>Concurrent usage anomalies. </a:t>
            </a:r>
            <a:endParaRPr lang="en-US" sz="2100" smtClean="0"/>
          </a:p>
          <a:p>
            <a:r>
              <a:rPr lang="en-US" sz="2100" smtClean="0"/>
              <a:t>The levels of security protection, it may start from organization &amp; administrative security, physical &amp; personnel security, communication security and Information systems security.</a:t>
            </a:r>
          </a:p>
          <a:p>
            <a:r>
              <a:rPr lang="en-US" sz="2100" b="1" i="1" smtClean="0"/>
              <a:t>Database security and integrity</a:t>
            </a:r>
            <a:r>
              <a:rPr lang="en-US" sz="2100" smtClean="0"/>
              <a:t> is about protecting the database from being inconsistent and being disrupted.</a:t>
            </a:r>
          </a:p>
          <a:p>
            <a:pPr lvl="1"/>
            <a:r>
              <a:rPr lang="en-US" smtClean="0"/>
              <a:t>We can also call it </a:t>
            </a:r>
            <a:r>
              <a:rPr lang="en-US" b="1" smtClean="0"/>
              <a:t>database misuse</a:t>
            </a:r>
            <a:r>
              <a:rPr lang="en-US" smtClean="0"/>
              <a:t>.	</a:t>
            </a:r>
          </a:p>
          <a:p>
            <a:r>
              <a:rPr lang="en-US" sz="2000" b="1" smtClean="0"/>
              <a:t>Database misuse </a:t>
            </a:r>
            <a:r>
              <a:rPr lang="en-US" sz="2000" smtClean="0"/>
              <a:t>could be </a:t>
            </a:r>
            <a:r>
              <a:rPr lang="en-US" sz="2000" b="1" i="1" smtClean="0"/>
              <a:t>Intentional</a:t>
            </a:r>
            <a:r>
              <a:rPr lang="en-US" sz="2000" smtClean="0"/>
              <a:t> or </a:t>
            </a:r>
            <a:r>
              <a:rPr lang="en-US" sz="2000" b="1" i="1" smtClean="0"/>
              <a:t>Accidental</a:t>
            </a:r>
            <a:r>
              <a:rPr lang="en-US" sz="2000" smtClean="0"/>
              <a:t>, where accidental misuse is easier to cope with than intentional misuse.</a:t>
            </a:r>
          </a:p>
          <a:p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3678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33388" y="1143000"/>
            <a:ext cx="8482012" cy="5410200"/>
          </a:xfrm>
        </p:spPr>
        <p:txBody>
          <a:bodyPr/>
          <a:lstStyle/>
          <a:p>
            <a:pPr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i="1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Accidental inconsistency could occur due to:</a:t>
            </a:r>
            <a:endParaRPr lang="en-US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09613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  <a:defRPr/>
            </a:pPr>
            <a:r>
              <a:rPr lang="en-US" sz="24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System crash during transaction processing</a:t>
            </a:r>
            <a:endParaRPr lang="en-US" sz="180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09613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  <a:defRPr/>
            </a:pPr>
            <a:r>
              <a:rPr lang="en-US" sz="24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Anomalies due to concurrent access</a:t>
            </a:r>
            <a:endParaRPr lang="en-US" sz="180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09613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  <a:defRPr/>
            </a:pPr>
            <a:r>
              <a:rPr lang="en-US" sz="24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Anomalies due to redundancy</a:t>
            </a:r>
            <a:endParaRPr lang="en-US" sz="180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09613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  <a:defRPr/>
            </a:pPr>
            <a:r>
              <a:rPr lang="en-US" sz="24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Logical errors</a:t>
            </a:r>
            <a:endParaRPr lang="en-US" sz="180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i="1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Intentional misuse could be:</a:t>
            </a:r>
            <a:endParaRPr lang="en-US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09613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  <a:defRPr/>
            </a:pPr>
            <a:r>
              <a:rPr lang="en-US" sz="24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Unauthorized reading of data</a:t>
            </a:r>
            <a:endParaRPr lang="en-US" sz="180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09613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  <a:defRPr/>
            </a:pPr>
            <a:r>
              <a:rPr lang="en-US" sz="24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Unauthorized modification of data or</a:t>
            </a:r>
            <a:endParaRPr lang="en-US" sz="180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09613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  <a:defRPr/>
            </a:pPr>
            <a:r>
              <a:rPr lang="en-US" sz="24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Unauthorized destruction of data</a:t>
            </a:r>
            <a:endParaRPr lang="en-US" sz="18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  <a:defRPr/>
            </a:pPr>
            <a:r>
              <a:rPr lang="en-US" sz="28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Most systems implement good </a:t>
            </a:r>
            <a:r>
              <a:rPr lang="en-US" sz="2800" b="1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Database Integrity</a:t>
            </a:r>
            <a:r>
              <a:rPr lang="en-US" sz="28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to protect the system from accidental misuse.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4400" y="63246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8969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838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/>
              <a:t>Levels of Security </a:t>
            </a:r>
            <a:r>
              <a:rPr lang="en-US" b="1" smtClean="0"/>
              <a:t>Measures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066800"/>
            <a:ext cx="8686800" cy="5867400"/>
          </a:xfrm>
        </p:spPr>
        <p:txBody>
          <a:bodyPr/>
          <a:lstStyle/>
          <a:p>
            <a:pPr>
              <a:defRPr/>
            </a:pPr>
            <a:r>
              <a:rPr lang="en-US" sz="2000"/>
              <a:t>Security measures can be implemented at several levels and for different components of the </a:t>
            </a:r>
            <a:r>
              <a:rPr lang="en-US" sz="2000" smtClean="0"/>
              <a:t>system.</a:t>
            </a:r>
          </a:p>
          <a:p>
            <a:pPr>
              <a:defRPr/>
            </a:pPr>
            <a:r>
              <a:rPr lang="en-US" sz="2000" smtClean="0"/>
              <a:t>These </a:t>
            </a:r>
            <a:r>
              <a:rPr lang="en-US" sz="2000"/>
              <a:t>levels are</a:t>
            </a:r>
            <a:r>
              <a:rPr lang="en-US" sz="2000" smtClean="0"/>
              <a:t>:</a:t>
            </a:r>
          </a:p>
          <a:p>
            <a:pPr marL="457200" indent="-288925">
              <a:buFont typeface="+mj-lt"/>
              <a:buAutoNum type="arabicPeriod"/>
              <a:defRPr/>
            </a:pPr>
            <a:r>
              <a:rPr lang="en-US" sz="1800" b="1"/>
              <a:t>Physical Level:</a:t>
            </a:r>
            <a:r>
              <a:rPr lang="en-US" sz="1800"/>
              <a:t> concerned with securing the site containing the computer system. </a:t>
            </a:r>
            <a:endParaRPr lang="en-US" sz="1800" smtClean="0"/>
          </a:p>
          <a:p>
            <a:pPr marL="820738" lvl="1" indent="-285750">
              <a:defRPr/>
            </a:pPr>
            <a:r>
              <a:rPr lang="en-US" sz="1500" smtClean="0"/>
              <a:t>The </a:t>
            </a:r>
            <a:r>
              <a:rPr lang="en-US" sz="1500"/>
              <a:t>backup systems should also be physically protected from access except for authorized </a:t>
            </a:r>
            <a:r>
              <a:rPr lang="en-US" sz="1500" smtClean="0"/>
              <a:t>users.</a:t>
            </a:r>
          </a:p>
          <a:p>
            <a:pPr marL="457200" indent="-288925">
              <a:buFont typeface="+mj-lt"/>
              <a:buAutoNum type="arabicPeriod"/>
              <a:defRPr/>
            </a:pPr>
            <a:r>
              <a:rPr lang="en-US" sz="1800" b="1" smtClean="0"/>
              <a:t>Human Level:</a:t>
            </a:r>
            <a:r>
              <a:rPr lang="en-US" sz="1800" smtClean="0"/>
              <a:t> concerned with authorization of database users for access the content at different levels and privileges. </a:t>
            </a:r>
          </a:p>
          <a:p>
            <a:pPr marL="457200" indent="-288925">
              <a:buFont typeface="+mj-lt"/>
              <a:buAutoNum type="arabicPeriod"/>
              <a:defRPr/>
            </a:pPr>
            <a:r>
              <a:rPr lang="en-US" sz="1800" b="1" smtClean="0"/>
              <a:t>Operating </a:t>
            </a:r>
            <a:r>
              <a:rPr lang="en-US" sz="1800" b="1"/>
              <a:t>System:</a:t>
            </a:r>
            <a:r>
              <a:rPr lang="en-US" sz="1800"/>
              <a:t> concerned with the weakness and strength of the operating system security on data </a:t>
            </a:r>
            <a:r>
              <a:rPr lang="en-US" sz="1800" smtClean="0"/>
              <a:t>files. </a:t>
            </a:r>
          </a:p>
          <a:p>
            <a:pPr marL="731837" lvl="2" indent="-288925">
              <a:defRPr/>
            </a:pPr>
            <a:r>
              <a:rPr lang="en-US" sz="1300" smtClean="0"/>
              <a:t>This </a:t>
            </a:r>
            <a:r>
              <a:rPr lang="en-US" sz="1300"/>
              <a:t>also includes protection of data in primary and secondary memory from unauthorized access.</a:t>
            </a:r>
          </a:p>
          <a:p>
            <a:pPr marL="457200" indent="-288925">
              <a:buFont typeface="+mj-lt"/>
              <a:buAutoNum type="arabicPeriod"/>
              <a:defRPr/>
            </a:pPr>
            <a:r>
              <a:rPr lang="en-US" sz="1800" b="1" smtClean="0"/>
              <a:t>Database </a:t>
            </a:r>
            <a:r>
              <a:rPr lang="en-US" sz="1800" b="1"/>
              <a:t>System:</a:t>
            </a:r>
            <a:r>
              <a:rPr lang="en-US" sz="1800"/>
              <a:t> concerned with data access limit enforced by the database system. </a:t>
            </a:r>
            <a:endParaRPr lang="en-US" sz="1800" smtClean="0"/>
          </a:p>
          <a:p>
            <a:pPr marL="820738" lvl="1" indent="-285750">
              <a:defRPr/>
            </a:pPr>
            <a:r>
              <a:rPr lang="en-US" sz="1500" smtClean="0"/>
              <a:t>Access </a:t>
            </a:r>
            <a:r>
              <a:rPr lang="en-US" sz="1500"/>
              <a:t>limit like </a:t>
            </a:r>
            <a:r>
              <a:rPr lang="en-US" sz="1500" smtClean="0"/>
              <a:t>password </a:t>
            </a:r>
          </a:p>
          <a:p>
            <a:pPr marL="457200" indent="-288925">
              <a:buFont typeface="+mj-lt"/>
              <a:buAutoNum type="arabicPeriod"/>
              <a:defRPr/>
            </a:pPr>
            <a:r>
              <a:rPr lang="en-US" sz="1800" b="1" smtClean="0"/>
              <a:t>Application </a:t>
            </a:r>
            <a:r>
              <a:rPr lang="en-US" sz="1800" b="1"/>
              <a:t>Level:</a:t>
            </a:r>
            <a:r>
              <a:rPr lang="en-US" sz="1800"/>
              <a:t> Since almost all database systems allow remote access through terminals or networks, software-level security with the network software is as important as physical security, both on the Internet and networks private to an enterprise.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en-US" sz="2000"/>
          </a:p>
          <a:p>
            <a:pPr>
              <a:defRPr/>
            </a:pPr>
            <a:endParaRPr lang="en-US" sz="2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8075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1"/>
            <a:ext cx="8305800" cy="4648200"/>
          </a:xfrm>
        </p:spPr>
        <p:txBody>
          <a:bodyPr/>
          <a:lstStyle/>
          <a:p>
            <a:r>
              <a:rPr lang="en-US" smtClean="0"/>
              <a:t>We can have different levels of security and authorization on data objects and users, </a:t>
            </a:r>
            <a:r>
              <a:rPr lang="en-US" b="1" i="1" smtClean="0"/>
              <a:t>who access which data is a policy matter rather than technical. </a:t>
            </a:r>
            <a:endParaRPr lang="en-US" smtClean="0"/>
          </a:p>
          <a:p>
            <a:r>
              <a:rPr lang="en-US" b="1" smtClean="0"/>
              <a:t>These policies </a:t>
            </a:r>
            <a:endParaRPr lang="en-US" smtClean="0"/>
          </a:p>
          <a:p>
            <a:pPr lvl="1"/>
            <a:r>
              <a:rPr lang="en-US" smtClean="0"/>
              <a:t>should be known by the system: should be encoded in the system. </a:t>
            </a:r>
          </a:p>
          <a:p>
            <a:pPr lvl="1"/>
            <a:r>
              <a:rPr lang="en-US" smtClean="0"/>
              <a:t>should be remembered: should be saved somewhere (the catalogue)</a:t>
            </a:r>
          </a:p>
          <a:p>
            <a:pPr lvl="1"/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4396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305800" cy="5562600"/>
          </a:xfrm>
        </p:spPr>
        <p:txBody>
          <a:bodyPr/>
          <a:lstStyle/>
          <a:p>
            <a:r>
              <a:rPr lang="en-US" b="1" smtClean="0"/>
              <a:t>Database Integrity</a:t>
            </a:r>
            <a:r>
              <a:rPr lang="en-US" smtClean="0"/>
              <a:t> constraints contribute to maintaining a secure database system by preventing data from becoming invalid and hence giving misleading or incorrect results.</a:t>
            </a:r>
            <a:endParaRPr lang="en-US" sz="2000" smtClean="0"/>
          </a:p>
          <a:p>
            <a:pPr lvl="1"/>
            <a:r>
              <a:rPr lang="en-US" b="1" i="1" smtClean="0"/>
              <a:t>Domain Integrity </a:t>
            </a:r>
            <a:r>
              <a:rPr lang="en-US" smtClean="0"/>
              <a:t>means that each column in any table will have set of allowed values and can not assume any value other than the one specified in the domain. </a:t>
            </a:r>
            <a:endParaRPr lang="en-US" sz="1700" smtClean="0"/>
          </a:p>
          <a:p>
            <a:pPr lvl="1"/>
            <a:r>
              <a:rPr lang="en-US" b="1" i="1" smtClean="0"/>
              <a:t>Entity Integrity</a:t>
            </a:r>
            <a:r>
              <a:rPr lang="en-US" smtClean="0"/>
              <a:t> means that in each table the primary key (which may be composite) satisfies both of two conditions: </a:t>
            </a:r>
            <a:endParaRPr lang="en-US" sz="1700" smtClean="0"/>
          </a:p>
          <a:p>
            <a:pPr marL="1622425" lvl="4" indent="-342900">
              <a:buFont typeface="Century Schoolbook" panose="02040604050505020304" pitchFamily="18" charset="0"/>
              <a:buAutoNum type="arabicPeriod"/>
            </a:pPr>
            <a:r>
              <a:rPr lang="en-US" sz="1800" smtClean="0"/>
              <a:t>That the primary key is unique within the table and </a:t>
            </a:r>
            <a:endParaRPr lang="en-US" smtClean="0"/>
          </a:p>
          <a:p>
            <a:pPr marL="1622425" lvl="4" indent="-342900">
              <a:buFont typeface="Century Schoolbook" panose="02040604050505020304" pitchFamily="18" charset="0"/>
              <a:buAutoNum type="arabicPeriod"/>
            </a:pPr>
            <a:r>
              <a:rPr lang="en-US" sz="1800" smtClean="0"/>
              <a:t>That the primary key column(s) contains no null values.</a:t>
            </a:r>
            <a:endParaRPr lang="en-US" smtClean="0"/>
          </a:p>
          <a:p>
            <a:pPr marL="546100" lvl="2">
              <a:spcBef>
                <a:spcPts val="600"/>
              </a:spcBef>
              <a:buSzPct val="70000"/>
            </a:pPr>
            <a:r>
              <a:rPr lang="en-US" sz="2000" b="1" i="1" smtClean="0"/>
              <a:t>Referential Integrity </a:t>
            </a:r>
            <a:r>
              <a:rPr lang="en-US" smtClean="0"/>
              <a:t>means that the RDBMS must be set up so as to take appropriate actions to spread a change—in one table—from that table to the other tables where the change must also occur.</a:t>
            </a:r>
          </a:p>
          <a:p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354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126523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/>
              <a:t>Security Issues and general </a:t>
            </a:r>
            <a:r>
              <a:rPr lang="en-US" b="1" smtClean="0"/>
              <a:t>considerations</a:t>
            </a:r>
            <a:endParaRPr lang="en-US"/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17638"/>
            <a:ext cx="8229600" cy="5211762"/>
          </a:xfrm>
        </p:spPr>
        <p:txBody>
          <a:bodyPr>
            <a:normAutofit fontScale="92500"/>
          </a:bodyPr>
          <a:lstStyle/>
          <a:p>
            <a:pPr lvl="1"/>
            <a:r>
              <a:rPr lang="en-US" sz="2000" b="1" smtClean="0"/>
              <a:t>Legal</a:t>
            </a:r>
            <a:r>
              <a:rPr lang="en-US" sz="2000" smtClean="0"/>
              <a:t>, </a:t>
            </a:r>
            <a:r>
              <a:rPr lang="en-US" sz="2000" b="1" smtClean="0"/>
              <a:t>ethical</a:t>
            </a:r>
            <a:r>
              <a:rPr lang="en-US" sz="2000" smtClean="0"/>
              <a:t> and </a:t>
            </a:r>
            <a:r>
              <a:rPr lang="en-US" sz="2000" b="1" smtClean="0"/>
              <a:t>social</a:t>
            </a:r>
            <a:r>
              <a:rPr lang="en-US" sz="2000" smtClean="0"/>
              <a:t> issues regarding the right to access information </a:t>
            </a:r>
          </a:p>
          <a:p>
            <a:pPr lvl="1"/>
            <a:r>
              <a:rPr lang="en-US" sz="2000" b="1" smtClean="0"/>
              <a:t>Physical control</a:t>
            </a:r>
            <a:r>
              <a:rPr lang="en-US" sz="2000" smtClean="0"/>
              <a:t> issues regarding how to keep the database physically secured.</a:t>
            </a:r>
          </a:p>
          <a:p>
            <a:pPr lvl="1"/>
            <a:r>
              <a:rPr lang="en-US" sz="2000" b="1" smtClean="0"/>
              <a:t>Policy</a:t>
            </a:r>
            <a:r>
              <a:rPr lang="en-US" sz="2000" smtClean="0"/>
              <a:t> issues regarding privacy of individual level at enterprise and national level</a:t>
            </a:r>
          </a:p>
          <a:p>
            <a:pPr lvl="1"/>
            <a:r>
              <a:rPr lang="en-US" sz="2000" b="1" smtClean="0"/>
              <a:t>Operational</a:t>
            </a:r>
            <a:r>
              <a:rPr lang="en-US" sz="2000" smtClean="0"/>
              <a:t> consideration on the techniques used (password, </a:t>
            </a:r>
            <a:r>
              <a:rPr lang="en-US" sz="2000" err="1" smtClean="0"/>
              <a:t>etc</a:t>
            </a:r>
            <a:r>
              <a:rPr lang="en-US" sz="2000" smtClean="0"/>
              <a:t>)  to access and manipulate the database</a:t>
            </a:r>
          </a:p>
          <a:p>
            <a:pPr lvl="1"/>
            <a:r>
              <a:rPr lang="en-US" sz="2000" b="1" smtClean="0"/>
              <a:t>System</a:t>
            </a:r>
            <a:r>
              <a:rPr lang="en-US" sz="2000" smtClean="0"/>
              <a:t> level security including operating system and hardware control </a:t>
            </a:r>
          </a:p>
          <a:p>
            <a:pPr marL="320040" lvl="1" indent="0">
              <a:buNone/>
            </a:pPr>
            <a:endParaRPr lang="en-US" sz="2000" smtClean="0"/>
          </a:p>
          <a:p>
            <a:r>
              <a:rPr lang="en-US" sz="2400" smtClean="0"/>
              <a:t>The designer and the administrator of a database should first identify the possible threat that might be faced by the system in order to take counter measures. </a:t>
            </a:r>
          </a:p>
          <a:p>
            <a:r>
              <a:rPr lang="en-US" sz="2400" b="1" u="sng" smtClean="0"/>
              <a:t>Threat</a:t>
            </a:r>
            <a:r>
              <a:rPr lang="en-US" sz="2400" smtClean="0"/>
              <a:t> may be any situation or event, whether intentional or accidental, that may adversely affect a system and consequently the organization.</a:t>
            </a:r>
          </a:p>
          <a:p>
            <a:endParaRPr lang="en-US" sz="280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0621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153400" cy="5330825"/>
          </a:xfrm>
        </p:spPr>
        <p:txBody>
          <a:bodyPr>
            <a:normAutofit/>
          </a:bodyPr>
          <a:lstStyle/>
          <a:p>
            <a:r>
              <a:rPr lang="en-US" sz="3200" smtClean="0"/>
              <a:t>A threat may be caused by a situation or event involving a person, action, or circumstance that is likely to bring harm to an organization</a:t>
            </a:r>
            <a:endParaRPr lang="en-US" sz="2800" smtClean="0"/>
          </a:p>
          <a:p>
            <a:r>
              <a:rPr lang="en-US" sz="3200" smtClean="0"/>
              <a:t>The harm to an organization may be </a:t>
            </a:r>
            <a:r>
              <a:rPr lang="en-US" sz="3200" b="1" i="1" smtClean="0"/>
              <a:t>tangible</a:t>
            </a:r>
            <a:r>
              <a:rPr lang="en-US" sz="3200" smtClean="0"/>
              <a:t> or </a:t>
            </a:r>
            <a:r>
              <a:rPr lang="en-US" sz="3200" b="1" i="1" smtClean="0"/>
              <a:t>intangible</a:t>
            </a:r>
            <a:endParaRPr lang="en-US" sz="2800" smtClean="0"/>
          </a:p>
          <a:p>
            <a:pPr lvl="3"/>
            <a:r>
              <a:rPr lang="en-US" sz="2800" b="1" i="1" smtClean="0"/>
              <a:t>Tangible – </a:t>
            </a:r>
            <a:r>
              <a:rPr lang="en-US" sz="2800" smtClean="0"/>
              <a:t>loss of hardware, software, or data</a:t>
            </a:r>
            <a:endParaRPr lang="en-US" smtClean="0"/>
          </a:p>
          <a:p>
            <a:pPr lvl="3"/>
            <a:r>
              <a:rPr lang="en-US" sz="2800" b="1" smtClean="0"/>
              <a:t>Intangible</a:t>
            </a:r>
            <a:r>
              <a:rPr lang="en-US" sz="2800" smtClean="0"/>
              <a:t> – loss of credibility or client confidence</a:t>
            </a:r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3704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4953000" cy="5486400"/>
          </a:xfrm>
        </p:spPr>
        <p:txBody>
          <a:bodyPr/>
          <a:lstStyle/>
          <a:p>
            <a:pPr marL="396875" indent="-274638">
              <a:defRPr/>
            </a:pPr>
            <a:r>
              <a:rPr lang="en-US" sz="2000" b="1"/>
              <a:t>Examples of threats:</a:t>
            </a:r>
            <a:endParaRPr lang="en-US" sz="1800" b="1"/>
          </a:p>
          <a:p>
            <a:pPr lvl="1">
              <a:defRPr/>
            </a:pPr>
            <a:r>
              <a:rPr lang="en-US" sz="1800"/>
              <a:t>Using another persons’ means of access</a:t>
            </a:r>
            <a:endParaRPr lang="en-US" sz="1600"/>
          </a:p>
          <a:p>
            <a:pPr lvl="1">
              <a:defRPr/>
            </a:pPr>
            <a:r>
              <a:rPr lang="en-US" sz="1800"/>
              <a:t>Unauthorized amendment/modification or copying of data</a:t>
            </a:r>
            <a:endParaRPr lang="en-US" sz="1600"/>
          </a:p>
          <a:p>
            <a:pPr lvl="1">
              <a:defRPr/>
            </a:pPr>
            <a:r>
              <a:rPr lang="en-US" sz="1800"/>
              <a:t>Program </a:t>
            </a:r>
            <a:r>
              <a:rPr lang="en-US" sz="1800" smtClean="0"/>
              <a:t>alteration(making different)</a:t>
            </a:r>
            <a:endParaRPr lang="en-US" sz="1600"/>
          </a:p>
          <a:p>
            <a:pPr lvl="1">
              <a:defRPr/>
            </a:pPr>
            <a:r>
              <a:rPr lang="en-US" sz="1800"/>
              <a:t>Inadequate policies and procedures that allow a mix of confidential and normal out put </a:t>
            </a:r>
            <a:endParaRPr lang="en-US" sz="1600"/>
          </a:p>
          <a:p>
            <a:pPr lvl="1">
              <a:defRPr/>
            </a:pPr>
            <a:r>
              <a:rPr lang="en-US" sz="1800"/>
              <a:t>Wire-tapping</a:t>
            </a:r>
            <a:endParaRPr lang="en-US" sz="1600"/>
          </a:p>
          <a:p>
            <a:pPr lvl="1">
              <a:defRPr/>
            </a:pPr>
            <a:r>
              <a:rPr lang="en-US" sz="1800" err="1" smtClean="0"/>
              <a:t>Ilegal</a:t>
            </a:r>
            <a:r>
              <a:rPr lang="en-US" sz="1800" smtClean="0"/>
              <a:t> </a:t>
            </a:r>
            <a:r>
              <a:rPr lang="en-US" sz="1800"/>
              <a:t>entry by hacker</a:t>
            </a:r>
            <a:endParaRPr lang="en-US" sz="1600"/>
          </a:p>
          <a:p>
            <a:pPr lvl="1">
              <a:defRPr/>
            </a:pPr>
            <a:r>
              <a:rPr lang="en-US" sz="1800"/>
              <a:t>Blackmail</a:t>
            </a:r>
            <a:endParaRPr lang="en-US" sz="1600"/>
          </a:p>
          <a:p>
            <a:pPr lvl="1">
              <a:defRPr/>
            </a:pPr>
            <a:r>
              <a:rPr lang="en-US" sz="1800"/>
              <a:t>Theft of data, programs, and </a:t>
            </a:r>
            <a:r>
              <a:rPr lang="en-US" sz="1800" smtClean="0"/>
              <a:t>equipment</a:t>
            </a:r>
          </a:p>
          <a:p>
            <a:pPr lvl="1">
              <a:defRPr/>
            </a:pPr>
            <a:r>
              <a:rPr lang="en-US" sz="1800" smtClean="0"/>
              <a:t>Failure of security mechanisms, giving greater access than normal </a:t>
            </a:r>
            <a:endParaRPr lang="en-US" sz="1600" smtClean="0"/>
          </a:p>
          <a:p>
            <a:pPr lvl="1">
              <a:defRPr/>
            </a:pPr>
            <a:endParaRPr lang="en-US" sz="1800" smtClean="0"/>
          </a:p>
          <a:p>
            <a:pPr lvl="1">
              <a:defRPr/>
            </a:pPr>
            <a:endParaRPr lang="en-US" sz="1600" smtClean="0"/>
          </a:p>
          <a:p>
            <a:pPr>
              <a:defRPr/>
            </a:pPr>
            <a:endParaRPr lang="en-US" sz="2000"/>
          </a:p>
        </p:txBody>
      </p:sp>
      <p:sp>
        <p:nvSpPr>
          <p:cNvPr id="22533" name="Content Placeholder 2"/>
          <p:cNvSpPr txBox="1">
            <a:spLocks/>
          </p:cNvSpPr>
          <p:nvPr/>
        </p:nvSpPr>
        <p:spPr bwMode="auto">
          <a:xfrm>
            <a:off x="4727575" y="1268413"/>
            <a:ext cx="3706813" cy="533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350838" indent="-2730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indent="-182563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187450" indent="-182563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1462088" indent="-182563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19192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3764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28336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2908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lvl="1"/>
            <a:r>
              <a:rPr lang="en-US" sz="1800"/>
              <a:t>Staff shortages or strikes</a:t>
            </a:r>
            <a:endParaRPr lang="en-US" sz="1600"/>
          </a:p>
          <a:p>
            <a:pPr lvl="1"/>
            <a:r>
              <a:rPr lang="en-US" sz="1800"/>
              <a:t>Inadequate staff training</a:t>
            </a:r>
            <a:endParaRPr lang="en-US" sz="1600"/>
          </a:p>
          <a:p>
            <a:pPr lvl="1"/>
            <a:r>
              <a:rPr lang="en-US" sz="1800"/>
              <a:t>Viewing and disclosing unauthorized data</a:t>
            </a:r>
            <a:endParaRPr lang="en-US" sz="1600"/>
          </a:p>
          <a:p>
            <a:pPr lvl="1"/>
            <a:r>
              <a:rPr lang="en-US" sz="1800"/>
              <a:t>Electronic interference and radiation</a:t>
            </a:r>
            <a:endParaRPr lang="en-US" sz="1600"/>
          </a:p>
          <a:p>
            <a:pPr lvl="1"/>
            <a:r>
              <a:rPr lang="en-US" sz="1800"/>
              <a:t>Data corruption owing to power loss or surge</a:t>
            </a:r>
            <a:endParaRPr lang="en-US" sz="1600"/>
          </a:p>
          <a:p>
            <a:pPr lvl="1"/>
            <a:r>
              <a:rPr lang="en-US" sz="1800"/>
              <a:t>Fire (electrical fault, lightning strike, arson), flood, bomb</a:t>
            </a:r>
            <a:endParaRPr lang="en-US" sz="1600"/>
          </a:p>
          <a:p>
            <a:pPr lvl="1"/>
            <a:r>
              <a:rPr lang="en-US" sz="1800"/>
              <a:t>Physical damage to equipment </a:t>
            </a:r>
            <a:endParaRPr lang="en-US" sz="1600"/>
          </a:p>
          <a:p>
            <a:pPr lvl="1"/>
            <a:r>
              <a:rPr lang="en-US" sz="1800"/>
              <a:t>Breaking cables or disconnection of cables</a:t>
            </a:r>
            <a:endParaRPr lang="en-US" sz="1600"/>
          </a:p>
          <a:p>
            <a:pPr lvl="1"/>
            <a:r>
              <a:rPr lang="en-US" sz="1800"/>
              <a:t>Introduction of viruses</a:t>
            </a:r>
            <a:endParaRPr lang="en-US" sz="1600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7129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91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b="1"/>
              <a:t>Countermeasures: Computer Based </a:t>
            </a:r>
            <a:r>
              <a:rPr lang="en-US" sz="2800" b="1" smtClean="0"/>
              <a:t>Controls</a:t>
            </a:r>
            <a:endParaRPr lang="en-US" sz="2800"/>
          </a:p>
        </p:txBody>
      </p:sp>
      <p:sp>
        <p:nvSpPr>
          <p:cNvPr id="2355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153400" cy="5330825"/>
          </a:xfrm>
        </p:spPr>
        <p:txBody>
          <a:bodyPr/>
          <a:lstStyle/>
          <a:p>
            <a:pPr marL="0" indent="0">
              <a:buNone/>
            </a:pPr>
            <a:endParaRPr lang="en-US" sz="2000" smtClean="0"/>
          </a:p>
          <a:p>
            <a:r>
              <a:rPr lang="en-US" sz="2000" smtClean="0"/>
              <a:t>The following are computer-based security controls for a multi-user environment:</a:t>
            </a:r>
          </a:p>
          <a:p>
            <a:r>
              <a:rPr lang="en-US" sz="2000" b="1" smtClean="0"/>
              <a:t>Authorization</a:t>
            </a:r>
            <a:endParaRPr lang="en-US" sz="2000" smtClean="0"/>
          </a:p>
          <a:p>
            <a:pPr lvl="1"/>
            <a:r>
              <a:rPr lang="en-US" sz="2000" smtClean="0"/>
              <a:t>The </a:t>
            </a:r>
            <a:r>
              <a:rPr lang="en-US" sz="2000" smtClean="0">
                <a:solidFill>
                  <a:srgbClr val="FF0000"/>
                </a:solidFill>
              </a:rPr>
              <a:t>granting</a:t>
            </a:r>
            <a:r>
              <a:rPr lang="en-US" sz="2000" smtClean="0"/>
              <a:t> of a right or privilege that enables a subject to have legal access to a system or a system’s object.</a:t>
            </a:r>
            <a:endParaRPr lang="en-US" sz="1800" smtClean="0"/>
          </a:p>
          <a:p>
            <a:pPr lvl="1"/>
            <a:r>
              <a:rPr lang="en-US" sz="2000" smtClean="0"/>
              <a:t>Authorization controls can be </a:t>
            </a:r>
            <a:r>
              <a:rPr lang="en-US" sz="2000" smtClean="0">
                <a:solidFill>
                  <a:srgbClr val="FF0000"/>
                </a:solidFill>
              </a:rPr>
              <a:t>built</a:t>
            </a:r>
            <a:r>
              <a:rPr lang="en-US" sz="2000" smtClean="0"/>
              <a:t> into the software, and govern not only what system or object a specified user can access, but also what the user may do with it</a:t>
            </a:r>
            <a:endParaRPr lang="en-US" sz="1800" smtClean="0"/>
          </a:p>
          <a:p>
            <a:pPr lvl="1"/>
            <a:r>
              <a:rPr lang="en-US" sz="2000" smtClean="0"/>
              <a:t>Authorization controls are sometimes referred to as </a:t>
            </a:r>
            <a:r>
              <a:rPr lang="en-US" sz="2000" b="1" i="1" smtClean="0"/>
              <a:t>access controls</a:t>
            </a:r>
            <a:endParaRPr lang="en-US" sz="1800" smtClean="0"/>
          </a:p>
          <a:p>
            <a:pPr lvl="1"/>
            <a:r>
              <a:rPr lang="en-US" sz="2000" smtClean="0"/>
              <a:t>The process of authorization involves authentication of </a:t>
            </a:r>
            <a:r>
              <a:rPr lang="en-US" sz="2000" b="1" i="1" smtClean="0"/>
              <a:t>subjects</a:t>
            </a:r>
            <a:r>
              <a:rPr lang="en-US" sz="2000" smtClean="0"/>
              <a:t> (i.e. a user or program) requesting access to </a:t>
            </a:r>
            <a:r>
              <a:rPr lang="en-US" sz="2000" b="1" i="1" smtClean="0"/>
              <a:t>objects</a:t>
            </a:r>
            <a:r>
              <a:rPr lang="en-US" sz="2000" smtClean="0"/>
              <a:t> (i.e. a database table, view, procedure, trigger, or any other object that can be created within the system)</a:t>
            </a:r>
            <a:endParaRPr lang="en-US" sz="1800" smtClean="0"/>
          </a:p>
          <a:p>
            <a:endParaRPr lang="en-US" sz="200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1043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153400" cy="5330825"/>
          </a:xfrm>
        </p:spPr>
        <p:txBody>
          <a:bodyPr/>
          <a:lstStyle/>
          <a:p>
            <a:r>
              <a:rPr lang="en-US" b="1" smtClean="0"/>
              <a:t>Views</a:t>
            </a:r>
            <a:endParaRPr lang="en-US" sz="2000" smtClean="0"/>
          </a:p>
          <a:p>
            <a:pPr lvl="1"/>
            <a:r>
              <a:rPr lang="en-US" sz="2400" smtClean="0"/>
              <a:t>A view is the dynamic result of one or more relational operations on the base relations to produce another relation. </a:t>
            </a:r>
            <a:endParaRPr lang="en-US" sz="2000" smtClean="0"/>
          </a:p>
          <a:p>
            <a:pPr lvl="1"/>
            <a:r>
              <a:rPr lang="en-US" sz="2400" smtClean="0"/>
              <a:t>A view is a virtual relation that does not actually exist in the database, but is produced upon request by a particular user</a:t>
            </a:r>
            <a:endParaRPr lang="en-US" sz="2000" smtClean="0"/>
          </a:p>
          <a:p>
            <a:pPr lvl="1"/>
            <a:r>
              <a:rPr lang="en-US" sz="2400" smtClean="0"/>
              <a:t>The view mechanism provides a powerful and flexible security mechanism by hiding parts of the database from certain users</a:t>
            </a:r>
            <a:endParaRPr lang="en-US" sz="2000" smtClean="0"/>
          </a:p>
          <a:p>
            <a:pPr lvl="1"/>
            <a:r>
              <a:rPr lang="en-US" sz="2400" smtClean="0"/>
              <a:t>Using a view is more restrictive than simply having certain </a:t>
            </a:r>
            <a:r>
              <a:rPr lang="en-US" sz="2400" smtClean="0">
                <a:solidFill>
                  <a:srgbClr val="FF0000"/>
                </a:solidFill>
              </a:rPr>
              <a:t>privileges</a:t>
            </a:r>
            <a:r>
              <a:rPr lang="en-US" sz="2400" smtClean="0"/>
              <a:t> granted to a user on the base relation(s).</a:t>
            </a:r>
            <a:endParaRPr lang="en-US" sz="2000" smtClean="0"/>
          </a:p>
          <a:p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1263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r>
              <a:rPr lang="en-US" sz="2000" b="1" smtClean="0"/>
              <a:t>Backup and recovery</a:t>
            </a:r>
            <a:endParaRPr lang="en-US" sz="1800" smtClean="0"/>
          </a:p>
          <a:p>
            <a:pPr lvl="1"/>
            <a:r>
              <a:rPr lang="en-US" sz="2000" smtClean="0"/>
              <a:t>Backup is the process of periodically taking a copy of the database and log file (and possibly programs) on to offline storage media.</a:t>
            </a:r>
            <a:endParaRPr lang="en-US" sz="1800" smtClean="0"/>
          </a:p>
          <a:p>
            <a:pPr lvl="1"/>
            <a:r>
              <a:rPr lang="en-US" sz="2000" smtClean="0"/>
              <a:t>Database recovery is the process of restoring the database to a correct state in the event of a failure.</a:t>
            </a:r>
            <a:endParaRPr lang="en-US" sz="1800" smtClean="0"/>
          </a:p>
          <a:p>
            <a:pPr lvl="1"/>
            <a:r>
              <a:rPr lang="en-US" sz="2000" b="1" smtClean="0"/>
              <a:t>Journaling</a:t>
            </a:r>
            <a:r>
              <a:rPr lang="en-US" sz="2000" smtClean="0"/>
              <a:t> is the process of keeping and maintaining a log file (or journal) of all changes made to the database to enable recovery to be undertaken effectively in the event of a failure.</a:t>
            </a:r>
            <a:endParaRPr lang="en-US" sz="1800" smtClean="0"/>
          </a:p>
          <a:p>
            <a:pPr lvl="1"/>
            <a:r>
              <a:rPr lang="en-US" sz="2000" smtClean="0"/>
              <a:t>The advantage of journaling is that, in the event of a failure, the database can be recovered to its last known consistent state using a backup copy of the database and the information contained in the log file.</a:t>
            </a:r>
            <a:endParaRPr lang="en-US" sz="1800" smtClean="0"/>
          </a:p>
          <a:p>
            <a:pPr lvl="1"/>
            <a:r>
              <a:rPr lang="en-US" sz="2000" smtClean="0"/>
              <a:t>If no journaling is enabled on a failed system, the only means of recovery is to restore the database using the latest backup version of the database</a:t>
            </a:r>
            <a:endParaRPr lang="en-US" sz="180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1334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6175"/>
            <a:ext cx="8382000" cy="5330825"/>
          </a:xfrm>
        </p:spPr>
        <p:txBody>
          <a:bodyPr/>
          <a:lstStyle/>
          <a:p>
            <a:r>
              <a:rPr lang="en-US" b="1" smtClean="0"/>
              <a:t>Integrity</a:t>
            </a:r>
            <a:endParaRPr lang="en-US" sz="2000" smtClean="0"/>
          </a:p>
          <a:p>
            <a:pPr lvl="1"/>
            <a:r>
              <a:rPr lang="en-US" sz="2200" smtClean="0"/>
              <a:t>Integrity constraints contribute to maintaining a secure database system by preventing data from becoming invalid and hence giving </a:t>
            </a:r>
            <a:r>
              <a:rPr lang="en-US" sz="2200" smtClean="0">
                <a:solidFill>
                  <a:srgbClr val="FF0000"/>
                </a:solidFill>
              </a:rPr>
              <a:t>misleading</a:t>
            </a:r>
            <a:r>
              <a:rPr lang="en-US" sz="2200" smtClean="0"/>
              <a:t> or </a:t>
            </a:r>
            <a:r>
              <a:rPr lang="en-US" sz="2200" smtClean="0">
                <a:solidFill>
                  <a:srgbClr val="FF0000"/>
                </a:solidFill>
              </a:rPr>
              <a:t>incorrect results</a:t>
            </a:r>
            <a:r>
              <a:rPr lang="en-US" sz="2200" smtClean="0"/>
              <a:t>.</a:t>
            </a:r>
          </a:p>
          <a:p>
            <a:pPr lvl="1"/>
            <a:r>
              <a:rPr lang="en-US" sz="2200" i="1" smtClean="0"/>
              <a:t>Domain Integrity</a:t>
            </a:r>
            <a:r>
              <a:rPr lang="en-US" sz="2200" smtClean="0"/>
              <a:t>: setting the allowed set of values</a:t>
            </a:r>
          </a:p>
          <a:p>
            <a:pPr lvl="1"/>
            <a:r>
              <a:rPr lang="en-US" sz="2200" i="1" smtClean="0"/>
              <a:t>Entity integrity</a:t>
            </a:r>
            <a:r>
              <a:rPr lang="en-US" sz="2200" smtClean="0"/>
              <a:t>: demanding Primary key values not to assume a NULL value. </a:t>
            </a:r>
          </a:p>
          <a:p>
            <a:pPr lvl="1"/>
            <a:r>
              <a:rPr lang="en-US" sz="2200" i="1" smtClean="0"/>
              <a:t>Referential integrity</a:t>
            </a:r>
            <a:r>
              <a:rPr lang="en-US" sz="2200" smtClean="0"/>
              <a:t>: enforcing Foreign Key values to have a value that already exist in the corresponding Candidate Key attribute(s) or be NULL.</a:t>
            </a:r>
          </a:p>
          <a:p>
            <a:pPr marL="320040" lvl="1" indent="0">
              <a:buNone/>
            </a:pPr>
            <a:endParaRPr lang="en-US" sz="2200" smtClean="0"/>
          </a:p>
          <a:p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3726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534400" cy="91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smtClean="0"/>
              <a:t>Encryption</a:t>
            </a:r>
            <a:endParaRPr lang="en-US"/>
          </a:p>
        </p:txBody>
      </p:sp>
      <p:sp>
        <p:nvSpPr>
          <p:cNvPr id="2765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8458200" cy="5330825"/>
          </a:xfrm>
        </p:spPr>
        <p:txBody>
          <a:bodyPr>
            <a:normAutofit lnSpcReduction="10000"/>
          </a:bodyPr>
          <a:lstStyle/>
          <a:p>
            <a:r>
              <a:rPr lang="en-US" smtClean="0"/>
              <a:t>Encryption is used to </a:t>
            </a:r>
            <a:r>
              <a:rPr lang="en-US" smtClean="0">
                <a:solidFill>
                  <a:srgbClr val="FF0000"/>
                </a:solidFill>
              </a:rPr>
              <a:t>protect</a:t>
            </a:r>
            <a:r>
              <a:rPr lang="en-US" smtClean="0"/>
              <a:t> information stored at a particular site or transmitted between sites from being accessed by </a:t>
            </a:r>
            <a:r>
              <a:rPr lang="en-US" smtClean="0">
                <a:solidFill>
                  <a:srgbClr val="FF0000"/>
                </a:solidFill>
              </a:rPr>
              <a:t>unauthorized</a:t>
            </a:r>
            <a:r>
              <a:rPr lang="en-US" smtClean="0"/>
              <a:t> users.</a:t>
            </a:r>
          </a:p>
          <a:p>
            <a:r>
              <a:rPr lang="en-US" smtClean="0"/>
              <a:t>Encryption is the encoding of the data by a special algorithm that renders the data unreadable by any program without the </a:t>
            </a:r>
            <a:r>
              <a:rPr lang="en-US" smtClean="0">
                <a:solidFill>
                  <a:srgbClr val="FF0000"/>
                </a:solidFill>
              </a:rPr>
              <a:t>decryption key</a:t>
            </a:r>
            <a:r>
              <a:rPr lang="en-US" smtClean="0"/>
              <a:t>.</a:t>
            </a:r>
          </a:p>
          <a:p>
            <a:r>
              <a:rPr lang="en-US" smtClean="0"/>
              <a:t>It is not possible for encrypted data to be read unless the reader knows how to </a:t>
            </a:r>
            <a:r>
              <a:rPr lang="en-US" smtClean="0">
                <a:solidFill>
                  <a:srgbClr val="FF0000"/>
                </a:solidFill>
              </a:rPr>
              <a:t>decipher/decrypt</a:t>
            </a:r>
            <a:r>
              <a:rPr lang="en-US" smtClean="0"/>
              <a:t> the encrypted data.</a:t>
            </a:r>
          </a:p>
          <a:p>
            <a:r>
              <a:rPr lang="en-US" smtClean="0"/>
              <a:t>The DBMS can access data after decoding it, although there is a degradation in performance because of the time taken to decode it.</a:t>
            </a:r>
          </a:p>
          <a:p>
            <a:r>
              <a:rPr lang="en-US" smtClean="0"/>
              <a:t>Encryption also protects data transmitted over communication lines.</a:t>
            </a:r>
          </a:p>
          <a:p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6243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458200" cy="5257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1800" smtClean="0"/>
              <a:t>To transmit data securely over insecure networks requires the use of a </a:t>
            </a:r>
            <a:r>
              <a:rPr lang="en-US" sz="1800" b="1" smtClean="0"/>
              <a:t>Cryptosystem</a:t>
            </a:r>
            <a:r>
              <a:rPr lang="en-US" sz="1800" smtClean="0"/>
              <a:t>, which includes:</a:t>
            </a:r>
          </a:p>
          <a:p>
            <a:pPr marL="823913" lvl="1" indent="-457200">
              <a:buFont typeface="Century Schoolbook" panose="02040604050505020304" pitchFamily="18" charset="0"/>
              <a:buAutoNum type="arabicPeriod"/>
              <a:defRPr/>
            </a:pPr>
            <a:r>
              <a:rPr lang="en-US" sz="2000" smtClean="0"/>
              <a:t>An </a:t>
            </a:r>
            <a:r>
              <a:rPr lang="en-US" sz="2000" b="1" i="1" smtClean="0"/>
              <a:t>encryption key</a:t>
            </a:r>
            <a:r>
              <a:rPr lang="en-US" sz="2000" smtClean="0"/>
              <a:t> to encrypt the data (plaintext)</a:t>
            </a:r>
          </a:p>
          <a:p>
            <a:pPr marL="823913" lvl="1" indent="-457200">
              <a:buFont typeface="Century Schoolbook" panose="02040604050505020304" pitchFamily="18" charset="0"/>
              <a:buAutoNum type="arabicPeriod"/>
              <a:defRPr/>
            </a:pPr>
            <a:r>
              <a:rPr lang="en-US" sz="2000" smtClean="0"/>
              <a:t>An </a:t>
            </a:r>
            <a:r>
              <a:rPr lang="en-US" sz="2000" b="1" i="1" smtClean="0"/>
              <a:t>encryption algorithm</a:t>
            </a:r>
            <a:r>
              <a:rPr lang="en-US" sz="2000" smtClean="0"/>
              <a:t> that, with the encryption key, transforms the plaintext into </a:t>
            </a:r>
            <a:r>
              <a:rPr lang="en-US" sz="2000" err="1" smtClean="0"/>
              <a:t>ciphertext</a:t>
            </a:r>
            <a:endParaRPr lang="en-US" sz="2000" smtClean="0"/>
          </a:p>
          <a:p>
            <a:pPr marL="823913" lvl="1" indent="-457200">
              <a:buFont typeface="Century Schoolbook" panose="02040604050505020304" pitchFamily="18" charset="0"/>
              <a:buAutoNum type="arabicPeriod"/>
              <a:defRPr/>
            </a:pPr>
            <a:r>
              <a:rPr lang="en-US" sz="2000" smtClean="0"/>
              <a:t>A </a:t>
            </a:r>
            <a:r>
              <a:rPr lang="en-US" sz="2000" b="1" i="1" smtClean="0"/>
              <a:t>decryption key</a:t>
            </a:r>
            <a:r>
              <a:rPr lang="en-US" sz="2000" smtClean="0"/>
              <a:t> to decrypt the </a:t>
            </a:r>
            <a:r>
              <a:rPr lang="en-US" sz="2000" err="1" smtClean="0"/>
              <a:t>ciphertext</a:t>
            </a:r>
            <a:endParaRPr lang="en-US" sz="2000" smtClean="0"/>
          </a:p>
          <a:p>
            <a:pPr marL="823913" lvl="1" indent="-457200">
              <a:buFont typeface="Century Schoolbook" panose="02040604050505020304" pitchFamily="18" charset="0"/>
              <a:buAutoNum type="arabicPeriod"/>
              <a:defRPr/>
            </a:pPr>
            <a:r>
              <a:rPr lang="en-US" sz="2000" smtClean="0"/>
              <a:t>A </a:t>
            </a:r>
            <a:r>
              <a:rPr lang="en-US" sz="2000" b="1" i="1" smtClean="0"/>
              <a:t>decryption algorithm</a:t>
            </a:r>
            <a:r>
              <a:rPr lang="en-US" sz="2000" smtClean="0"/>
              <a:t> that, with the decryption key, transforms the </a:t>
            </a:r>
            <a:r>
              <a:rPr lang="en-US" sz="2000" err="1" smtClean="0"/>
              <a:t>ciphertext</a:t>
            </a:r>
            <a:r>
              <a:rPr lang="en-US" sz="2000" smtClean="0"/>
              <a:t> back into plaintext</a:t>
            </a:r>
          </a:p>
          <a:p>
            <a:pPr marL="823913" lvl="1" indent="-457200">
              <a:buFont typeface="Century Schoolbook" panose="02040604050505020304" pitchFamily="18" charset="0"/>
              <a:buAutoNum type="arabicPeriod"/>
              <a:defRPr/>
            </a:pPr>
            <a:endParaRPr lang="en-US"/>
          </a:p>
          <a:p>
            <a:pPr marL="823913" lvl="1" indent="-457200">
              <a:buFont typeface="Century Schoolbook" panose="02040604050505020304" pitchFamily="18" charset="0"/>
              <a:buAutoNum type="arabicPeriod"/>
              <a:defRPr/>
            </a:pPr>
            <a:endParaRPr lang="en-US" smtClean="0"/>
          </a:p>
          <a:p>
            <a:pPr marL="823913" lvl="1" indent="-457200">
              <a:buFont typeface="Century Schoolbook" panose="02040604050505020304" pitchFamily="18" charset="0"/>
              <a:buAutoNum type="arabicPeriod"/>
              <a:defRPr/>
            </a:pPr>
            <a:endParaRPr lang="en-US"/>
          </a:p>
          <a:p>
            <a:pPr marL="823913" lvl="1" indent="-457200">
              <a:buFont typeface="Century Schoolbook" panose="02040604050505020304" pitchFamily="18" charset="0"/>
              <a:buAutoNum type="arabicPeriod"/>
              <a:defRPr/>
            </a:pPr>
            <a:endParaRPr lang="en-US" smtClean="0"/>
          </a:p>
          <a:p>
            <a:pPr marL="366713" lvl="1" indent="0">
              <a:buFont typeface="Wingdings 2" panose="05020102010507070707" pitchFamily="18" charset="2"/>
              <a:buNone/>
              <a:defRPr/>
            </a:pPr>
            <a:endParaRPr lang="en-US" smtClean="0"/>
          </a:p>
          <a:p>
            <a:pPr marL="823913" lvl="1" indent="-457200">
              <a:buFont typeface="Century Schoolbook" panose="02040604050505020304" pitchFamily="18" charset="0"/>
              <a:buAutoNum type="arabicPeriod"/>
              <a:defRPr/>
            </a:pPr>
            <a:endParaRPr lang="en-US"/>
          </a:p>
          <a:p>
            <a:pPr marL="0" indent="0">
              <a:buNone/>
              <a:defRPr/>
            </a:pPr>
            <a:endParaRPr lang="en-US" smtClean="0"/>
          </a:p>
        </p:txBody>
      </p:sp>
      <p:sp>
        <p:nvSpPr>
          <p:cNvPr id="7" name="Text Box 6"/>
          <p:cNvSpPr txBox="1"/>
          <p:nvPr/>
        </p:nvSpPr>
        <p:spPr>
          <a:xfrm>
            <a:off x="2590800" y="5334000"/>
            <a:ext cx="1028700" cy="2571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endParaRPr lang="en-US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67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244" y="3524442"/>
            <a:ext cx="4887912" cy="2073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6783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14400"/>
          </a:xfrm>
        </p:spPr>
        <p:txBody>
          <a:bodyPr/>
          <a:lstStyle/>
          <a:p>
            <a:pPr>
              <a:defRPr/>
            </a:pPr>
            <a:r>
              <a:rPr lang="en-US" b="1"/>
              <a:t>Types of </a:t>
            </a:r>
            <a:r>
              <a:rPr lang="en-US" b="1" smtClean="0"/>
              <a:t>Cryptosystems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8912" y="1066800"/>
            <a:ext cx="8726487" cy="5330825"/>
          </a:xfrm>
        </p:spPr>
        <p:txBody>
          <a:bodyPr/>
          <a:lstStyle/>
          <a:p>
            <a:pPr>
              <a:defRPr/>
            </a:pPr>
            <a:r>
              <a:rPr lang="en-US"/>
              <a:t>Cryptosystems can be categorized into </a:t>
            </a:r>
            <a:r>
              <a:rPr lang="en-US" smtClean="0"/>
              <a:t>two:</a:t>
            </a:r>
            <a:endParaRPr lang="en-US"/>
          </a:p>
          <a:p>
            <a:pPr marL="625475" indent="-336550">
              <a:buFont typeface="+mj-lt"/>
              <a:buAutoNum type="arabicPeriod"/>
              <a:defRPr/>
            </a:pPr>
            <a:r>
              <a:rPr lang="en-US" b="1" i="1"/>
              <a:t>Symmetric encryption</a:t>
            </a:r>
            <a:r>
              <a:rPr lang="en-US"/>
              <a:t> – uses the same key for both encryption and decryption and relies on safe communication lines for exchanging the key.</a:t>
            </a:r>
          </a:p>
          <a:p>
            <a:pPr>
              <a:defRPr/>
            </a:pPr>
            <a:endParaRPr lang="en-US"/>
          </a:p>
        </p:txBody>
      </p:sp>
      <p:pic>
        <p:nvPicPr>
          <p:cNvPr id="2970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3" y="2949158"/>
            <a:ext cx="4738687" cy="2483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648200"/>
            <a:ext cx="3965575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6909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458200" cy="5715000"/>
          </a:xfrm>
        </p:spPr>
        <p:txBody>
          <a:bodyPr>
            <a:normAutofit lnSpcReduction="1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i="1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b="1" i="1" smtClean="0"/>
              <a:t>. Asymmetric </a:t>
            </a:r>
            <a:r>
              <a:rPr lang="en-US" b="1" i="1"/>
              <a:t>encryption</a:t>
            </a:r>
            <a:r>
              <a:rPr lang="en-US"/>
              <a:t> – uses different keys for encryption and decryption  e.g. RSA(</a:t>
            </a:r>
            <a:r>
              <a:rPr lang="en-US" err="1"/>
              <a:t>Rivest</a:t>
            </a:r>
            <a:r>
              <a:rPr lang="en-US"/>
              <a:t>–Shamir–</a:t>
            </a:r>
            <a:r>
              <a:rPr lang="en-US" err="1"/>
              <a:t>Adleman</a:t>
            </a:r>
            <a:r>
              <a:rPr lang="en-US"/>
              <a:t>)</a:t>
            </a:r>
            <a:endParaRPr lang="en-US" smtClean="0"/>
          </a:p>
          <a:p>
            <a:pPr marL="284163" indent="-284163">
              <a:buFont typeface="+mj-lt"/>
              <a:buAutoNum type="arabicPeriod"/>
              <a:defRPr/>
            </a:pPr>
            <a:endParaRPr lang="en-US"/>
          </a:p>
          <a:p>
            <a:pPr marL="284163" indent="-284163">
              <a:buFont typeface="+mj-lt"/>
              <a:buAutoNum type="arabicPeriod"/>
              <a:defRPr/>
            </a:pPr>
            <a:endParaRPr lang="en-US" smtClean="0"/>
          </a:p>
          <a:p>
            <a:pPr marL="284163" indent="-284163">
              <a:buFont typeface="+mj-lt"/>
              <a:buAutoNum type="arabicPeriod"/>
              <a:defRPr/>
            </a:pPr>
            <a:endParaRPr lang="en-US"/>
          </a:p>
          <a:p>
            <a:pPr marL="284163" indent="-284163">
              <a:buFont typeface="+mj-lt"/>
              <a:buAutoNum type="arabicPeriod"/>
              <a:defRPr/>
            </a:pPr>
            <a:endParaRPr lang="en-US" smtClean="0"/>
          </a:p>
          <a:p>
            <a:pPr marL="284163" indent="-284163">
              <a:buFont typeface="+mj-lt"/>
              <a:buAutoNum type="arabicPeriod"/>
              <a:defRPr/>
            </a:pPr>
            <a:endParaRPr lang="en-US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/>
          </a:p>
          <a:p>
            <a:pPr>
              <a:defRPr/>
            </a:pPr>
            <a:r>
              <a:rPr lang="en-US"/>
              <a:t>Generally, symmetric algorithms are </a:t>
            </a:r>
            <a:r>
              <a:rPr lang="en-US">
                <a:solidFill>
                  <a:srgbClr val="FF0000"/>
                </a:solidFill>
              </a:rPr>
              <a:t>much faster </a:t>
            </a:r>
            <a:r>
              <a:rPr lang="en-US"/>
              <a:t>to execute on a computer than those that are asymmetric. </a:t>
            </a:r>
          </a:p>
          <a:p>
            <a:pPr>
              <a:defRPr/>
            </a:pPr>
            <a:r>
              <a:rPr lang="en-US"/>
              <a:t>In the contrary, asymmetric algorithms are </a:t>
            </a:r>
            <a:r>
              <a:rPr lang="en-US">
                <a:solidFill>
                  <a:srgbClr val="FF0000"/>
                </a:solidFill>
              </a:rPr>
              <a:t>more secure</a:t>
            </a:r>
            <a:r>
              <a:rPr lang="en-US"/>
              <a:t> than symmetric algorithms.</a:t>
            </a:r>
          </a:p>
          <a:p>
            <a:pPr>
              <a:defRPr/>
            </a:pPr>
            <a:endParaRPr lang="en-US"/>
          </a:p>
        </p:txBody>
      </p:sp>
      <p:pic>
        <p:nvPicPr>
          <p:cNvPr id="3072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981200"/>
            <a:ext cx="501967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67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9906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 smtClean="0"/>
              <a:t>RAID technology (Redundant Array of Independent Disks)</a:t>
            </a:r>
            <a:endParaRPr lang="en-US" sz="3200" smtClean="0"/>
          </a:p>
        </p:txBody>
      </p:sp>
      <p:sp>
        <p:nvSpPr>
          <p:cNvPr id="31747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8458200" cy="56388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/>
              <a:t>The main hardware components that should be fault-tolerant include disk drives, disk controllers, CPU, power supplies, and cooling fans. </a:t>
            </a:r>
          </a:p>
          <a:p>
            <a:pPr algn="just"/>
            <a:r>
              <a:rPr lang="en-US" sz="2400" dirty="0" smtClean="0"/>
              <a:t>Disk drives are the most vulnerable(attackable) components with the shortest times between failures of any of the hardware components.</a:t>
            </a:r>
          </a:p>
          <a:p>
            <a:pPr algn="just"/>
            <a:r>
              <a:rPr lang="en-US" sz="2400" dirty="0" smtClean="0"/>
              <a:t>RAID works on having a large disk array comprising an arrangement of several independent disks that are organized to improve reliability and at same time increase performance</a:t>
            </a:r>
          </a:p>
          <a:p>
            <a:pPr algn="just"/>
            <a:r>
              <a:rPr lang="en-US" sz="2400" dirty="0" smtClean="0"/>
              <a:t>Performance is increased through </a:t>
            </a:r>
            <a:r>
              <a:rPr lang="en-US" sz="2400" b="1" i="1" dirty="0" smtClean="0"/>
              <a:t>data striping</a:t>
            </a:r>
            <a:endParaRPr lang="en-US" sz="2400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5048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848600" cy="5330825"/>
          </a:xfrm>
        </p:spPr>
        <p:txBody>
          <a:bodyPr/>
          <a:lstStyle/>
          <a:p>
            <a:pPr algn="just">
              <a:defRPr/>
            </a:pPr>
            <a:r>
              <a:rPr lang="en-US" b="1" i="1" smtClean="0"/>
              <a:t>Data striping</a:t>
            </a:r>
            <a:r>
              <a:rPr lang="en-US" smtClean="0"/>
              <a:t> – the data is segmented into equal size partitions (the striping unit) which are transparently distributed across multiple disks. </a:t>
            </a:r>
          </a:p>
          <a:p>
            <a:pPr algn="just">
              <a:defRPr/>
            </a:pPr>
            <a:r>
              <a:rPr lang="en-US" smtClean="0"/>
              <a:t>Data striping stores data across multiple disks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mtClean="0"/>
          </a:p>
          <a:p>
            <a:pPr>
              <a:defRPr/>
            </a:pPr>
            <a:r>
              <a:rPr lang="en-US" b="1" smtClean="0"/>
              <a:t>Figure</a:t>
            </a:r>
            <a:r>
              <a:rPr lang="en-US" smtClean="0"/>
              <a:t>: Data striping File A striped across four disks</a:t>
            </a:r>
          </a:p>
          <a:p>
            <a:pPr>
              <a:defRPr/>
            </a:pPr>
            <a:endParaRPr lang="en-US"/>
          </a:p>
        </p:txBody>
      </p:sp>
      <p:pic>
        <p:nvPicPr>
          <p:cNvPr id="32773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971800"/>
            <a:ext cx="715803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3819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/>
              <a:t>Security at different Levels of </a:t>
            </a:r>
            <a:r>
              <a:rPr lang="en-US" b="1" smtClean="0"/>
              <a:t>Data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305800" cy="53340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000" smtClean="0">
                <a:latin typeface="Book Antiqua" panose="02040602050305030304" pitchFamily="18" charset="0"/>
                <a:ea typeface="Times New Roman" panose="02020603050405020304" pitchFamily="18" charset="0"/>
              </a:rPr>
              <a:t>Almost all RDBMSs provide security at different levels and formats of data. </a:t>
            </a:r>
          </a:p>
          <a:p>
            <a:pPr marL="0">
              <a:defRPr/>
            </a:pPr>
            <a:r>
              <a:rPr lang="en-US" sz="2000" smtClean="0">
                <a:latin typeface="Book Antiqua" panose="02040602050305030304" pitchFamily="18" charset="0"/>
                <a:ea typeface="Times New Roman" panose="02020603050405020304" pitchFamily="18" charset="0"/>
              </a:rPr>
              <a:t>This includes:-</a:t>
            </a:r>
            <a:endParaRPr lang="en-US" sz="200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09613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685800" algn="l"/>
              </a:tabLst>
              <a:defRPr/>
            </a:pPr>
            <a:r>
              <a:rPr lang="en-US" sz="2000" b="1" smtClean="0">
                <a:latin typeface="Book Antiqua" panose="02040602050305030304" pitchFamily="18" charset="0"/>
                <a:ea typeface="Times New Roman" panose="02020603050405020304" pitchFamily="18" charset="0"/>
              </a:rPr>
              <a:t>Relation Level:</a:t>
            </a:r>
            <a:r>
              <a:rPr lang="en-US" sz="2000" smtClean="0">
                <a:latin typeface="Book Antiqua" panose="02040602050305030304" pitchFamily="18" charset="0"/>
                <a:ea typeface="Times New Roman" panose="02020603050405020304" pitchFamily="18" charset="0"/>
              </a:rPr>
              <a:t> permission to have access to a specific relation.</a:t>
            </a:r>
            <a:endParaRPr lang="en-US" sz="200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09613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685800" algn="l"/>
              </a:tabLst>
              <a:defRPr/>
            </a:pPr>
            <a:r>
              <a:rPr lang="en-US" sz="2000" b="1" smtClean="0">
                <a:latin typeface="Book Antiqua" panose="02040602050305030304" pitchFamily="18" charset="0"/>
                <a:ea typeface="Times New Roman" panose="02020603050405020304" pitchFamily="18" charset="0"/>
              </a:rPr>
              <a:t>View Level:</a:t>
            </a:r>
            <a:r>
              <a:rPr lang="en-US" sz="2000" smtClean="0">
                <a:latin typeface="Book Antiqua" panose="02040602050305030304" pitchFamily="18" charset="0"/>
                <a:ea typeface="Times New Roman" panose="02020603050405020304" pitchFamily="18" charset="0"/>
              </a:rPr>
              <a:t> permission to data included in the view and not in the named relations</a:t>
            </a:r>
            <a:endParaRPr lang="en-US" sz="200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09613" lvl="1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685800" algn="l"/>
              </a:tabLst>
              <a:defRPr/>
            </a:pPr>
            <a:r>
              <a:rPr lang="en-US" sz="2000" b="1" smtClean="0">
                <a:latin typeface="Book Antiqua" panose="02040602050305030304" pitchFamily="18" charset="0"/>
                <a:ea typeface="Times New Roman" panose="02020603050405020304" pitchFamily="18" charset="0"/>
              </a:rPr>
              <a:t>Hybrid (Relation/View):</a:t>
            </a:r>
            <a:r>
              <a:rPr lang="en-US" sz="2000" smtClean="0">
                <a:latin typeface="Book Antiqua" panose="02040602050305030304" pitchFamily="18" charset="0"/>
                <a:ea typeface="Times New Roman" panose="02020603050405020304" pitchFamily="18" charset="0"/>
              </a:rPr>
              <a:t> the case where only part of a single relation is made available to users through View.</a:t>
            </a:r>
            <a:endParaRPr lang="en-US" sz="200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Any database access request will have the following three major components:-</a:t>
            </a:r>
            <a:endParaRPr lang="en-US" sz="180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09613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685800" algn="l"/>
              </a:tabLst>
              <a:defRPr/>
            </a:pPr>
            <a:r>
              <a:rPr lang="en-US" sz="2000" b="1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Requested Operation: </a:t>
            </a:r>
            <a:r>
              <a:rPr lang="en-US" sz="20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what kind of operation is requested by a specific query?</a:t>
            </a:r>
            <a:endParaRPr lang="en-US" sz="160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09613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685800" algn="l"/>
              </a:tabLst>
              <a:defRPr/>
            </a:pPr>
            <a:r>
              <a:rPr lang="en-US" sz="2000" b="1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Requested Object: </a:t>
            </a:r>
            <a:r>
              <a:rPr lang="en-US" sz="20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on which resource or data of the database is the operation required to be applied?</a:t>
            </a:r>
            <a:endParaRPr lang="en-US" sz="160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09613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685800" algn="l"/>
              </a:tabLst>
              <a:defRPr/>
            </a:pPr>
            <a:r>
              <a:rPr lang="en-US" sz="2000" b="1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Requesting User: </a:t>
            </a:r>
            <a:r>
              <a:rPr lang="en-US" sz="2000" smtClean="0">
                <a:solidFill>
                  <a:srgbClr val="000000"/>
                </a:solidFill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who is the user requesting the operation on the specified object?</a:t>
            </a:r>
            <a:endParaRPr lang="en-US" sz="180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sz="2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348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1066800"/>
          </a:xfrm>
        </p:spPr>
        <p:txBody>
          <a:bodyPr/>
          <a:lstStyle/>
          <a:p>
            <a:pPr>
              <a:defRPr/>
            </a:pPr>
            <a:r>
              <a:rPr lang="en-US" b="1" smtClean="0"/>
              <a:t>Authentication</a:t>
            </a:r>
            <a:endParaRPr lang="en-US"/>
          </a:p>
        </p:txBody>
      </p:sp>
      <p:sp>
        <p:nvSpPr>
          <p:cNvPr id="34819" name="Content Placeholder 2"/>
          <p:cNvSpPr>
            <a:spLocks noGrp="1"/>
          </p:cNvSpPr>
          <p:nvPr>
            <p:ph sz="quarter" idx="1"/>
          </p:nvPr>
        </p:nvSpPr>
        <p:spPr>
          <a:xfrm>
            <a:off x="333374" y="1222375"/>
            <a:ext cx="8429625" cy="5483225"/>
          </a:xfrm>
        </p:spPr>
        <p:txBody>
          <a:bodyPr>
            <a:normAutofit/>
          </a:bodyPr>
          <a:lstStyle/>
          <a:p>
            <a:pPr algn="just"/>
            <a:r>
              <a:rPr lang="en-US" smtClean="0"/>
              <a:t>All users of the database will have different access levels and permission for different data objects.</a:t>
            </a:r>
          </a:p>
          <a:p>
            <a:pPr algn="just"/>
            <a:r>
              <a:rPr lang="en-US" smtClean="0"/>
              <a:t>Is the process of checking whether the user is the one with the privilege for the access level.</a:t>
            </a:r>
          </a:p>
          <a:p>
            <a:pPr algn="just"/>
            <a:r>
              <a:rPr lang="en-US" smtClean="0"/>
              <a:t>Each user is given a unique identifier, which is used by the operating system to determine who they are.</a:t>
            </a:r>
          </a:p>
          <a:p>
            <a:pPr algn="just"/>
            <a:r>
              <a:rPr lang="en-US" smtClean="0"/>
              <a:t>Thus the system will check whether the user with a specific </a:t>
            </a:r>
            <a:r>
              <a:rPr lang="en-US" smtClean="0">
                <a:solidFill>
                  <a:srgbClr val="FF0000"/>
                </a:solidFill>
              </a:rPr>
              <a:t>username</a:t>
            </a:r>
            <a:r>
              <a:rPr lang="en-US" smtClean="0"/>
              <a:t> and </a:t>
            </a:r>
            <a:r>
              <a:rPr lang="en-US" smtClean="0">
                <a:solidFill>
                  <a:srgbClr val="FF0000"/>
                </a:solidFill>
              </a:rPr>
              <a:t>password</a:t>
            </a:r>
            <a:r>
              <a:rPr lang="en-US" smtClean="0"/>
              <a:t> is trying to use the resource.</a:t>
            </a:r>
          </a:p>
          <a:p>
            <a:pPr algn="just"/>
            <a:r>
              <a:rPr lang="en-US" smtClean="0"/>
              <a:t>Associated with each identifier is a </a:t>
            </a:r>
            <a:r>
              <a:rPr lang="en-US" smtClean="0">
                <a:solidFill>
                  <a:srgbClr val="FF0000"/>
                </a:solidFill>
              </a:rPr>
              <a:t>password</a:t>
            </a:r>
            <a:r>
              <a:rPr lang="en-US" smtClean="0"/>
              <a:t>, chosen by the user and known to the operation system, which must be supplied to enable the operating system to authenticate who the user claims to be.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0256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1143000"/>
          </a:xfrm>
        </p:spPr>
        <p:txBody>
          <a:bodyPr/>
          <a:lstStyle/>
          <a:p>
            <a:pPr>
              <a:defRPr/>
            </a:pPr>
            <a:r>
              <a:rPr lang="en-US"/>
              <a:t>Authorization/Privilege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8575"/>
            <a:ext cx="8458200" cy="5330825"/>
          </a:xfrm>
        </p:spPr>
        <p:txBody>
          <a:bodyPr/>
          <a:lstStyle/>
          <a:p>
            <a:pPr algn="just"/>
            <a:r>
              <a:rPr lang="en-US" sz="2600" dirty="0" smtClean="0"/>
              <a:t>Authorization refers to the process that determines the mode in which a particular (</a:t>
            </a:r>
            <a:r>
              <a:rPr lang="en-US" sz="2600" b="1" dirty="0" smtClean="0"/>
              <a:t>previously authenticated</a:t>
            </a:r>
            <a:r>
              <a:rPr lang="en-US" sz="2600" dirty="0" smtClean="0"/>
              <a:t>) client is allowed to access a specific resource controlled by a server.</a:t>
            </a:r>
          </a:p>
          <a:p>
            <a:pPr algn="just"/>
            <a:r>
              <a:rPr lang="en-US" sz="2600" dirty="0" smtClean="0"/>
              <a:t>Authorization is implemented by using </a:t>
            </a:r>
            <a:r>
              <a:rPr lang="en-US" sz="2600" dirty="0" smtClean="0">
                <a:solidFill>
                  <a:srgbClr val="FF0000"/>
                </a:solidFill>
              </a:rPr>
              <a:t>Views</a:t>
            </a:r>
            <a:r>
              <a:rPr lang="en-US" sz="2600" dirty="0" smtClean="0"/>
              <a:t>.</a:t>
            </a:r>
          </a:p>
          <a:p>
            <a:pPr algn="just"/>
            <a:r>
              <a:rPr lang="en-US" sz="2600" dirty="0" smtClean="0"/>
              <a:t>Views are unnamed relations containing part of one or more base relations creating a customized/personalized view for different users. </a:t>
            </a:r>
          </a:p>
          <a:p>
            <a:pPr marL="0" indent="0" algn="just">
              <a:buNone/>
            </a:pPr>
            <a:endParaRPr lang="en-US" sz="2600" dirty="0" smtClean="0"/>
          </a:p>
          <a:p>
            <a:pPr algn="just"/>
            <a:endParaRPr lang="en-US" sz="2600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5832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9975"/>
            <a:ext cx="8305800" cy="5559425"/>
          </a:xfrm>
        </p:spPr>
        <p:txBody>
          <a:bodyPr/>
          <a:lstStyle/>
          <a:p>
            <a:pPr>
              <a:defRPr/>
            </a:pPr>
            <a:r>
              <a:rPr lang="en-US" b="1" i="1" smtClean="0"/>
              <a:t>Forms </a:t>
            </a:r>
            <a:r>
              <a:rPr lang="en-US" b="1" i="1"/>
              <a:t>of user authorization</a:t>
            </a:r>
            <a:endParaRPr lang="en-US" sz="2800" b="1" i="1"/>
          </a:p>
          <a:p>
            <a:pPr lvl="1">
              <a:defRPr/>
            </a:pPr>
            <a:r>
              <a:rPr lang="en-US" sz="2000"/>
              <a:t>There are different forms of user authorization on the resource of the database. </a:t>
            </a:r>
            <a:endParaRPr lang="en-US" sz="2000" smtClean="0"/>
          </a:p>
          <a:p>
            <a:pPr lvl="1">
              <a:defRPr/>
            </a:pPr>
            <a:r>
              <a:rPr lang="en-US" sz="2000" smtClean="0"/>
              <a:t>These </a:t>
            </a:r>
            <a:r>
              <a:rPr lang="en-US" sz="2000"/>
              <a:t>forms are privileges on what operations are allowed on a specific data object</a:t>
            </a:r>
            <a:r>
              <a:rPr lang="en-US" sz="1700"/>
              <a:t>.</a:t>
            </a:r>
          </a:p>
          <a:p>
            <a:pPr>
              <a:defRPr/>
            </a:pPr>
            <a:r>
              <a:rPr lang="en-US" b="1"/>
              <a:t>User authorization on the data/extension</a:t>
            </a:r>
            <a:endParaRPr lang="en-US"/>
          </a:p>
          <a:p>
            <a:pPr marL="709613" lvl="1" indent="-342900">
              <a:buFont typeface="+mj-lt"/>
              <a:buAutoNum type="arabicPeriod"/>
              <a:defRPr/>
            </a:pPr>
            <a:r>
              <a:rPr lang="en-US" sz="1700" b="1"/>
              <a:t>Read Authorization</a:t>
            </a:r>
            <a:r>
              <a:rPr lang="en-US" sz="1700"/>
              <a:t>: the user with this privilege is allowed only to read the content of the data object.</a:t>
            </a:r>
          </a:p>
          <a:p>
            <a:pPr marL="709613" lvl="1" indent="-342900">
              <a:buFont typeface="+mj-lt"/>
              <a:buAutoNum type="arabicPeriod"/>
              <a:defRPr/>
            </a:pPr>
            <a:r>
              <a:rPr lang="en-US" sz="1700" b="1"/>
              <a:t>Insert Authorization</a:t>
            </a:r>
            <a:r>
              <a:rPr lang="en-US" sz="1700"/>
              <a:t>: the user with this privilege is allowed only to insert new records or items to the data object.</a:t>
            </a:r>
          </a:p>
          <a:p>
            <a:pPr marL="709613" lvl="1" indent="-342900">
              <a:buFont typeface="+mj-lt"/>
              <a:buAutoNum type="arabicPeriod"/>
              <a:defRPr/>
            </a:pPr>
            <a:r>
              <a:rPr lang="en-US" sz="1700" b="1"/>
              <a:t>Update Authorization</a:t>
            </a:r>
            <a:r>
              <a:rPr lang="en-US" sz="1700"/>
              <a:t>: users with this privilege are allowed to modify content of attributes but are not authorized to delete the records.</a:t>
            </a:r>
          </a:p>
          <a:p>
            <a:pPr marL="709613" lvl="1" indent="-342900">
              <a:buFont typeface="+mj-lt"/>
              <a:buAutoNum type="arabicPeriod"/>
              <a:defRPr/>
            </a:pPr>
            <a:r>
              <a:rPr lang="en-US" sz="1700" b="1"/>
              <a:t>Delete Authorization</a:t>
            </a:r>
            <a:r>
              <a:rPr lang="en-US" sz="1700"/>
              <a:t>: users with this privilege are only allowed to delete a record and not anything else.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000"/>
              <a:t>Different users, depending on the power of the user, can have one or the combination of the above forms of authorization on different data objects.</a:t>
            </a:r>
          </a:p>
          <a:p>
            <a:pPr>
              <a:defRPr/>
            </a:pPr>
            <a:endParaRPr lang="en-US" sz="2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525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001000" cy="5330825"/>
          </a:xfrm>
        </p:spPr>
        <p:txBody>
          <a:bodyPr/>
          <a:lstStyle/>
          <a:p>
            <a:r>
              <a:rPr lang="en-US" sz="2800" b="1" smtClean="0"/>
              <a:t>User authorization on the database schema</a:t>
            </a:r>
            <a:endParaRPr lang="en-US" sz="2800" smtClean="0"/>
          </a:p>
          <a:p>
            <a:pPr marL="823913" lvl="1" indent="-457200">
              <a:buFont typeface="Century Schoolbook" panose="02040604050505020304" pitchFamily="18" charset="0"/>
              <a:buAutoNum type="arabicPeriod"/>
            </a:pPr>
            <a:r>
              <a:rPr lang="en-US" sz="2400" b="1" smtClean="0"/>
              <a:t>Index Authorization</a:t>
            </a:r>
            <a:r>
              <a:rPr lang="en-US" sz="2400" smtClean="0"/>
              <a:t>: deals with permission to create as well as delete an index table for relation.</a:t>
            </a:r>
          </a:p>
          <a:p>
            <a:pPr marL="823913" lvl="1" indent="-457200">
              <a:buFont typeface="Century Schoolbook" panose="02040604050505020304" pitchFamily="18" charset="0"/>
              <a:buAutoNum type="arabicPeriod"/>
            </a:pPr>
            <a:r>
              <a:rPr lang="en-US" sz="2400" b="1" smtClean="0"/>
              <a:t>Resource Authorization</a:t>
            </a:r>
            <a:r>
              <a:rPr lang="en-US" sz="2400" smtClean="0"/>
              <a:t>: deals with permission to add/create a new relation in the database.</a:t>
            </a:r>
          </a:p>
          <a:p>
            <a:pPr marL="823913" lvl="1" indent="-457200">
              <a:buFont typeface="Century Schoolbook" panose="02040604050505020304" pitchFamily="18" charset="0"/>
              <a:buAutoNum type="arabicPeriod"/>
            </a:pPr>
            <a:r>
              <a:rPr lang="en-US" sz="2400" b="1" smtClean="0"/>
              <a:t>Alteration Authorization</a:t>
            </a:r>
            <a:r>
              <a:rPr lang="en-US" sz="2400" smtClean="0"/>
              <a:t>: deals with permission to add as well as delete attribute.</a:t>
            </a:r>
          </a:p>
          <a:p>
            <a:pPr marL="823913" lvl="1" indent="-457200">
              <a:buFont typeface="Century Schoolbook" panose="02040604050505020304" pitchFamily="18" charset="0"/>
              <a:buAutoNum type="arabicPeriod"/>
            </a:pPr>
            <a:r>
              <a:rPr lang="en-US" sz="2400" b="1" smtClean="0"/>
              <a:t>Drop Authorization</a:t>
            </a:r>
            <a:r>
              <a:rPr lang="en-US" sz="2400" smtClean="0"/>
              <a:t>: deals with permission to delete and existing relation.</a:t>
            </a:r>
          </a:p>
          <a:p>
            <a:endParaRPr lang="en-US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4877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/>
              <a:t>Role of DBA in Database </a:t>
            </a:r>
            <a:r>
              <a:rPr lang="en-US" b="1" smtClean="0"/>
              <a:t>Security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943600"/>
          </a:xfrm>
        </p:spPr>
        <p:txBody>
          <a:bodyPr/>
          <a:lstStyle/>
          <a:p>
            <a:pPr>
              <a:defRPr/>
            </a:pPr>
            <a:r>
              <a:rPr lang="en-US" sz="2000"/>
              <a:t>The database administrator is responsible to make the database to be as secure as </a:t>
            </a:r>
            <a:r>
              <a:rPr lang="en-US" sz="2000" smtClean="0"/>
              <a:t>possible and </a:t>
            </a:r>
            <a:r>
              <a:rPr lang="en-US" sz="2000"/>
              <a:t>have the most powerful privilege than every other user. </a:t>
            </a:r>
            <a:endParaRPr lang="en-US" sz="2000" smtClean="0"/>
          </a:p>
          <a:p>
            <a:pPr>
              <a:defRPr/>
            </a:pPr>
            <a:r>
              <a:rPr lang="en-US" sz="2000" smtClean="0"/>
              <a:t>The </a:t>
            </a:r>
            <a:r>
              <a:rPr lang="en-US" sz="2000"/>
              <a:t>DBA provides capability for database users while accessing the content of the database</a:t>
            </a:r>
            <a:r>
              <a:rPr lang="en-US" sz="2000" smtClean="0"/>
              <a:t>.</a:t>
            </a:r>
          </a:p>
          <a:p>
            <a:pPr>
              <a:defRPr/>
            </a:pPr>
            <a:r>
              <a:rPr lang="en-US" sz="2000"/>
              <a:t>The major responsibilities of DBA in relation to authorization of users are:</a:t>
            </a:r>
          </a:p>
          <a:p>
            <a:pPr marL="823913" lvl="1" indent="-457200">
              <a:buFont typeface="+mj-lt"/>
              <a:buAutoNum type="arabicPeriod"/>
              <a:defRPr/>
            </a:pPr>
            <a:r>
              <a:rPr lang="en-US" sz="1800" b="1" i="1" u="sng"/>
              <a:t>Account Creation:</a:t>
            </a:r>
            <a:r>
              <a:rPr lang="en-US" sz="1800"/>
              <a:t> involves creating different accounts for different </a:t>
            </a:r>
            <a:r>
              <a:rPr lang="en-US" sz="1800" b="1" cap="all"/>
              <a:t>users</a:t>
            </a:r>
            <a:r>
              <a:rPr lang="en-US" sz="1800"/>
              <a:t> as well as </a:t>
            </a:r>
            <a:r>
              <a:rPr lang="en-US" sz="1800" b="1" cap="all"/>
              <a:t>user groups.</a:t>
            </a:r>
            <a:endParaRPr lang="en-US" sz="1800"/>
          </a:p>
          <a:p>
            <a:pPr marL="823913" lvl="1" indent="-457200">
              <a:buFont typeface="+mj-lt"/>
              <a:buAutoNum type="arabicPeriod"/>
              <a:defRPr/>
            </a:pPr>
            <a:r>
              <a:rPr lang="en-US" sz="1800" b="1" i="1" u="sng"/>
              <a:t>Security Level Assignment</a:t>
            </a:r>
            <a:r>
              <a:rPr lang="en-US" sz="1800"/>
              <a:t>: involves in assigning different users at different categories of access levels.</a:t>
            </a:r>
          </a:p>
          <a:p>
            <a:pPr marL="823913" lvl="1" indent="-457200">
              <a:buFont typeface="+mj-lt"/>
              <a:buAutoNum type="arabicPeriod"/>
              <a:defRPr/>
            </a:pPr>
            <a:r>
              <a:rPr lang="en-US" sz="1800" b="1" i="1" u="sng"/>
              <a:t>Privilege Grant:</a:t>
            </a:r>
            <a:r>
              <a:rPr lang="en-US" sz="1800"/>
              <a:t> involves giving different levels of privileges for different users and user groups.</a:t>
            </a:r>
          </a:p>
          <a:p>
            <a:pPr marL="823913" lvl="1" indent="-457200">
              <a:buFont typeface="+mj-lt"/>
              <a:buAutoNum type="arabicPeriod"/>
              <a:defRPr/>
            </a:pPr>
            <a:r>
              <a:rPr lang="en-US" sz="1800" b="1" i="1" u="sng"/>
              <a:t>Privilege Revocation:</a:t>
            </a:r>
            <a:r>
              <a:rPr lang="en-US" sz="1800" b="1"/>
              <a:t> </a:t>
            </a:r>
            <a:r>
              <a:rPr lang="en-US" sz="1800"/>
              <a:t>involves denying or canceling previously granted privileges for users due to various reasons.</a:t>
            </a:r>
          </a:p>
          <a:p>
            <a:pPr marL="823913" lvl="1" indent="-457200">
              <a:buFont typeface="+mj-lt"/>
              <a:buAutoNum type="arabicPeriod"/>
              <a:defRPr/>
            </a:pPr>
            <a:r>
              <a:rPr lang="en-US" sz="1800" b="1" i="1" u="sng"/>
              <a:t>Account Deletion:</a:t>
            </a:r>
            <a:r>
              <a:rPr lang="en-US" sz="1800"/>
              <a:t> involves in deleting an existing account of users or user groups. Is similar with denying all privileges of users on the database.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4400" y="63246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6880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/>
              <a:t>Approaches to Database Security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8575"/>
            <a:ext cx="8382000" cy="5330825"/>
          </a:xfrm>
        </p:spPr>
        <p:txBody>
          <a:bodyPr/>
          <a:lstStyle/>
          <a:p>
            <a:pPr>
              <a:defRPr/>
            </a:pPr>
            <a:r>
              <a:rPr lang="en-US" dirty="0"/>
              <a:t>There are two broader approaches to </a:t>
            </a:r>
            <a:r>
              <a:rPr lang="en-US" dirty="0" smtClean="0"/>
              <a:t>database </a:t>
            </a:r>
            <a:r>
              <a:rPr lang="en-US" dirty="0"/>
              <a:t>security </a:t>
            </a:r>
            <a:r>
              <a:rPr lang="en-US" dirty="0" smtClean="0"/>
              <a:t>mechanisms:</a:t>
            </a: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b="1" u="sng" dirty="0" smtClean="0"/>
              <a:t>1) Discretionary </a:t>
            </a:r>
            <a:r>
              <a:rPr lang="en-US" sz="2800" b="1" u="sng" dirty="0"/>
              <a:t>security mechanisms</a:t>
            </a:r>
            <a:r>
              <a:rPr lang="en-US" sz="2800" u="sng" dirty="0"/>
              <a:t> </a:t>
            </a:r>
            <a:endParaRPr lang="en-US" sz="2400" dirty="0"/>
          </a:p>
          <a:p>
            <a:pPr lvl="1">
              <a:defRPr/>
            </a:pPr>
            <a:r>
              <a:rPr lang="en-US" sz="2000" dirty="0"/>
              <a:t>Grant different privileges to different users and user groups on various data objects</a:t>
            </a:r>
            <a:endParaRPr lang="en-US" sz="1800" dirty="0"/>
          </a:p>
          <a:p>
            <a:pPr lvl="1">
              <a:defRPr/>
            </a:pPr>
            <a:r>
              <a:rPr lang="en-US" sz="2000" dirty="0"/>
              <a:t>The privilege is to access different data objects</a:t>
            </a:r>
            <a:endParaRPr lang="en-US" sz="1800" dirty="0"/>
          </a:p>
          <a:p>
            <a:pPr lvl="1">
              <a:defRPr/>
            </a:pPr>
            <a:r>
              <a:rPr lang="en-US" sz="2000" dirty="0"/>
              <a:t>The mode of the privilege could </a:t>
            </a:r>
            <a:r>
              <a:rPr lang="en-US" sz="2000" dirty="0" smtClean="0"/>
              <a:t>be:</a:t>
            </a:r>
            <a:endParaRPr lang="en-US" sz="1800" dirty="0"/>
          </a:p>
          <a:p>
            <a:pPr lvl="2">
              <a:defRPr/>
            </a:pPr>
            <a:r>
              <a:rPr lang="en-US" sz="2000" dirty="0"/>
              <a:t>Read, </a:t>
            </a:r>
            <a:endParaRPr lang="en-US" dirty="0"/>
          </a:p>
          <a:p>
            <a:pPr lvl="2">
              <a:defRPr/>
            </a:pPr>
            <a:r>
              <a:rPr lang="en-US" sz="2000" dirty="0"/>
              <a:t>Insert, </a:t>
            </a:r>
            <a:endParaRPr lang="en-US" dirty="0"/>
          </a:p>
          <a:p>
            <a:pPr lvl="2">
              <a:defRPr/>
            </a:pPr>
            <a:r>
              <a:rPr lang="en-US" sz="2000" dirty="0"/>
              <a:t>Delete, </a:t>
            </a:r>
            <a:endParaRPr lang="en-US" dirty="0"/>
          </a:p>
          <a:p>
            <a:pPr lvl="2">
              <a:defRPr/>
            </a:pPr>
            <a:r>
              <a:rPr lang="en-US" sz="2000" dirty="0"/>
              <a:t>Update files, records or fields.</a:t>
            </a:r>
            <a:endParaRPr lang="en-US" dirty="0"/>
          </a:p>
          <a:p>
            <a:pPr lvl="1">
              <a:defRPr/>
            </a:pPr>
            <a:r>
              <a:rPr lang="en-US" sz="2000" dirty="0"/>
              <a:t>Is more flexible</a:t>
            </a:r>
            <a:endParaRPr lang="en-US" sz="1800" dirty="0"/>
          </a:p>
          <a:p>
            <a:pPr marL="320040" lvl="1" indent="0">
              <a:buNone/>
              <a:defRPr/>
            </a:pPr>
            <a:endParaRPr lang="en-US" sz="1800" dirty="0"/>
          </a:p>
          <a:p>
            <a:pPr>
              <a:defRPr/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0195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066800"/>
            <a:ext cx="8534400" cy="5791200"/>
          </a:xfrm>
        </p:spPr>
        <p:txBody>
          <a:bodyPr>
            <a:noAutofit/>
          </a:bodyPr>
          <a:lstStyle/>
          <a:p>
            <a:r>
              <a:rPr lang="en-US" sz="2800" dirty="0" smtClean="0"/>
              <a:t>2) </a:t>
            </a:r>
            <a:r>
              <a:rPr lang="en-US" sz="2800" b="1" u="sng" dirty="0" smtClean="0"/>
              <a:t>Mandatory security mechanisms</a:t>
            </a:r>
            <a:endParaRPr lang="en-US" sz="2800" dirty="0" smtClean="0"/>
          </a:p>
          <a:p>
            <a:pPr lvl="1"/>
            <a:r>
              <a:rPr lang="en-US" sz="2100" dirty="0" smtClean="0"/>
              <a:t>Enforce multilevel security</a:t>
            </a:r>
          </a:p>
          <a:p>
            <a:pPr lvl="2"/>
            <a:r>
              <a:rPr lang="en-US" sz="2100" dirty="0" smtClean="0"/>
              <a:t>classifying data and users into various security classes (or levels) and implementing the appropriate security policy of the organization.</a:t>
            </a:r>
          </a:p>
          <a:p>
            <a:pPr lvl="1"/>
            <a:r>
              <a:rPr lang="en-US" sz="2100" dirty="0" smtClean="0"/>
              <a:t>Each </a:t>
            </a:r>
            <a:r>
              <a:rPr lang="en-US" sz="2100" b="1" dirty="0" smtClean="0"/>
              <a:t>data object</a:t>
            </a:r>
            <a:r>
              <a:rPr lang="en-US" sz="2100" dirty="0" smtClean="0"/>
              <a:t> will have certain </a:t>
            </a:r>
            <a:r>
              <a:rPr lang="en-US" sz="2100" b="1" dirty="0" smtClean="0"/>
              <a:t>classification</a:t>
            </a:r>
            <a:r>
              <a:rPr lang="en-US" sz="2100" dirty="0" smtClean="0"/>
              <a:t> level</a:t>
            </a:r>
          </a:p>
          <a:p>
            <a:pPr lvl="1"/>
            <a:r>
              <a:rPr lang="en-US" sz="2100" dirty="0" smtClean="0"/>
              <a:t>Each </a:t>
            </a:r>
            <a:r>
              <a:rPr lang="en-US" sz="2100" b="1" dirty="0" smtClean="0"/>
              <a:t>user</a:t>
            </a:r>
            <a:r>
              <a:rPr lang="en-US" sz="2100" dirty="0" smtClean="0"/>
              <a:t> is given certain </a:t>
            </a:r>
            <a:r>
              <a:rPr lang="en-US" sz="2100" b="1" dirty="0" smtClean="0"/>
              <a:t>clearance level</a:t>
            </a:r>
            <a:endParaRPr lang="en-US" sz="2100" dirty="0" smtClean="0"/>
          </a:p>
          <a:p>
            <a:pPr lvl="1"/>
            <a:r>
              <a:rPr lang="en-US" sz="2100" dirty="0" smtClean="0"/>
              <a:t>Only users who can pass the clearance level can access the data object</a:t>
            </a:r>
          </a:p>
          <a:p>
            <a:pPr lvl="1"/>
            <a:r>
              <a:rPr lang="en-US" sz="2100" dirty="0" smtClean="0"/>
              <a:t>Is comparatively not-flexible/rigid</a:t>
            </a:r>
          </a:p>
          <a:p>
            <a:r>
              <a:rPr lang="en-US" sz="2100" dirty="0" smtClean="0"/>
              <a:t>The ability to classify user into a hierarchy of groups provide a powerful tool for administering large systems with thousands of users and objects.</a:t>
            </a:r>
          </a:p>
          <a:p>
            <a:r>
              <a:rPr lang="en-US" sz="2100" dirty="0" smtClean="0"/>
              <a:t>A database system can support one or both of the security mechanisms to protect the data.</a:t>
            </a:r>
          </a:p>
          <a:p>
            <a:endParaRPr lang="en-US" sz="2100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990600"/>
          </a:xfrm>
        </p:spPr>
        <p:txBody>
          <a:bodyPr/>
          <a:lstStyle/>
          <a:p>
            <a:pPr>
              <a:defRPr/>
            </a:pPr>
            <a:r>
              <a:rPr lang="en-US" smtClean="0"/>
              <a:t>…CON’T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5656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990600"/>
          </a:xfrm>
        </p:spPr>
        <p:txBody>
          <a:bodyPr/>
          <a:lstStyle/>
          <a:p>
            <a:pPr>
              <a:defRPr/>
            </a:pPr>
            <a:r>
              <a:rPr lang="en-US" b="1"/>
              <a:t>Statistical Database </a:t>
            </a:r>
            <a:r>
              <a:rPr lang="en-US" b="1" smtClean="0"/>
              <a:t>Security</a:t>
            </a:r>
            <a:endParaRPr lang="en-US"/>
          </a:p>
        </p:txBody>
      </p:sp>
      <p:sp>
        <p:nvSpPr>
          <p:cNvPr id="4301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305800" cy="502919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>
                <a:latin typeface="Georgia" panose="02040502050405020303" pitchFamily="18" charset="0"/>
              </a:rPr>
              <a:t>Statistical databases contain information about individuals which may not be permitted to be seen by others as individual records.</a:t>
            </a:r>
          </a:p>
          <a:p>
            <a:pPr>
              <a:spcAft>
                <a:spcPts val="600"/>
              </a:spcAft>
            </a:pPr>
            <a:r>
              <a:rPr lang="en-US" sz="2000" dirty="0" smtClean="0">
                <a:latin typeface="Georgia" panose="02040502050405020303" pitchFamily="18" charset="0"/>
              </a:rPr>
              <a:t>Such databases may contain information about various populations.</a:t>
            </a:r>
          </a:p>
          <a:p>
            <a:pPr>
              <a:spcAft>
                <a:spcPts val="600"/>
              </a:spcAft>
            </a:pPr>
            <a:r>
              <a:rPr lang="en-US" sz="2000" b="1" dirty="0" smtClean="0">
                <a:latin typeface="Georgia" panose="02040502050405020303" pitchFamily="18" charset="0"/>
              </a:rPr>
              <a:t>Example</a:t>
            </a:r>
            <a:r>
              <a:rPr lang="en-US" sz="2000" dirty="0" smtClean="0">
                <a:latin typeface="Georgia" panose="02040502050405020303" pitchFamily="18" charset="0"/>
              </a:rPr>
              <a:t>: Medical Records, Personal Data like address, salary, </a:t>
            </a:r>
            <a:r>
              <a:rPr lang="en-US" sz="2000" dirty="0" err="1" smtClean="0">
                <a:latin typeface="Georgia" panose="02040502050405020303" pitchFamily="18" charset="0"/>
              </a:rPr>
              <a:t>etc</a:t>
            </a:r>
            <a:endParaRPr lang="en-US" sz="2000" dirty="0" smtClean="0">
              <a:latin typeface="Georgia" panose="02040502050405020303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000" dirty="0" smtClean="0">
                <a:latin typeface="Georgia" panose="02040502050405020303" pitchFamily="18" charset="0"/>
              </a:rPr>
              <a:t>Such kind of databases should have special security mechanisms so that confidential information about people will not be disclosed for many users.</a:t>
            </a:r>
            <a:endParaRPr lang="en-US" sz="2000" b="1" i="1" dirty="0" smtClean="0">
              <a:latin typeface="Georgia" panose="02040502050405020303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000" dirty="0" smtClean="0">
                <a:latin typeface="Georgia" panose="02040502050405020303" pitchFamily="18" charset="0"/>
              </a:rPr>
              <a:t>Thus statistical databases should have additional security techniques which will protect the retrieval of individual records.</a:t>
            </a:r>
          </a:p>
          <a:p>
            <a:pPr>
              <a:spcAft>
                <a:spcPts val="600"/>
              </a:spcAft>
            </a:pPr>
            <a:r>
              <a:rPr lang="en-US" sz="2000" dirty="0" smtClean="0">
                <a:latin typeface="Georgia" panose="02040502050405020303" pitchFamily="18" charset="0"/>
              </a:rPr>
              <a:t>Only queries with statistical aggregate functions like </a:t>
            </a:r>
            <a:r>
              <a:rPr lang="en-US" sz="2000" dirty="0" smtClean="0">
                <a:solidFill>
                  <a:srgbClr val="FF0000"/>
                </a:solidFill>
                <a:latin typeface="Georgia" panose="02040502050405020303" pitchFamily="18" charset="0"/>
              </a:rPr>
              <a:t>Average, Sum, Min, Max, Standard Deviation, Mid, Count</a:t>
            </a:r>
            <a:r>
              <a:rPr lang="en-US" sz="2000" dirty="0" smtClean="0">
                <a:latin typeface="Georgia" panose="02040502050405020303" pitchFamily="18" charset="0"/>
              </a:rPr>
              <a:t>, </a:t>
            </a:r>
            <a:r>
              <a:rPr lang="en-US" sz="2000" dirty="0" err="1" smtClean="0">
                <a:latin typeface="Georgia" panose="02040502050405020303" pitchFamily="18" charset="0"/>
              </a:rPr>
              <a:t>etc</a:t>
            </a:r>
            <a:r>
              <a:rPr lang="en-US" sz="2000" dirty="0" smtClean="0">
                <a:latin typeface="Georgia" panose="02040502050405020303" pitchFamily="18" charset="0"/>
              </a:rPr>
              <a:t> should be executed.</a:t>
            </a:r>
            <a:endParaRPr lang="en-US" sz="2000" b="1" i="1" dirty="0" smtClean="0">
              <a:latin typeface="Georgia" panose="02040502050405020303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2000" b="1" i="1" dirty="0" smtClean="0"/>
          </a:p>
          <a:p>
            <a:pPr>
              <a:spcAft>
                <a:spcPts val="600"/>
              </a:spcAft>
            </a:pPr>
            <a:endParaRPr lang="en-US" sz="2000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400800"/>
            <a:ext cx="4419600" cy="457200"/>
          </a:xfrm>
        </p:spPr>
        <p:txBody>
          <a:bodyPr/>
          <a:lstStyle/>
          <a:p>
            <a:r>
              <a:rPr lang="en-US" smtClean="0"/>
              <a:t>Database integrity &amp; Security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701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9900" b="1" smtClean="0">
                <a:solidFill>
                  <a:schemeClr val="accent1"/>
                </a:solidFill>
              </a:rPr>
              <a:t>END</a:t>
            </a:r>
            <a:endParaRPr lang="en-US" sz="19900" b="1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5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3369</TotalTime>
  <Words>2864</Words>
  <Application>Microsoft Office PowerPoint</Application>
  <PresentationFormat>On-screen Show (4:3)</PresentationFormat>
  <Paragraphs>302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Book Antiqua</vt:lpstr>
      <vt:lpstr>Calibri</vt:lpstr>
      <vt:lpstr>Century Schoolbook</vt:lpstr>
      <vt:lpstr>Corbel</vt:lpstr>
      <vt:lpstr>Georgia</vt:lpstr>
      <vt:lpstr>Tahoma</vt:lpstr>
      <vt:lpstr>Times New Roman</vt:lpstr>
      <vt:lpstr>Wingdings</vt:lpstr>
      <vt:lpstr>Wingdings 2</vt:lpstr>
      <vt:lpstr>Equity</vt:lpstr>
      <vt:lpstr>Chapter 5 </vt:lpstr>
      <vt:lpstr>OVERVIEW OF DATABASE SECURITY</vt:lpstr>
      <vt:lpstr>…CON’T</vt:lpstr>
      <vt:lpstr>…CON’T</vt:lpstr>
      <vt:lpstr>…CON’T</vt:lpstr>
      <vt:lpstr>Levels of Security Measures</vt:lpstr>
      <vt:lpstr>…CON’T</vt:lpstr>
      <vt:lpstr>…CON’T</vt:lpstr>
      <vt:lpstr>Security Issues and general considerations</vt:lpstr>
      <vt:lpstr>…CON’T</vt:lpstr>
      <vt:lpstr>…CON’T</vt:lpstr>
      <vt:lpstr>Countermeasures: Computer Based Controls</vt:lpstr>
      <vt:lpstr>…CON’T</vt:lpstr>
      <vt:lpstr>…CON’T</vt:lpstr>
      <vt:lpstr>…CON’T</vt:lpstr>
      <vt:lpstr>Encryption</vt:lpstr>
      <vt:lpstr>…CON’T</vt:lpstr>
      <vt:lpstr>Types of Cryptosystems</vt:lpstr>
      <vt:lpstr>…CON’T</vt:lpstr>
      <vt:lpstr>RAID technology (Redundant Array of Independent Disks)</vt:lpstr>
      <vt:lpstr>…CON’T</vt:lpstr>
      <vt:lpstr>Security at different Levels of Data</vt:lpstr>
      <vt:lpstr>Authentication</vt:lpstr>
      <vt:lpstr>Authorization/Privilege</vt:lpstr>
      <vt:lpstr>…CON’T</vt:lpstr>
      <vt:lpstr>…CON’T</vt:lpstr>
      <vt:lpstr>Role of DBA in Database Security</vt:lpstr>
      <vt:lpstr>Approaches to Database Security</vt:lpstr>
      <vt:lpstr>…CON’T</vt:lpstr>
      <vt:lpstr>Statistical Database Security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WHO</dc:creator>
  <cp:lastModifiedBy>Sirage Ahmed</cp:lastModifiedBy>
  <cp:revision>145</cp:revision>
  <dcterms:created xsi:type="dcterms:W3CDTF">2006-08-16T00:00:00Z</dcterms:created>
  <dcterms:modified xsi:type="dcterms:W3CDTF">2024-12-08T05:57:04Z</dcterms:modified>
</cp:coreProperties>
</file>