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2"/>
  </p:notesMasterIdLst>
  <p:handoutMasterIdLst>
    <p:handoutMasterId r:id="rId43"/>
  </p:handoutMasterIdLst>
  <p:sldIdLst>
    <p:sldId id="256" r:id="rId2"/>
    <p:sldId id="404" r:id="rId3"/>
    <p:sldId id="405" r:id="rId4"/>
    <p:sldId id="406" r:id="rId5"/>
    <p:sldId id="407" r:id="rId6"/>
    <p:sldId id="408" r:id="rId7"/>
    <p:sldId id="409" r:id="rId8"/>
    <p:sldId id="410" r:id="rId9"/>
    <p:sldId id="411" r:id="rId10"/>
    <p:sldId id="412" r:id="rId11"/>
    <p:sldId id="413" r:id="rId12"/>
    <p:sldId id="414" r:id="rId13"/>
    <p:sldId id="415" r:id="rId14"/>
    <p:sldId id="416" r:id="rId15"/>
    <p:sldId id="417" r:id="rId16"/>
    <p:sldId id="418" r:id="rId17"/>
    <p:sldId id="419" r:id="rId18"/>
    <p:sldId id="420" r:id="rId19"/>
    <p:sldId id="421" r:id="rId20"/>
    <p:sldId id="422" r:id="rId21"/>
    <p:sldId id="423" r:id="rId22"/>
    <p:sldId id="424" r:id="rId23"/>
    <p:sldId id="425" r:id="rId24"/>
    <p:sldId id="426" r:id="rId25"/>
    <p:sldId id="427" r:id="rId26"/>
    <p:sldId id="428" r:id="rId27"/>
    <p:sldId id="429" r:id="rId28"/>
    <p:sldId id="430" r:id="rId29"/>
    <p:sldId id="431" r:id="rId30"/>
    <p:sldId id="432" r:id="rId31"/>
    <p:sldId id="433" r:id="rId32"/>
    <p:sldId id="434" r:id="rId33"/>
    <p:sldId id="435" r:id="rId34"/>
    <p:sldId id="436" r:id="rId35"/>
    <p:sldId id="437" r:id="rId36"/>
    <p:sldId id="438" r:id="rId37"/>
    <p:sldId id="439" r:id="rId38"/>
    <p:sldId id="440" r:id="rId39"/>
    <p:sldId id="441" r:id="rId40"/>
    <p:sldId id="320"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80" autoAdjust="0"/>
  </p:normalViewPr>
  <p:slideViewPr>
    <p:cSldViewPr>
      <p:cViewPr varScale="1">
        <p:scale>
          <a:sx n="68" d="100"/>
          <a:sy n="68" d="100"/>
        </p:scale>
        <p:origin x="144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47DC57-3A9A-43C8-BCD8-E21D228709B1}" type="datetimeFigureOut">
              <a:rPr lang="en-US" smtClean="0"/>
              <a:t>4/15/2022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054A49-6FFB-4FFD-95AE-FCC3498B17EE}" type="slidenum">
              <a:rPr lang="en-US" smtClean="0"/>
              <a:t>‹#›</a:t>
            </a:fld>
            <a:endParaRPr lang="en-US"/>
          </a:p>
        </p:txBody>
      </p:sp>
    </p:spTree>
    <p:extLst>
      <p:ext uri="{BB962C8B-B14F-4D97-AF65-F5344CB8AC3E}">
        <p14:creationId xmlns:p14="http://schemas.microsoft.com/office/powerpoint/2010/main" val="34027595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3CAAC6-8130-4E09-AB9C-3CCA30E3C854}" type="datetimeFigureOut">
              <a:rPr lang="en-US" smtClean="0"/>
              <a:t>4/15/2022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CD4775-F372-411F-9B54-3480B2305727}" type="slidenum">
              <a:rPr lang="en-US" smtClean="0"/>
              <a:t>‹#›</a:t>
            </a:fld>
            <a:endParaRPr lang="en-US"/>
          </a:p>
        </p:txBody>
      </p:sp>
    </p:spTree>
    <p:extLst>
      <p:ext uri="{BB962C8B-B14F-4D97-AF65-F5344CB8AC3E}">
        <p14:creationId xmlns:p14="http://schemas.microsoft.com/office/powerpoint/2010/main" val="25509216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63CD4775-F372-411F-9B54-3480B2305727}" type="slidenum">
              <a:rPr lang="en-US" smtClean="0"/>
              <a:t>2</a:t>
            </a:fld>
            <a:endParaRPr lang="en-US"/>
          </a:p>
        </p:txBody>
      </p:sp>
    </p:spTree>
    <p:extLst>
      <p:ext uri="{BB962C8B-B14F-4D97-AF65-F5344CB8AC3E}">
        <p14:creationId xmlns:p14="http://schemas.microsoft.com/office/powerpoint/2010/main" val="4052633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7" name="Footer Placeholder 16"/>
          <p:cNvSpPr>
            <a:spLocks noGrp="1"/>
          </p:cNvSpPr>
          <p:nvPr>
            <p:ph type="ftr" sz="quarter" idx="11"/>
          </p:nvPr>
        </p:nvSpPr>
        <p:spPr/>
        <p:txBody>
          <a:bodyPr/>
          <a:lstStyle/>
          <a:p>
            <a:r>
              <a:rPr lang="en-US" smtClean="0"/>
              <a:t>Distributed Database System</a:t>
            </a:r>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34400" cy="1143000"/>
          </a:xfrm>
          <a:solidFill>
            <a:schemeClr val="accent1"/>
          </a:solidFill>
          <a:ln w="19050">
            <a:solidFill>
              <a:srgbClr val="0070C0"/>
            </a:solidFill>
          </a:ln>
          <a:effectLst>
            <a:innerShdw blurRad="63500" dist="50800" dir="16200000">
              <a:prstClr val="black">
                <a:alpha val="50000"/>
              </a:prst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lvl1pPr algn="ctr">
              <a:defRPr b="1" cap="none" spc="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defRPr>
            </a:lvl1pPr>
          </a:lstStyle>
          <a:p>
            <a:r>
              <a:rPr kumimoji="0" lang="en-US" dirty="0" smtClean="0"/>
              <a:t>Click to edit Master title style</a:t>
            </a:r>
            <a:endParaRPr kumimoji="0" lang="en-US" dirty="0"/>
          </a:p>
        </p:txBody>
      </p:sp>
      <p:sp>
        <p:nvSpPr>
          <p:cNvPr id="5" name="Footer Placeholder 4"/>
          <p:cNvSpPr>
            <a:spLocks noGrp="1"/>
          </p:cNvSpPr>
          <p:nvPr>
            <p:ph type="ftr" sz="quarter" idx="11"/>
          </p:nvPr>
        </p:nvSpPr>
        <p:spPr>
          <a:xfrm>
            <a:off x="914400" y="6172200"/>
            <a:ext cx="4419600" cy="457200"/>
          </a:xfrm>
        </p:spPr>
        <p:txBody>
          <a:bodyPr/>
          <a:lstStyle>
            <a:lvl1pPr>
              <a:defRPr sz="1400">
                <a:solidFill>
                  <a:schemeClr val="accent2">
                    <a:lumMod val="60000"/>
                    <a:lumOff val="40000"/>
                  </a:schemeClr>
                </a:solidFill>
              </a:defRPr>
            </a:lvl1pPr>
          </a:lstStyle>
          <a:p>
            <a:r>
              <a:rPr lang="en-US" smtClean="0"/>
              <a:t>Distributed Database System</a:t>
            </a:r>
            <a:endParaRPr lang="en-US" dirty="0" smtClean="0"/>
          </a:p>
        </p:txBody>
      </p:sp>
      <p:sp>
        <p:nvSpPr>
          <p:cNvPr id="6"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spd="slow">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5" name="Footer Placeholder 4"/>
          <p:cNvSpPr>
            <a:spLocks noGrp="1"/>
          </p:cNvSpPr>
          <p:nvPr>
            <p:ph type="ftr" sz="quarter" idx="11"/>
          </p:nvPr>
        </p:nvSpPr>
        <p:spPr>
          <a:xfrm>
            <a:off x="800100" y="6172200"/>
            <a:ext cx="4533900" cy="457200"/>
          </a:xfrm>
        </p:spPr>
        <p:txBody>
          <a:bodyPr/>
          <a:lstStyle>
            <a:lvl1pPr>
              <a:defRPr>
                <a:solidFill>
                  <a:schemeClr val="accent2">
                    <a:lumMod val="60000"/>
                    <a:lumOff val="40000"/>
                  </a:schemeClr>
                </a:solidFill>
              </a:defRPr>
            </a:lvl1pPr>
          </a:lstStyle>
          <a:p>
            <a:r>
              <a:rPr lang="en-US" smtClean="0"/>
              <a:t>Distributed Database System</a:t>
            </a:r>
            <a:endParaRPr lang="en-US" dirty="0" smtClean="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Footer Placeholder 5"/>
          <p:cNvSpPr>
            <a:spLocks noGrp="1"/>
          </p:cNvSpPr>
          <p:nvPr>
            <p:ph type="ftr" sz="quarter" idx="11"/>
          </p:nvPr>
        </p:nvSpPr>
        <p:spPr>
          <a:xfrm>
            <a:off x="914400" y="6172200"/>
            <a:ext cx="4419600" cy="457200"/>
          </a:xfrm>
        </p:spPr>
        <p:txBody>
          <a:bodyPr/>
          <a:lstStyle>
            <a:lvl1pPr>
              <a:defRPr>
                <a:solidFill>
                  <a:schemeClr val="accent2">
                    <a:lumMod val="60000"/>
                    <a:lumOff val="40000"/>
                  </a:schemeClr>
                </a:solidFill>
              </a:defRPr>
            </a:lvl1pPr>
          </a:lstStyle>
          <a:p>
            <a:r>
              <a:rPr lang="en-US" smtClean="0"/>
              <a:t>Distributed Database System</a:t>
            </a:r>
            <a:endParaRPr lang="en-US" dirty="0" smtClean="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8" name="Footer Placeholder 7"/>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r>
              <a:rPr lang="en-US" smtClean="0"/>
              <a:t>Distributed Database System</a:t>
            </a:r>
            <a:endParaRPr lang="en-US" dirty="0" smtClean="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Footer Placeholder 3"/>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r>
              <a:rPr lang="en-US" smtClean="0"/>
              <a:t>Distributed Database System</a:t>
            </a:r>
            <a:endParaRPr lang="en-US" dirty="0" smtClean="0"/>
          </a:p>
        </p:txBody>
      </p:sp>
      <p:sp>
        <p:nvSpPr>
          <p:cNvPr id="6"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r>
              <a:rPr lang="en-US" smtClean="0"/>
              <a:t>Distributed Database System</a:t>
            </a:r>
            <a:endParaRPr lang="en-US" dirty="0" smtClean="0"/>
          </a:p>
        </p:txBody>
      </p:sp>
      <p:sp>
        <p:nvSpPr>
          <p:cNvPr id="5"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userDrawn="1"/>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6" name="Footer Placeholder 5"/>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r>
              <a:rPr lang="en-US" smtClean="0"/>
              <a:t>Distributed Database System</a:t>
            </a:r>
            <a:endParaRPr lang="en-US" dirty="0" smtClean="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6" name="Footer Placeholder 5"/>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r>
              <a:rPr lang="en-US" smtClean="0"/>
              <a:t>Distributed Database System</a:t>
            </a:r>
            <a:endParaRPr lang="en-US" dirty="0" smtClean="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
        <p:nvSpPr>
          <p:cNvPr id="14"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Footer Placeholder 4"/>
          <p:cNvSpPr>
            <a:spLocks noGrp="1"/>
          </p:cNvSpPr>
          <p:nvPr>
            <p:ph type="ftr" sz="quarter" idx="11"/>
          </p:nvPr>
        </p:nvSpPr>
        <p:spPr/>
        <p:txBody>
          <a:bodyPr/>
          <a:lstStyle/>
          <a:p>
            <a:r>
              <a:rPr lang="en-US" smtClean="0"/>
              <a:t>Distributed Database System</a:t>
            </a:r>
            <a:endParaRPr lang="en-US" dirty="0" smtClean="0"/>
          </a:p>
        </p:txBody>
      </p:sp>
      <p:sp>
        <p:nvSpPr>
          <p:cNvPr id="7"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Footer Placeholder 4"/>
          <p:cNvSpPr>
            <a:spLocks noGrp="1"/>
          </p:cNvSpPr>
          <p:nvPr>
            <p:ph type="ftr" sz="quarter" idx="11"/>
          </p:nvPr>
        </p:nvSpPr>
        <p:spPr/>
        <p:txBody>
          <a:bodyPr/>
          <a:lstStyle/>
          <a:p>
            <a:r>
              <a:rPr lang="en-US" smtClean="0"/>
              <a:t>Distributed Database System</a:t>
            </a:r>
            <a:endParaRPr lang="en-US" dirty="0" smtClean="0"/>
          </a:p>
        </p:txBody>
      </p:sp>
      <p:sp>
        <p:nvSpPr>
          <p:cNvPr id="7" name="Slide Number Placeholder 5"/>
          <p:cNvSpPr>
            <a:spLocks noGrp="1"/>
          </p:cNvSpPr>
          <p:nvPr>
            <p:ph type="sldNum" sz="quarter" idx="12"/>
          </p:nvPr>
        </p:nvSpPr>
        <p:spPr>
          <a:xfrm>
            <a:off x="8458200" y="6210300"/>
            <a:ext cx="457200" cy="457200"/>
          </a:xfrm>
          <a:scene3d>
            <a:camera prst="orthographicFront"/>
            <a:lightRig rig="threePt" dir="t"/>
          </a:scene3d>
          <a:sp3d>
            <a:bevelT prst="angle"/>
          </a:sp3d>
        </p:spPr>
        <p:txBody>
          <a:bodyPr/>
          <a:lstStyle/>
          <a:p>
            <a:fld id="{B6F15528-21DE-4FAA-801E-634DDDAF4B2B}" type="slidenum">
              <a:rPr lang="en-US" smtClean="0"/>
              <a:pPr/>
              <a:t>‹#›</a:t>
            </a:fld>
            <a:endParaRPr lang="en-US" dirty="0"/>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smtClean="0"/>
              <a:t>Distributed Database System</a:t>
            </a:r>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sh/>
  </p:transition>
  <p:hf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5.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mailto:intership@accounts.motorola.com"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200400"/>
            <a:ext cx="8382000" cy="2743200"/>
          </a:xfrm>
        </p:spPr>
        <p:txBody>
          <a:bodyPr>
            <a:noAutofit/>
          </a:bodyPr>
          <a:lstStyle/>
          <a:p>
            <a:r>
              <a:rPr lang="en-US" sz="6000" b="1" dirty="0" smtClean="0"/>
              <a:t>Distributed </a:t>
            </a:r>
            <a:r>
              <a:rPr lang="en-US" sz="6000" b="1" dirty="0"/>
              <a:t>Database Systems</a:t>
            </a:r>
          </a:p>
          <a:p>
            <a:endParaRPr lang="en-US" sz="6000" b="1" dirty="0"/>
          </a:p>
        </p:txBody>
      </p:sp>
      <p:sp>
        <p:nvSpPr>
          <p:cNvPr id="2" name="Title 1"/>
          <p:cNvSpPr>
            <a:spLocks noGrp="1"/>
          </p:cNvSpPr>
          <p:nvPr>
            <p:ph type="ctrTitle"/>
          </p:nvPr>
        </p:nvSpPr>
        <p:spPr/>
        <p:txBody>
          <a:bodyPr>
            <a:normAutofit/>
          </a:bodyPr>
          <a:lstStyle/>
          <a:p>
            <a:r>
              <a:rPr lang="en-US" sz="5900" b="1" dirty="0" smtClean="0"/>
              <a:t>Chapter 6 </a:t>
            </a:r>
            <a:endParaRPr lang="en-US" sz="5900" b="1" dirty="0"/>
          </a:p>
        </p:txBody>
      </p:sp>
    </p:spTree>
    <p:extLst>
      <p:ext uri="{BB962C8B-B14F-4D97-AF65-F5344CB8AC3E}">
        <p14:creationId xmlns:p14="http://schemas.microsoft.com/office/powerpoint/2010/main" val="3741937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534400" cy="1189038"/>
          </a:xfrm>
        </p:spPr>
        <p:txBody>
          <a:bodyPr>
            <a:normAutofit/>
          </a:bodyPr>
          <a:lstStyle/>
          <a:p>
            <a:pPr>
              <a:defRPr/>
            </a:pPr>
            <a:r>
              <a:rPr lang="en-US" dirty="0"/>
              <a:t>Outline</a:t>
            </a:r>
          </a:p>
        </p:txBody>
      </p:sp>
      <p:sp>
        <p:nvSpPr>
          <p:cNvPr id="11267" name="Content Placeholder 2"/>
          <p:cNvSpPr>
            <a:spLocks noGrp="1"/>
          </p:cNvSpPr>
          <p:nvPr>
            <p:ph sz="quarter" idx="1"/>
          </p:nvPr>
        </p:nvSpPr>
        <p:spPr>
          <a:xfrm>
            <a:off x="457200" y="1417638"/>
            <a:ext cx="8458200" cy="5056187"/>
          </a:xfrm>
        </p:spPr>
        <p:txBody>
          <a:bodyPr/>
          <a:lstStyle/>
          <a:p>
            <a:pPr>
              <a:buFont typeface="Wingdings" panose="05000000000000000000" pitchFamily="2" charset="2"/>
              <a:buChar char="Ø"/>
            </a:pPr>
            <a:r>
              <a:rPr lang="en-US" sz="3200" dirty="0" smtClean="0">
                <a:solidFill>
                  <a:srgbClr val="FF3399"/>
                </a:solidFill>
                <a:latin typeface="Times New Roman" panose="02020603050405020304" pitchFamily="18" charset="0"/>
                <a:cs typeface="Times New Roman" panose="02020603050405020304" pitchFamily="18" charset="0"/>
              </a:rPr>
              <a:t>Distributed Database Concepts</a:t>
            </a:r>
          </a:p>
          <a:p>
            <a:pPr>
              <a:buFont typeface="Wingdings" panose="05000000000000000000" pitchFamily="2" charset="2"/>
              <a:buChar char="Ø"/>
            </a:pPr>
            <a:r>
              <a:rPr lang="en-US" sz="3200" dirty="0" smtClean="0">
                <a:solidFill>
                  <a:srgbClr val="FF3399"/>
                </a:solidFill>
                <a:latin typeface="Times New Roman" panose="02020603050405020304" pitchFamily="18" charset="0"/>
                <a:cs typeface="Times New Roman" panose="02020603050405020304" pitchFamily="18" charset="0"/>
              </a:rPr>
              <a:t>Data Fragmentation, Replication and Allocation</a:t>
            </a:r>
          </a:p>
          <a:p>
            <a:pPr>
              <a:buFont typeface="Wingdings" panose="05000000000000000000" pitchFamily="2" charset="2"/>
              <a:buChar char="Ø"/>
            </a:pPr>
            <a:r>
              <a:rPr lang="en-US" sz="3200" dirty="0" smtClean="0">
                <a:solidFill>
                  <a:srgbClr val="FF3399"/>
                </a:solidFill>
                <a:latin typeface="Times New Roman" panose="02020603050405020304" pitchFamily="18" charset="0"/>
                <a:cs typeface="Times New Roman" panose="02020603050405020304" pitchFamily="18" charset="0"/>
              </a:rPr>
              <a:t>Types of Distributed Database Systems</a:t>
            </a:r>
          </a:p>
          <a:p>
            <a:pPr>
              <a:buFont typeface="Wingdings" panose="05000000000000000000" pitchFamily="2" charset="2"/>
              <a:buChar char="Ø"/>
            </a:pPr>
            <a:r>
              <a:rPr lang="en-US" sz="3200" dirty="0" smtClean="0">
                <a:solidFill>
                  <a:srgbClr val="FF3399"/>
                </a:solidFill>
                <a:latin typeface="Times New Roman" panose="02020603050405020304" pitchFamily="18" charset="0"/>
                <a:cs typeface="Times New Roman" panose="02020603050405020304" pitchFamily="18" charset="0"/>
              </a:rPr>
              <a:t>Query Processing</a:t>
            </a:r>
          </a:p>
          <a:p>
            <a:pPr>
              <a:buFont typeface="Wingdings" panose="05000000000000000000" pitchFamily="2" charset="2"/>
              <a:buChar char="Ø"/>
            </a:pPr>
            <a:r>
              <a:rPr lang="en-US" sz="3200" dirty="0" smtClean="0">
                <a:solidFill>
                  <a:srgbClr val="FF3399"/>
                </a:solidFill>
                <a:latin typeface="Times New Roman" panose="02020603050405020304" pitchFamily="18" charset="0"/>
                <a:cs typeface="Times New Roman" panose="02020603050405020304" pitchFamily="18" charset="0"/>
              </a:rPr>
              <a:t>Concurrency Control</a:t>
            </a:r>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dirty="0"/>
          </a:p>
        </p:txBody>
      </p:sp>
    </p:spTree>
    <p:extLst>
      <p:ext uri="{BB962C8B-B14F-4D97-AF65-F5344CB8AC3E}">
        <p14:creationId xmlns:p14="http://schemas.microsoft.com/office/powerpoint/2010/main" val="3675488659"/>
      </p:ext>
    </p:extLst>
  </p:cSld>
  <p:clrMapOvr>
    <a:masterClrMapping/>
  </p:clrMapOvr>
  <p:transition spd="slow">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534400" cy="762000"/>
          </a:xfrm>
        </p:spPr>
        <p:txBody>
          <a:bodyPr>
            <a:normAutofit/>
          </a:bodyPr>
          <a:lstStyle/>
          <a:p>
            <a:pPr>
              <a:defRPr/>
            </a:pPr>
            <a:r>
              <a:rPr lang="en-US" b="1" dirty="0" smtClean="0">
                <a:latin typeface="Times New Roman" panose="02020603050405020304" pitchFamily="18" charset="0"/>
                <a:cs typeface="Times New Roman" panose="02020603050405020304" pitchFamily="18" charset="0"/>
              </a:rPr>
              <a:t>Distributed Database Concepts</a:t>
            </a:r>
            <a:endParaRPr lang="en-US" sz="4800" dirty="0"/>
          </a:p>
        </p:txBody>
      </p:sp>
      <p:sp>
        <p:nvSpPr>
          <p:cNvPr id="12291" name="Content Placeholder 2"/>
          <p:cNvSpPr>
            <a:spLocks noGrp="1"/>
          </p:cNvSpPr>
          <p:nvPr>
            <p:ph sz="quarter" idx="1"/>
          </p:nvPr>
        </p:nvSpPr>
        <p:spPr>
          <a:xfrm>
            <a:off x="457200" y="1417638"/>
            <a:ext cx="8458200" cy="5056187"/>
          </a:xfrm>
        </p:spPr>
        <p:txBody>
          <a:bodyPr/>
          <a:lstStyle/>
          <a:p>
            <a:pPr>
              <a:buClr>
                <a:srgbClr val="FF0000"/>
              </a:buClr>
              <a:buFont typeface="Wingdings" panose="05000000000000000000" pitchFamily="2" charset="2"/>
              <a:buChar char="§"/>
            </a:pPr>
            <a:r>
              <a:rPr lang="en-US" dirty="0" smtClean="0"/>
              <a:t>A transaction can be executed by multiple networked computers in a unified manner.</a:t>
            </a:r>
          </a:p>
          <a:p>
            <a:pPr>
              <a:buClr>
                <a:srgbClr val="FF0000"/>
              </a:buClr>
              <a:buFont typeface="Wingdings" panose="05000000000000000000" pitchFamily="2" charset="2"/>
              <a:buChar char="§"/>
            </a:pPr>
            <a:r>
              <a:rPr lang="en-US" dirty="0" smtClean="0"/>
              <a:t>A </a:t>
            </a:r>
            <a:r>
              <a:rPr lang="en-US" b="1" dirty="0" smtClean="0"/>
              <a:t>distributed database (DDB)</a:t>
            </a:r>
            <a:r>
              <a:rPr lang="en-US" dirty="0" smtClean="0"/>
              <a:t> processes unit of execution (a transaction) in a </a:t>
            </a:r>
            <a:r>
              <a:rPr lang="en-US" dirty="0" smtClean="0">
                <a:solidFill>
                  <a:schemeClr val="accent1"/>
                </a:solidFill>
              </a:rPr>
              <a:t>distributed</a:t>
            </a:r>
            <a:r>
              <a:rPr lang="en-US" dirty="0" smtClean="0"/>
              <a:t> manner.</a:t>
            </a:r>
          </a:p>
          <a:p>
            <a:pPr algn="just">
              <a:buClr>
                <a:srgbClr val="FF0000"/>
              </a:buClr>
              <a:buFont typeface="Wingdings" panose="05000000000000000000" pitchFamily="2" charset="2"/>
              <a:buChar char="§"/>
            </a:pPr>
            <a:r>
              <a:rPr lang="en-US" dirty="0" smtClean="0"/>
              <a:t> </a:t>
            </a:r>
            <a:r>
              <a:rPr lang="en-US" dirty="0" smtClean="0">
                <a:solidFill>
                  <a:srgbClr val="FF3399"/>
                </a:solidFill>
              </a:rPr>
              <a:t>A distributed database (DDB) can be defined as :</a:t>
            </a:r>
          </a:p>
          <a:p>
            <a:pPr lvl="1" algn="just"/>
            <a:r>
              <a:rPr lang="en-US" dirty="0" smtClean="0"/>
              <a:t>A distributed database (DDB) is a collection of multiple logically related database distributed over a computer network, and a distributed database management system as a software system that manages a distributed database while making the distribution transparent to the user.  </a:t>
            </a:r>
          </a:p>
          <a:p>
            <a:pPr lvl="1" algn="just"/>
            <a:r>
              <a:rPr lang="en-US" i="1" dirty="0" smtClean="0"/>
              <a:t>Distributed Database is not a centralized database.</a:t>
            </a:r>
            <a:endParaRPr lang="en-US" dirty="0" smtClean="0"/>
          </a:p>
          <a:p>
            <a:pPr lvl="1" algn="just"/>
            <a:endParaRPr lang="en-US" dirty="0" smtClean="0"/>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dirty="0"/>
          </a:p>
        </p:txBody>
      </p:sp>
    </p:spTree>
    <p:extLst>
      <p:ext uri="{BB962C8B-B14F-4D97-AF65-F5344CB8AC3E}">
        <p14:creationId xmlns:p14="http://schemas.microsoft.com/office/powerpoint/2010/main" val="1154902117"/>
      </p:ext>
    </p:extLst>
  </p:cSld>
  <p:clrMapOvr>
    <a:masterClrMapping/>
  </p:clrMapOvr>
  <p:transition spd="slow">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13315" name="Content Placeholder 2"/>
          <p:cNvSpPr>
            <a:spLocks noGrp="1"/>
          </p:cNvSpPr>
          <p:nvPr>
            <p:ph sz="quarter" idx="1"/>
          </p:nvPr>
        </p:nvSpPr>
        <p:spPr>
          <a:xfrm>
            <a:off x="457200" y="1417638"/>
            <a:ext cx="8458200" cy="5056187"/>
          </a:xfrm>
        </p:spPr>
        <p:txBody>
          <a:bodyPr/>
          <a:lstStyle/>
          <a:p>
            <a:r>
              <a:rPr lang="en-US" dirty="0" smtClean="0"/>
              <a:t>Centralized Database Vs. Distributed Database</a:t>
            </a:r>
          </a:p>
          <a:p>
            <a:endParaRPr lang="en-US" dirty="0" smtClean="0"/>
          </a:p>
        </p:txBody>
      </p:sp>
      <p:pic>
        <p:nvPicPr>
          <p:cNvPr id="133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05000"/>
            <a:ext cx="7924800"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dirty="0"/>
          </a:p>
        </p:txBody>
      </p:sp>
    </p:spTree>
    <p:extLst>
      <p:ext uri="{BB962C8B-B14F-4D97-AF65-F5344CB8AC3E}">
        <p14:creationId xmlns:p14="http://schemas.microsoft.com/office/powerpoint/2010/main" val="48086173"/>
      </p:ext>
    </p:extLst>
  </p:cSld>
  <p:clrMapOvr>
    <a:masterClrMapping/>
  </p:clrMapOvr>
  <p:transition spd="slow">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7038" y="2362200"/>
            <a:ext cx="352107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Content Placeholder 8"/>
          <p:cNvPicPr>
            <a:picLocks noGrp="1" noChangeAspect="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4549775" y="1944688"/>
            <a:ext cx="3917950" cy="3465512"/>
          </a:xfrm>
        </p:spPr>
      </p:pic>
      <p:sp>
        <p:nvSpPr>
          <p:cNvPr id="14342" name="Content Placeholder 2"/>
          <p:cNvSpPr txBox="1">
            <a:spLocks/>
          </p:cNvSpPr>
          <p:nvPr/>
        </p:nvSpPr>
        <p:spPr bwMode="auto">
          <a:xfrm>
            <a:off x="157163" y="1573213"/>
            <a:ext cx="403383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639763" indent="-2730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indent="-182563">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187450" indent="-182563">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1462088" indent="-182563">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19192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3764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28336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2908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buFont typeface="Wingdings" panose="05000000000000000000" pitchFamily="2" charset="2"/>
              <a:buNone/>
            </a:pPr>
            <a:r>
              <a:rPr lang="en-US" b="1" dirty="0">
                <a:solidFill>
                  <a:schemeClr val="accent1"/>
                </a:solidFill>
                <a:sym typeface="Wingdings" panose="05000000000000000000" pitchFamily="2" charset="2"/>
              </a:rPr>
              <a:t> </a:t>
            </a:r>
            <a:r>
              <a:rPr lang="en-US" b="1" dirty="0">
                <a:solidFill>
                  <a:schemeClr val="accent1"/>
                </a:solidFill>
              </a:rPr>
              <a:t>Centralized Database</a:t>
            </a:r>
          </a:p>
        </p:txBody>
      </p:sp>
      <p:sp>
        <p:nvSpPr>
          <p:cNvPr id="13" name="Content Placeholder 2"/>
          <p:cNvSpPr txBox="1">
            <a:spLocks/>
          </p:cNvSpPr>
          <p:nvPr/>
        </p:nvSpPr>
        <p:spPr bwMode="auto">
          <a:xfrm>
            <a:off x="4579938" y="1444625"/>
            <a:ext cx="401478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639763" indent="-2730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indent="-182563">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187450" indent="-182563">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1462088" indent="-182563">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19192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3764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28336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290888" indent="-182563"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buFont typeface="Wingdings" panose="05000000000000000000" pitchFamily="2" charset="2"/>
              <a:buNone/>
            </a:pPr>
            <a:r>
              <a:rPr lang="en-US" b="1" dirty="0">
                <a:solidFill>
                  <a:schemeClr val="accent1"/>
                </a:solidFill>
                <a:sym typeface="Wingdings" panose="05000000000000000000" pitchFamily="2" charset="2"/>
              </a:rPr>
              <a:t> </a:t>
            </a:r>
            <a:r>
              <a:rPr lang="en-US" b="1" dirty="0">
                <a:solidFill>
                  <a:schemeClr val="accent1"/>
                </a:solidFill>
              </a:rPr>
              <a:t>Distributed Database</a:t>
            </a:r>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dirty="0"/>
          </a:p>
        </p:txBody>
      </p:sp>
    </p:spTree>
    <p:extLst>
      <p:ext uri="{BB962C8B-B14F-4D97-AF65-F5344CB8AC3E}">
        <p14:creationId xmlns:p14="http://schemas.microsoft.com/office/powerpoint/2010/main" val="285244405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Data allocation</a:t>
            </a:r>
            <a:endParaRPr lang="en-US" dirty="0"/>
          </a:p>
        </p:txBody>
      </p:sp>
      <p:sp>
        <p:nvSpPr>
          <p:cNvPr id="3" name="Content Placeholder 2"/>
          <p:cNvSpPr>
            <a:spLocks noGrp="1"/>
          </p:cNvSpPr>
          <p:nvPr>
            <p:ph sz="quarter" idx="1"/>
          </p:nvPr>
        </p:nvSpPr>
        <p:spPr>
          <a:xfrm>
            <a:off x="228600" y="1417638"/>
            <a:ext cx="8534400" cy="5211762"/>
          </a:xfrm>
        </p:spPr>
        <p:txBody>
          <a:bodyPr>
            <a:noAutofit/>
          </a:bodyPr>
          <a:lstStyle/>
          <a:p>
            <a:pPr>
              <a:spcBef>
                <a:spcPts val="300"/>
              </a:spcBef>
              <a:spcAft>
                <a:spcPts val="300"/>
              </a:spcAft>
              <a:defRPr/>
            </a:pPr>
            <a:r>
              <a:rPr lang="en-US" sz="2000" i="1" dirty="0" smtClean="0">
                <a:latin typeface="Georgia" panose="02040502050405020303" pitchFamily="18" charset="0"/>
              </a:rPr>
              <a:t>is </a:t>
            </a:r>
            <a:r>
              <a:rPr lang="en-US" sz="2000" i="1" dirty="0">
                <a:latin typeface="Georgia" panose="02040502050405020303" pitchFamily="18" charset="0"/>
              </a:rPr>
              <a:t>the process of deciding where to allocate/store particular data item.</a:t>
            </a:r>
            <a:endParaRPr lang="en-US" sz="2000" dirty="0">
              <a:latin typeface="Georgia" panose="02040502050405020303" pitchFamily="18" charset="0"/>
            </a:endParaRPr>
          </a:p>
          <a:p>
            <a:pPr>
              <a:spcBef>
                <a:spcPts val="300"/>
              </a:spcBef>
              <a:spcAft>
                <a:spcPts val="300"/>
              </a:spcAft>
              <a:defRPr/>
            </a:pPr>
            <a:r>
              <a:rPr lang="en-US" sz="2000" i="1" dirty="0">
                <a:latin typeface="Georgia" panose="02040502050405020303" pitchFamily="18" charset="0"/>
              </a:rPr>
              <a:t>There are 3 data allocation strategies:</a:t>
            </a:r>
            <a:endParaRPr lang="en-US" sz="2000" dirty="0">
              <a:latin typeface="Georgia" panose="02040502050405020303" pitchFamily="18" charset="0"/>
            </a:endParaRPr>
          </a:p>
          <a:p>
            <a:pPr marL="1074737" lvl="2" indent="-342900">
              <a:spcBef>
                <a:spcPts val="300"/>
              </a:spcBef>
              <a:spcAft>
                <a:spcPts val="300"/>
              </a:spcAft>
              <a:buFont typeface="+mj-lt"/>
              <a:buAutoNum type="arabicPeriod"/>
              <a:defRPr/>
            </a:pPr>
            <a:r>
              <a:rPr lang="en-US" b="1" i="1" dirty="0">
                <a:latin typeface="Georgia" panose="02040502050405020303" pitchFamily="18" charset="0"/>
              </a:rPr>
              <a:t>Centralized: </a:t>
            </a:r>
            <a:r>
              <a:rPr lang="en-US" i="1" dirty="0">
                <a:latin typeface="Georgia" panose="02040502050405020303" pitchFamily="18" charset="0"/>
              </a:rPr>
              <a:t>the entire DB is located at a single site. </a:t>
            </a:r>
            <a:r>
              <a:rPr lang="en-US" i="1" dirty="0" smtClean="0">
                <a:latin typeface="Georgia" panose="02040502050405020303" pitchFamily="18" charset="0"/>
              </a:rPr>
              <a:t>And </a:t>
            </a:r>
            <a:r>
              <a:rPr lang="en-US" i="1" dirty="0">
                <a:latin typeface="Georgia" panose="02040502050405020303" pitchFamily="18" charset="0"/>
              </a:rPr>
              <a:t>computers access through the network. Known as </a:t>
            </a:r>
            <a:r>
              <a:rPr lang="en-US" i="1" dirty="0">
                <a:solidFill>
                  <a:schemeClr val="accent1"/>
                </a:solidFill>
                <a:latin typeface="Georgia" panose="02040502050405020303" pitchFamily="18" charset="0"/>
              </a:rPr>
              <a:t>distributed processing</a:t>
            </a:r>
            <a:r>
              <a:rPr lang="en-US" i="1" dirty="0">
                <a:latin typeface="Georgia" panose="02040502050405020303" pitchFamily="18" charset="0"/>
              </a:rPr>
              <a:t>.</a:t>
            </a:r>
            <a:endParaRPr lang="en-US" dirty="0">
              <a:latin typeface="Georgia" panose="02040502050405020303" pitchFamily="18" charset="0"/>
            </a:endParaRPr>
          </a:p>
          <a:p>
            <a:pPr marL="1074737" lvl="2" indent="-342900">
              <a:spcBef>
                <a:spcPts val="300"/>
              </a:spcBef>
              <a:spcAft>
                <a:spcPts val="300"/>
              </a:spcAft>
              <a:buFont typeface="+mj-lt"/>
              <a:buAutoNum type="arabicPeriod"/>
              <a:defRPr/>
            </a:pPr>
            <a:r>
              <a:rPr lang="en-US" b="1" i="1" dirty="0">
                <a:latin typeface="Georgia" panose="02040502050405020303" pitchFamily="18" charset="0"/>
              </a:rPr>
              <a:t>Partitioned: </a:t>
            </a:r>
            <a:r>
              <a:rPr lang="en-US" i="1" dirty="0">
                <a:latin typeface="Georgia" panose="02040502050405020303" pitchFamily="18" charset="0"/>
              </a:rPr>
              <a:t>the DB is split into several disjoint parts (called partitions, segments or fragments) and stored at several sites</a:t>
            </a:r>
            <a:endParaRPr lang="en-US" dirty="0">
              <a:latin typeface="Georgia" panose="02040502050405020303" pitchFamily="18" charset="0"/>
            </a:endParaRPr>
          </a:p>
          <a:p>
            <a:pPr marL="1074737" lvl="2" indent="-342900">
              <a:spcBef>
                <a:spcPts val="300"/>
              </a:spcBef>
              <a:spcAft>
                <a:spcPts val="300"/>
              </a:spcAft>
              <a:buFont typeface="+mj-lt"/>
              <a:buAutoNum type="arabicPeriod"/>
              <a:defRPr/>
            </a:pPr>
            <a:r>
              <a:rPr lang="en-US" b="1" i="1" dirty="0">
                <a:latin typeface="Georgia" panose="02040502050405020303" pitchFamily="18" charset="0"/>
              </a:rPr>
              <a:t>Replicated</a:t>
            </a:r>
            <a:r>
              <a:rPr lang="en-US" i="1" dirty="0">
                <a:latin typeface="Georgia" panose="02040502050405020303" pitchFamily="18" charset="0"/>
              </a:rPr>
              <a:t>: copies of one or more partitions are stored at several </a:t>
            </a:r>
            <a:r>
              <a:rPr lang="en-US" i="1" dirty="0" smtClean="0">
                <a:latin typeface="Georgia" panose="02040502050405020303" pitchFamily="18" charset="0"/>
              </a:rPr>
              <a:t>sites:</a:t>
            </a:r>
            <a:endParaRPr lang="en-US" dirty="0">
              <a:latin typeface="Georgia" panose="02040502050405020303" pitchFamily="18" charset="0"/>
            </a:endParaRPr>
          </a:p>
          <a:p>
            <a:pPr marL="1004887" lvl="3" indent="0">
              <a:spcBef>
                <a:spcPts val="300"/>
              </a:spcBef>
              <a:spcAft>
                <a:spcPts val="300"/>
              </a:spcAft>
              <a:buFont typeface="Wingdings" panose="05000000000000000000" pitchFamily="2" charset="2"/>
              <a:buNone/>
              <a:defRPr/>
            </a:pPr>
            <a:r>
              <a:rPr lang="en-US" sz="1800" i="1" dirty="0" smtClean="0">
                <a:solidFill>
                  <a:schemeClr val="accent1">
                    <a:lumMod val="75000"/>
                  </a:schemeClr>
                </a:solidFill>
                <a:latin typeface="Georgia" panose="02040502050405020303" pitchFamily="18" charset="0"/>
              </a:rPr>
              <a:t>3.1</a:t>
            </a:r>
            <a:r>
              <a:rPr lang="en-US" sz="1800" b="1" i="1" dirty="0" smtClean="0">
                <a:latin typeface="Georgia" panose="02040502050405020303" pitchFamily="18" charset="0"/>
              </a:rPr>
              <a:t> Selective- </a:t>
            </a:r>
            <a:r>
              <a:rPr lang="en-US" sz="1800" dirty="0">
                <a:latin typeface="Georgia" panose="02040502050405020303" pitchFamily="18" charset="0"/>
              </a:rPr>
              <a:t>combines</a:t>
            </a:r>
            <a:r>
              <a:rPr lang="en-US" sz="1800" b="1" i="1" dirty="0">
                <a:latin typeface="Georgia" panose="02040502050405020303" pitchFamily="18" charset="0"/>
              </a:rPr>
              <a:t> </a:t>
            </a:r>
            <a:r>
              <a:rPr lang="en-US" sz="1800" i="1" dirty="0">
                <a:latin typeface="Georgia" panose="02040502050405020303" pitchFamily="18" charset="0"/>
              </a:rPr>
              <a:t>fragmentation (locality of reference for those which are less updated) replication and centralization as appropriate for the data.</a:t>
            </a:r>
            <a:endParaRPr lang="en-US" sz="1800" dirty="0">
              <a:latin typeface="Georgia" panose="02040502050405020303" pitchFamily="18" charset="0"/>
            </a:endParaRPr>
          </a:p>
          <a:p>
            <a:pPr marL="1004887" lvl="3" indent="0">
              <a:spcBef>
                <a:spcPts val="300"/>
              </a:spcBef>
              <a:spcAft>
                <a:spcPts val="300"/>
              </a:spcAft>
              <a:buFont typeface="Wingdings" panose="05000000000000000000" pitchFamily="2" charset="2"/>
              <a:buNone/>
              <a:defRPr/>
            </a:pPr>
            <a:r>
              <a:rPr lang="en-US" sz="1800" i="1" dirty="0" smtClean="0">
                <a:solidFill>
                  <a:schemeClr val="accent1">
                    <a:lumMod val="75000"/>
                  </a:schemeClr>
                </a:solidFill>
                <a:latin typeface="Georgia" panose="02040502050405020303" pitchFamily="18" charset="0"/>
              </a:rPr>
              <a:t>3.2</a:t>
            </a:r>
            <a:r>
              <a:rPr lang="en-US" sz="1800" b="1" i="1" dirty="0" smtClean="0">
                <a:latin typeface="Georgia" panose="02040502050405020303" pitchFamily="18" charset="0"/>
              </a:rPr>
              <a:t> Complete</a:t>
            </a:r>
            <a:r>
              <a:rPr lang="en-US" sz="1800" b="1" i="1" dirty="0">
                <a:latin typeface="Georgia" panose="02040502050405020303" pitchFamily="18" charset="0"/>
              </a:rPr>
              <a:t>: - </a:t>
            </a:r>
            <a:r>
              <a:rPr lang="en-US" sz="1800" i="1" dirty="0">
                <a:latin typeface="Georgia" panose="02040502050405020303" pitchFamily="18" charset="0"/>
              </a:rPr>
              <a:t>database copy is made available in each site. Snap shot is one method used here.</a:t>
            </a:r>
            <a:endParaRPr lang="en-US" sz="1800" dirty="0">
              <a:latin typeface="Georgia" panose="02040502050405020303" pitchFamily="18" charset="0"/>
            </a:endParaRPr>
          </a:p>
          <a:p>
            <a:pPr>
              <a:spcBef>
                <a:spcPts val="300"/>
              </a:spcBef>
              <a:spcAft>
                <a:spcPts val="300"/>
              </a:spcAft>
              <a:defRPr/>
            </a:pPr>
            <a:endParaRPr lang="en-US" sz="2000" dirty="0">
              <a:latin typeface="Georgia" panose="02040502050405020303" pitchFamily="18" charset="0"/>
            </a:endParaRPr>
          </a:p>
        </p:txBody>
      </p:sp>
      <p:sp>
        <p:nvSpPr>
          <p:cNvPr id="4" name="Footer Placeholder 3"/>
          <p:cNvSpPr>
            <a:spLocks noGrp="1"/>
          </p:cNvSpPr>
          <p:nvPr>
            <p:ph type="ftr" sz="quarter" idx="11"/>
          </p:nvPr>
        </p:nvSpPr>
        <p:spPr/>
        <p:txBody>
          <a:bodyPr/>
          <a:lstStyle/>
          <a:p>
            <a:r>
              <a:rPr lang="en-US" dirty="0" smtClean="0"/>
              <a:t>Distributed Database System</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dirty="0"/>
          </a:p>
        </p:txBody>
      </p:sp>
    </p:spTree>
    <p:extLst>
      <p:ext uri="{BB962C8B-B14F-4D97-AF65-F5344CB8AC3E}">
        <p14:creationId xmlns:p14="http://schemas.microsoft.com/office/powerpoint/2010/main" val="3110345364"/>
      </p:ext>
    </p:extLst>
  </p:cSld>
  <p:clrMapOvr>
    <a:masterClrMapping/>
  </p:clrMapOvr>
  <p:transition spd="slow">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 name="Content Placeholder 2"/>
          <p:cNvSpPr>
            <a:spLocks noGrp="1"/>
          </p:cNvSpPr>
          <p:nvPr>
            <p:ph sz="quarter" idx="1"/>
          </p:nvPr>
        </p:nvSpPr>
        <p:spPr>
          <a:xfrm>
            <a:off x="457200" y="1524000"/>
            <a:ext cx="8229600" cy="4949825"/>
          </a:xfrm>
        </p:spPr>
        <p:txBody>
          <a:bodyPr>
            <a:normAutofit lnSpcReduction="10000"/>
          </a:bodyPr>
          <a:lstStyle/>
          <a:p>
            <a:pPr>
              <a:spcBef>
                <a:spcPts val="300"/>
              </a:spcBef>
              <a:spcAft>
                <a:spcPts val="300"/>
              </a:spcAft>
              <a:defRPr/>
            </a:pPr>
            <a:r>
              <a:rPr lang="en-US" dirty="0">
                <a:latin typeface="Georgia" panose="02040502050405020303" pitchFamily="18" charset="0"/>
              </a:rPr>
              <a:t>In a distributed database system, the database is logically stored as single database but physically fragmented on several computers. </a:t>
            </a:r>
            <a:endParaRPr lang="en-US" dirty="0" smtClean="0">
              <a:latin typeface="Georgia" panose="02040502050405020303" pitchFamily="18" charset="0"/>
            </a:endParaRPr>
          </a:p>
          <a:p>
            <a:pPr>
              <a:spcBef>
                <a:spcPts val="300"/>
              </a:spcBef>
              <a:spcAft>
                <a:spcPts val="300"/>
              </a:spcAft>
              <a:defRPr/>
            </a:pPr>
            <a:r>
              <a:rPr lang="en-US" dirty="0" smtClean="0">
                <a:latin typeface="Georgia" panose="02040502050405020303" pitchFamily="18" charset="0"/>
              </a:rPr>
              <a:t>The </a:t>
            </a:r>
            <a:r>
              <a:rPr lang="en-US" dirty="0">
                <a:latin typeface="Georgia" panose="02040502050405020303" pitchFamily="18" charset="0"/>
              </a:rPr>
              <a:t>computers in a distributed system communicate with each other through various communication media, such as </a:t>
            </a:r>
            <a:r>
              <a:rPr lang="en-US" dirty="0">
                <a:solidFill>
                  <a:schemeClr val="accent1">
                    <a:lumMod val="75000"/>
                  </a:schemeClr>
                </a:solidFill>
                <a:latin typeface="Georgia" panose="02040502050405020303" pitchFamily="18" charset="0"/>
              </a:rPr>
              <a:t>high speed buses </a:t>
            </a:r>
            <a:r>
              <a:rPr lang="en-US" dirty="0">
                <a:latin typeface="Georgia" panose="02040502050405020303" pitchFamily="18" charset="0"/>
              </a:rPr>
              <a:t>or </a:t>
            </a:r>
            <a:r>
              <a:rPr lang="en-US" dirty="0">
                <a:solidFill>
                  <a:schemeClr val="accent1">
                    <a:lumMod val="75000"/>
                  </a:schemeClr>
                </a:solidFill>
                <a:latin typeface="Georgia" panose="02040502050405020303" pitchFamily="18" charset="0"/>
              </a:rPr>
              <a:t>telephone line</a:t>
            </a:r>
            <a:r>
              <a:rPr lang="en-US" dirty="0">
                <a:latin typeface="Georgia" panose="02040502050405020303" pitchFamily="18" charset="0"/>
              </a:rPr>
              <a:t>.</a:t>
            </a:r>
            <a:endParaRPr lang="en-US" sz="2000" dirty="0">
              <a:latin typeface="Georgia" panose="02040502050405020303" pitchFamily="18" charset="0"/>
            </a:endParaRPr>
          </a:p>
          <a:p>
            <a:pPr>
              <a:spcBef>
                <a:spcPts val="300"/>
              </a:spcBef>
              <a:spcAft>
                <a:spcPts val="300"/>
              </a:spcAft>
              <a:defRPr/>
            </a:pPr>
            <a:r>
              <a:rPr lang="en-US" dirty="0">
                <a:latin typeface="Georgia" panose="02040502050405020303" pitchFamily="18" charset="0"/>
              </a:rPr>
              <a:t>A </a:t>
            </a:r>
            <a:r>
              <a:rPr lang="en-US" dirty="0" smtClean="0">
                <a:latin typeface="Georgia" panose="02040502050405020303" pitchFamily="18" charset="0"/>
              </a:rPr>
              <a:t>distributed </a:t>
            </a:r>
            <a:r>
              <a:rPr lang="en-US" dirty="0">
                <a:latin typeface="Georgia" panose="02040502050405020303" pitchFamily="18" charset="0"/>
              </a:rPr>
              <a:t>database system has the following </a:t>
            </a:r>
            <a:r>
              <a:rPr lang="en-US" dirty="0" smtClean="0">
                <a:latin typeface="Georgia" panose="02040502050405020303" pitchFamily="18" charset="0"/>
              </a:rPr>
              <a:t>components:</a:t>
            </a:r>
            <a:endParaRPr lang="en-US" sz="2000" dirty="0">
              <a:latin typeface="Georgia" panose="02040502050405020303" pitchFamily="18" charset="0"/>
            </a:endParaRPr>
          </a:p>
          <a:p>
            <a:pPr lvl="1">
              <a:spcBef>
                <a:spcPts val="300"/>
              </a:spcBef>
              <a:spcAft>
                <a:spcPts val="300"/>
              </a:spcAft>
              <a:defRPr/>
            </a:pPr>
            <a:r>
              <a:rPr lang="en-US" sz="2400" dirty="0">
                <a:latin typeface="Georgia" panose="02040502050405020303" pitchFamily="18" charset="0"/>
              </a:rPr>
              <a:t>Local DBMS</a:t>
            </a:r>
            <a:endParaRPr lang="en-US" sz="2000" dirty="0">
              <a:latin typeface="Georgia" panose="02040502050405020303" pitchFamily="18" charset="0"/>
            </a:endParaRPr>
          </a:p>
          <a:p>
            <a:pPr lvl="1">
              <a:spcBef>
                <a:spcPts val="300"/>
              </a:spcBef>
              <a:spcAft>
                <a:spcPts val="300"/>
              </a:spcAft>
              <a:defRPr/>
            </a:pPr>
            <a:r>
              <a:rPr lang="en-US" sz="2400" dirty="0">
                <a:latin typeface="Georgia" panose="02040502050405020303" pitchFamily="18" charset="0"/>
              </a:rPr>
              <a:t>Distributed DDBMS</a:t>
            </a:r>
            <a:endParaRPr lang="en-US" sz="2000" dirty="0">
              <a:latin typeface="Georgia" panose="02040502050405020303" pitchFamily="18" charset="0"/>
            </a:endParaRPr>
          </a:p>
          <a:p>
            <a:pPr lvl="1">
              <a:spcBef>
                <a:spcPts val="300"/>
              </a:spcBef>
              <a:spcAft>
                <a:spcPts val="300"/>
              </a:spcAft>
              <a:defRPr/>
            </a:pPr>
            <a:r>
              <a:rPr lang="en-US" sz="2400" dirty="0">
                <a:latin typeface="Georgia" panose="02040502050405020303" pitchFamily="18" charset="0"/>
              </a:rPr>
              <a:t>Global System Catalog(GSC)</a:t>
            </a:r>
            <a:endParaRPr lang="en-US" sz="2000" dirty="0">
              <a:latin typeface="Georgia" panose="02040502050405020303" pitchFamily="18" charset="0"/>
            </a:endParaRPr>
          </a:p>
          <a:p>
            <a:pPr lvl="1">
              <a:spcBef>
                <a:spcPts val="300"/>
              </a:spcBef>
              <a:spcAft>
                <a:spcPts val="300"/>
              </a:spcAft>
              <a:defRPr/>
            </a:pPr>
            <a:r>
              <a:rPr lang="en-US" sz="2400" dirty="0">
                <a:latin typeface="Georgia" panose="02040502050405020303" pitchFamily="18" charset="0"/>
              </a:rPr>
              <a:t>Data communication (DC)</a:t>
            </a:r>
            <a:endParaRPr lang="en-US" sz="2000" dirty="0">
              <a:latin typeface="Georgia" panose="02040502050405020303" pitchFamily="18" charset="0"/>
            </a:endParaRPr>
          </a:p>
          <a:p>
            <a:pPr>
              <a:spcBef>
                <a:spcPts val="300"/>
              </a:spcBef>
              <a:spcAft>
                <a:spcPts val="300"/>
              </a:spcAft>
              <a:defRPr/>
            </a:pPr>
            <a:endParaRPr lang="en-US" dirty="0">
              <a:latin typeface="Georgia" panose="02040502050405020303" pitchFamily="18" charset="0"/>
            </a:endParaRPr>
          </a:p>
        </p:txBody>
      </p:sp>
      <p:sp>
        <p:nvSpPr>
          <p:cNvPr id="4" name="Footer Placeholder 3"/>
          <p:cNvSpPr>
            <a:spLocks noGrp="1"/>
          </p:cNvSpPr>
          <p:nvPr>
            <p:ph type="ftr" sz="quarter" idx="11"/>
          </p:nvPr>
        </p:nvSpPr>
        <p:spPr/>
        <p:txBody>
          <a:bodyPr/>
          <a:lstStyle/>
          <a:p>
            <a:r>
              <a:rPr lang="en-US" smtClean="0"/>
              <a:t>Distributed Database System</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dirty="0"/>
          </a:p>
        </p:txBody>
      </p:sp>
    </p:spTree>
    <p:extLst>
      <p:ext uri="{BB962C8B-B14F-4D97-AF65-F5344CB8AC3E}">
        <p14:creationId xmlns:p14="http://schemas.microsoft.com/office/powerpoint/2010/main" val="2797079598"/>
      </p:ext>
    </p:extLst>
  </p:cSld>
  <p:clrMapOvr>
    <a:masterClrMapping/>
  </p:clrMapOvr>
  <p:transition spd="slow">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mtClean="0"/>
              <a:t>…CON’T</a:t>
            </a:r>
            <a:endParaRPr lang="en-US" dirty="0"/>
          </a:p>
        </p:txBody>
      </p:sp>
      <p:sp>
        <p:nvSpPr>
          <p:cNvPr id="17411" name="Content Placeholder 2"/>
          <p:cNvSpPr>
            <a:spLocks noGrp="1"/>
          </p:cNvSpPr>
          <p:nvPr>
            <p:ph sz="quarter" idx="1"/>
          </p:nvPr>
        </p:nvSpPr>
        <p:spPr>
          <a:xfrm>
            <a:off x="457200" y="1417638"/>
            <a:ext cx="8305800" cy="5056187"/>
          </a:xfrm>
        </p:spPr>
        <p:txBody>
          <a:bodyPr/>
          <a:lstStyle/>
          <a:p>
            <a:r>
              <a:rPr lang="en-US" dirty="0" smtClean="0"/>
              <a:t>Distributed database system consists of a collection of sites, each of which maintains a local database system (Local DBMS) but each local DBMS also participates in at least one global transaction where different databases are integrated together. </a:t>
            </a:r>
            <a:endParaRPr lang="en-US" sz="2000" dirty="0" smtClean="0"/>
          </a:p>
          <a:p>
            <a:pPr lvl="1"/>
            <a:r>
              <a:rPr lang="en-US" sz="2400" b="1" i="1" dirty="0" smtClean="0"/>
              <a:t>Local Transaction</a:t>
            </a:r>
            <a:r>
              <a:rPr lang="en-US" sz="2400" dirty="0" smtClean="0"/>
              <a:t>: transactions that access data only in that single site</a:t>
            </a:r>
            <a:endParaRPr lang="en-US" sz="2000" dirty="0" smtClean="0"/>
          </a:p>
          <a:p>
            <a:pPr lvl="1"/>
            <a:r>
              <a:rPr lang="en-US" sz="2400" b="1" i="1" dirty="0" smtClean="0"/>
              <a:t>Global Transaction</a:t>
            </a:r>
            <a:r>
              <a:rPr lang="en-US" sz="2400" dirty="0" smtClean="0"/>
              <a:t>: transactions that access data in several sites.</a:t>
            </a:r>
          </a:p>
          <a:p>
            <a:r>
              <a:rPr lang="en-US" sz="2300" b="1" i="1" dirty="0" smtClean="0"/>
              <a:t>Parallel DBMS:</a:t>
            </a:r>
            <a:r>
              <a:rPr lang="en-US" sz="2300" dirty="0" smtClean="0"/>
              <a:t> a DBMS running across multiple processors and disks that is designed to execute operations in parallel, when ever possible, in order to improve performance.</a:t>
            </a:r>
          </a:p>
          <a:p>
            <a:pPr lvl="1"/>
            <a:endParaRPr lang="en-US" sz="2000" dirty="0" smtClean="0"/>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dirty="0"/>
          </a:p>
        </p:txBody>
      </p:sp>
    </p:spTree>
    <p:extLst>
      <p:ext uri="{BB962C8B-B14F-4D97-AF65-F5344CB8AC3E}">
        <p14:creationId xmlns:p14="http://schemas.microsoft.com/office/powerpoint/2010/main" val="4289825756"/>
      </p:ext>
    </p:extLst>
  </p:cSld>
  <p:clrMapOvr>
    <a:masterClrMapping/>
  </p:clrMapOvr>
  <p:transition spd="slow">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18435" name="Content Placeholder 2"/>
          <p:cNvSpPr>
            <a:spLocks noGrp="1"/>
          </p:cNvSpPr>
          <p:nvPr>
            <p:ph sz="quarter" idx="1"/>
          </p:nvPr>
        </p:nvSpPr>
        <p:spPr>
          <a:xfrm>
            <a:off x="228600" y="1417638"/>
            <a:ext cx="8686800" cy="5287962"/>
          </a:xfrm>
        </p:spPr>
        <p:txBody>
          <a:bodyPr/>
          <a:lstStyle/>
          <a:p>
            <a:r>
              <a:rPr lang="en-US" dirty="0" smtClean="0"/>
              <a:t>Three architectures for parallel DBMS:</a:t>
            </a:r>
            <a:endParaRPr lang="en-US" sz="2000" dirty="0" smtClean="0"/>
          </a:p>
          <a:p>
            <a:pPr lvl="2"/>
            <a:r>
              <a:rPr lang="en-US" dirty="0" smtClean="0"/>
              <a:t>Shared Memory- for fast data access for a limited number of processors.</a:t>
            </a:r>
            <a:endParaRPr lang="en-US" sz="1600" dirty="0" smtClean="0"/>
          </a:p>
          <a:p>
            <a:pPr lvl="2"/>
            <a:r>
              <a:rPr lang="en-US" dirty="0" smtClean="0"/>
              <a:t>Shared Disk- for application inherently centralized</a:t>
            </a:r>
            <a:endParaRPr lang="en-US" sz="1600" dirty="0" smtClean="0"/>
          </a:p>
          <a:p>
            <a:pPr lvl="2"/>
            <a:r>
              <a:rPr lang="en-US" dirty="0" smtClean="0"/>
              <a:t>Shared nothing.- massively parallel</a:t>
            </a:r>
            <a:endParaRPr lang="en-US" sz="1600" dirty="0" smtClean="0"/>
          </a:p>
          <a:p>
            <a:r>
              <a:rPr lang="en-US" dirty="0" smtClean="0"/>
              <a:t>What makes DDBMS different is that</a:t>
            </a:r>
            <a:endParaRPr lang="en-US" sz="2000" dirty="0" smtClean="0"/>
          </a:p>
          <a:p>
            <a:pPr lvl="1"/>
            <a:r>
              <a:rPr lang="en-US" sz="2000" dirty="0" smtClean="0"/>
              <a:t>The various sites are aware of each other</a:t>
            </a:r>
            <a:endParaRPr lang="en-US" sz="1800" dirty="0" smtClean="0"/>
          </a:p>
          <a:p>
            <a:pPr lvl="1"/>
            <a:r>
              <a:rPr lang="en-US" sz="2000" dirty="0" smtClean="0"/>
              <a:t>Each site provides a facility for executing both local and global transactions</a:t>
            </a:r>
            <a:r>
              <a:rPr lang="en-US" sz="2400" dirty="0" smtClean="0"/>
              <a:t>.</a:t>
            </a:r>
            <a:endParaRPr lang="en-US" sz="2000" dirty="0" smtClean="0"/>
          </a:p>
          <a:p>
            <a:r>
              <a:rPr lang="en-US" sz="2000" dirty="0" smtClean="0"/>
              <a:t>The different sites can be connected physically in different topologies like:</a:t>
            </a:r>
            <a:endParaRPr lang="en-US" sz="1800" dirty="0" smtClean="0"/>
          </a:p>
          <a:p>
            <a:pPr lvl="2">
              <a:buFont typeface="Wingdings" panose="05000000000000000000" pitchFamily="2" charset="2"/>
              <a:buChar char="§"/>
            </a:pPr>
            <a:r>
              <a:rPr lang="en-US" sz="1800" b="1" i="1" dirty="0" smtClean="0"/>
              <a:t>Fully /networked, </a:t>
            </a:r>
            <a:endParaRPr lang="en-US" sz="1600" dirty="0" smtClean="0"/>
          </a:p>
          <a:p>
            <a:pPr lvl="2">
              <a:buFont typeface="Wingdings" panose="05000000000000000000" pitchFamily="2" charset="2"/>
              <a:buChar char="§"/>
            </a:pPr>
            <a:r>
              <a:rPr lang="en-US" sz="1800" b="1" i="1" dirty="0" smtClean="0"/>
              <a:t>Partially Connected, </a:t>
            </a:r>
            <a:endParaRPr lang="en-US" sz="1600" dirty="0" smtClean="0"/>
          </a:p>
          <a:p>
            <a:pPr lvl="2">
              <a:buFont typeface="Wingdings" panose="05000000000000000000" pitchFamily="2" charset="2"/>
              <a:buChar char="§"/>
            </a:pPr>
            <a:r>
              <a:rPr lang="en-US" sz="1800" b="1" i="1" dirty="0" smtClean="0"/>
              <a:t>Tree Network, </a:t>
            </a:r>
            <a:endParaRPr lang="en-US" sz="1600" dirty="0" smtClean="0"/>
          </a:p>
          <a:p>
            <a:pPr lvl="2">
              <a:buFont typeface="Wingdings" panose="05000000000000000000" pitchFamily="2" charset="2"/>
              <a:buChar char="§"/>
            </a:pPr>
            <a:r>
              <a:rPr lang="en-US" sz="1800" b="1" i="1" dirty="0" smtClean="0"/>
              <a:t>Star Network and </a:t>
            </a:r>
            <a:endParaRPr lang="en-US" sz="1600" dirty="0" smtClean="0"/>
          </a:p>
          <a:p>
            <a:pPr lvl="2">
              <a:buFont typeface="Wingdings" panose="05000000000000000000" pitchFamily="2" charset="2"/>
              <a:buChar char="§"/>
            </a:pPr>
            <a:r>
              <a:rPr lang="en-US" sz="1800" b="1" i="1" dirty="0" smtClean="0"/>
              <a:t>Ring Network</a:t>
            </a:r>
            <a:endParaRPr lang="en-US" sz="1600" dirty="0" smtClean="0"/>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dirty="0"/>
          </a:p>
        </p:txBody>
      </p:sp>
    </p:spTree>
    <p:extLst>
      <p:ext uri="{BB962C8B-B14F-4D97-AF65-F5344CB8AC3E}">
        <p14:creationId xmlns:p14="http://schemas.microsoft.com/office/powerpoint/2010/main" val="3817889639"/>
      </p:ext>
    </p:extLst>
  </p:cSld>
  <p:clrMapOvr>
    <a:masterClrMapping/>
  </p:clrMapOvr>
  <p:transition spd="slow">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19459" name="Content Placeholder 2"/>
          <p:cNvSpPr>
            <a:spLocks noGrp="1"/>
          </p:cNvSpPr>
          <p:nvPr>
            <p:ph sz="quarter" idx="1"/>
          </p:nvPr>
        </p:nvSpPr>
        <p:spPr>
          <a:xfrm>
            <a:off x="457200" y="1417638"/>
            <a:ext cx="8229600" cy="5056187"/>
          </a:xfrm>
        </p:spPr>
        <p:txBody>
          <a:bodyPr>
            <a:normAutofit/>
          </a:bodyPr>
          <a:lstStyle/>
          <a:p>
            <a:pPr>
              <a:lnSpc>
                <a:spcPct val="150000"/>
              </a:lnSpc>
            </a:pPr>
            <a:r>
              <a:rPr lang="en-US" sz="2800" dirty="0" smtClean="0"/>
              <a:t>The differences between these sites is based on:</a:t>
            </a:r>
            <a:endParaRPr lang="en-US" sz="2400" dirty="0" smtClean="0"/>
          </a:p>
          <a:p>
            <a:pPr lvl="1">
              <a:lnSpc>
                <a:spcPct val="150000"/>
              </a:lnSpc>
            </a:pPr>
            <a:r>
              <a:rPr lang="en-US" sz="2800" b="1" i="1" dirty="0" smtClean="0"/>
              <a:t>Installation</a:t>
            </a:r>
            <a:r>
              <a:rPr lang="en-US" sz="2800" dirty="0" smtClean="0"/>
              <a:t> C</a:t>
            </a:r>
            <a:r>
              <a:rPr lang="en-US" sz="2800" b="1" i="1" dirty="0" smtClean="0"/>
              <a:t>ost</a:t>
            </a:r>
            <a:r>
              <a:rPr lang="en-US" sz="2800" dirty="0" smtClean="0"/>
              <a:t>: cost of linking sites physically.</a:t>
            </a:r>
            <a:endParaRPr lang="en-US" dirty="0" smtClean="0"/>
          </a:p>
          <a:p>
            <a:pPr lvl="1">
              <a:lnSpc>
                <a:spcPct val="150000"/>
              </a:lnSpc>
            </a:pPr>
            <a:r>
              <a:rPr lang="en-US" sz="2800" b="1" i="1" dirty="0" smtClean="0"/>
              <a:t>Communication</a:t>
            </a:r>
            <a:r>
              <a:rPr lang="en-US" sz="2800" dirty="0" smtClean="0"/>
              <a:t> </a:t>
            </a:r>
            <a:r>
              <a:rPr lang="en-US" sz="2800" b="1" i="1" dirty="0" smtClean="0"/>
              <a:t>Cost</a:t>
            </a:r>
            <a:r>
              <a:rPr lang="en-US" sz="2800" dirty="0" smtClean="0"/>
              <a:t>: cost to send and receive messages and data</a:t>
            </a:r>
            <a:endParaRPr lang="en-US" dirty="0" smtClean="0"/>
          </a:p>
          <a:p>
            <a:pPr lvl="1">
              <a:lnSpc>
                <a:spcPct val="150000"/>
              </a:lnSpc>
            </a:pPr>
            <a:r>
              <a:rPr lang="en-US" sz="2800" b="1" i="1" dirty="0" smtClean="0"/>
              <a:t>Reliability</a:t>
            </a:r>
            <a:r>
              <a:rPr lang="en-US" sz="2800" dirty="0" smtClean="0"/>
              <a:t>: resistance to failure</a:t>
            </a:r>
            <a:endParaRPr lang="en-US" dirty="0" smtClean="0"/>
          </a:p>
          <a:p>
            <a:pPr lvl="1">
              <a:lnSpc>
                <a:spcPct val="150000"/>
              </a:lnSpc>
            </a:pPr>
            <a:r>
              <a:rPr lang="en-US" sz="2800" b="1" i="1" dirty="0" smtClean="0"/>
              <a:t>Availability</a:t>
            </a:r>
            <a:r>
              <a:rPr lang="en-US" sz="2800" dirty="0" smtClean="0"/>
              <a:t>: degree to which data can be accessed despite the failure.</a:t>
            </a:r>
            <a:endParaRPr lang="en-US" dirty="0" smtClean="0"/>
          </a:p>
          <a:p>
            <a:pPr>
              <a:lnSpc>
                <a:spcPct val="150000"/>
              </a:lnSpc>
            </a:pPr>
            <a:endParaRPr lang="en-US" sz="2800"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dirty="0"/>
          </a:p>
        </p:txBody>
      </p:sp>
    </p:spTree>
    <p:extLst>
      <p:ext uri="{BB962C8B-B14F-4D97-AF65-F5344CB8AC3E}">
        <p14:creationId xmlns:p14="http://schemas.microsoft.com/office/powerpoint/2010/main" val="4182083676"/>
      </p:ext>
    </p:extLst>
  </p:cSld>
  <p:clrMapOvr>
    <a:masterClrMapping/>
  </p:clrMapOvr>
  <p:transition spd="slow">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20483" name="Content Placeholder 2"/>
          <p:cNvSpPr>
            <a:spLocks noGrp="1"/>
          </p:cNvSpPr>
          <p:nvPr>
            <p:ph sz="quarter" idx="1"/>
          </p:nvPr>
        </p:nvSpPr>
        <p:spPr>
          <a:xfrm>
            <a:off x="571500" y="1527175"/>
            <a:ext cx="8153400" cy="5330825"/>
          </a:xfrm>
        </p:spPr>
        <p:txBody>
          <a:bodyPr/>
          <a:lstStyle/>
          <a:p>
            <a:r>
              <a:rPr lang="en-US" sz="2800" dirty="0" smtClean="0"/>
              <a:t>The distribution of the database sites could be:</a:t>
            </a:r>
          </a:p>
          <a:p>
            <a:pPr lvl="1"/>
            <a:r>
              <a:rPr lang="en-US" sz="2400" b="1" dirty="0" smtClean="0"/>
              <a:t>Large Geographical Area: </a:t>
            </a:r>
            <a:r>
              <a:rPr lang="en-US" sz="2400" b="1" i="1" dirty="0" smtClean="0"/>
              <a:t>Long-Haul Network</a:t>
            </a:r>
            <a:endParaRPr lang="en-US" sz="2400" dirty="0" smtClean="0"/>
          </a:p>
          <a:p>
            <a:pPr lvl="2"/>
            <a:r>
              <a:rPr lang="en-US" sz="2400" i="1" dirty="0" smtClean="0"/>
              <a:t>relatively slow</a:t>
            </a:r>
            <a:endParaRPr lang="en-US" sz="2400" dirty="0" smtClean="0"/>
          </a:p>
          <a:p>
            <a:pPr lvl="2"/>
            <a:r>
              <a:rPr lang="en-US" sz="2400" i="1" dirty="0" smtClean="0"/>
              <a:t>less reliable</a:t>
            </a:r>
            <a:endParaRPr lang="en-US" sz="2400" dirty="0" smtClean="0"/>
          </a:p>
          <a:p>
            <a:pPr lvl="2"/>
            <a:r>
              <a:rPr lang="en-US" sz="2400" i="1" dirty="0" smtClean="0"/>
              <a:t>uses telephone line, microwave, satellite</a:t>
            </a:r>
            <a:endParaRPr lang="en-US" sz="2400" dirty="0" smtClean="0"/>
          </a:p>
          <a:p>
            <a:pPr lvl="1"/>
            <a:r>
              <a:rPr lang="en-US" sz="2400" b="1" dirty="0" smtClean="0"/>
              <a:t>Small Geographical Area: Local Area Network </a:t>
            </a:r>
            <a:endParaRPr lang="en-US" sz="2400" dirty="0" smtClean="0"/>
          </a:p>
          <a:p>
            <a:pPr lvl="2"/>
            <a:r>
              <a:rPr lang="en-US" sz="2400" i="1" dirty="0" smtClean="0"/>
              <a:t>higher speed</a:t>
            </a:r>
            <a:endParaRPr lang="en-US" sz="2400" dirty="0" smtClean="0"/>
          </a:p>
          <a:p>
            <a:pPr lvl="2"/>
            <a:r>
              <a:rPr lang="en-US" sz="2400" i="1" dirty="0" smtClean="0"/>
              <a:t>lower rate of error</a:t>
            </a:r>
            <a:endParaRPr lang="en-US" sz="2400" dirty="0" smtClean="0"/>
          </a:p>
          <a:p>
            <a:pPr lvl="2"/>
            <a:r>
              <a:rPr lang="en-US" sz="2400" i="1" dirty="0" smtClean="0"/>
              <a:t>use twisted pair, base band coaxial, broadband  coaxial, fiber optics</a:t>
            </a:r>
            <a:endParaRPr lang="en-US" sz="2400" dirty="0" smtClean="0"/>
          </a:p>
          <a:p>
            <a:pPr lvl="1"/>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dirty="0"/>
          </a:p>
        </p:txBody>
      </p:sp>
    </p:spTree>
    <p:extLst>
      <p:ext uri="{BB962C8B-B14F-4D97-AF65-F5344CB8AC3E}">
        <p14:creationId xmlns:p14="http://schemas.microsoft.com/office/powerpoint/2010/main" val="2214327113"/>
      </p:ext>
    </p:extLst>
  </p:cSld>
  <p:clrMapOvr>
    <a:masterClrMapping/>
  </p:clrMapOvr>
  <p:transition spd="slow">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 name="Content Placeholder 2"/>
          <p:cNvSpPr>
            <a:spLocks noGrp="1"/>
          </p:cNvSpPr>
          <p:nvPr>
            <p:ph sz="quarter" idx="1"/>
          </p:nvPr>
        </p:nvSpPr>
        <p:spPr>
          <a:xfrm>
            <a:off x="457200" y="1417638"/>
            <a:ext cx="8382000" cy="5056187"/>
          </a:xfrm>
        </p:spPr>
        <p:txBody>
          <a:bodyPr>
            <a:normAutofit lnSpcReduction="10000"/>
          </a:bodyPr>
          <a:lstStyle/>
          <a:p>
            <a:pPr>
              <a:defRPr/>
            </a:pPr>
            <a:r>
              <a:rPr lang="en-US" dirty="0" smtClean="0"/>
              <a:t>Distributed </a:t>
            </a:r>
            <a:r>
              <a:rPr lang="en-US" dirty="0"/>
              <a:t>database system consists of loosely </a:t>
            </a:r>
            <a:r>
              <a:rPr lang="en-US" dirty="0" smtClean="0"/>
              <a:t>joined </a:t>
            </a:r>
            <a:r>
              <a:rPr lang="en-US" dirty="0"/>
              <a:t>sites that share no physical component and database systems that run on each site are independent of each other. </a:t>
            </a:r>
          </a:p>
          <a:p>
            <a:pPr>
              <a:defRPr/>
            </a:pPr>
            <a:r>
              <a:rPr lang="en-US" dirty="0"/>
              <a:t>Those which share physical components are known as </a:t>
            </a:r>
            <a:r>
              <a:rPr lang="en-US" dirty="0">
                <a:solidFill>
                  <a:schemeClr val="accent1">
                    <a:lumMod val="75000"/>
                  </a:schemeClr>
                </a:solidFill>
              </a:rPr>
              <a:t>Parallel DBMS</a:t>
            </a:r>
            <a:r>
              <a:rPr lang="en-US" dirty="0"/>
              <a:t>.</a:t>
            </a:r>
          </a:p>
          <a:p>
            <a:pPr>
              <a:defRPr/>
            </a:pPr>
            <a:r>
              <a:rPr lang="en-US" dirty="0"/>
              <a:t>Transactions may access data at one or more sites</a:t>
            </a:r>
          </a:p>
          <a:p>
            <a:pPr>
              <a:defRPr/>
            </a:pPr>
            <a:r>
              <a:rPr lang="en-US" dirty="0"/>
              <a:t>Organization may implement their database system on a number of separate computer system rather than a single, centralized mainframe. </a:t>
            </a:r>
            <a:endParaRPr lang="en-US" dirty="0" smtClean="0"/>
          </a:p>
          <a:p>
            <a:pPr>
              <a:defRPr/>
            </a:pPr>
            <a:r>
              <a:rPr lang="en-US" dirty="0" smtClean="0"/>
              <a:t>Computer </a:t>
            </a:r>
            <a:r>
              <a:rPr lang="en-US" dirty="0"/>
              <a:t>Systems may be located at each local branch office.</a:t>
            </a:r>
          </a:p>
          <a:p>
            <a:pPr>
              <a:defRPr/>
            </a:pPr>
            <a:endParaRPr lang="en-US" dirty="0"/>
          </a:p>
        </p:txBody>
      </p:sp>
      <p:sp>
        <p:nvSpPr>
          <p:cNvPr id="4" name="Footer Placeholder 3"/>
          <p:cNvSpPr>
            <a:spLocks noGrp="1"/>
          </p:cNvSpPr>
          <p:nvPr>
            <p:ph type="ftr" sz="quarter" idx="11"/>
          </p:nvPr>
        </p:nvSpPr>
        <p:spPr/>
        <p:txBody>
          <a:bodyPr/>
          <a:lstStyle/>
          <a:p>
            <a:r>
              <a:rPr lang="en-US" smtClean="0"/>
              <a:t>Distributed Database System</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dirty="0"/>
          </a:p>
        </p:txBody>
      </p:sp>
    </p:spTree>
    <p:extLst>
      <p:ext uri="{BB962C8B-B14F-4D97-AF65-F5344CB8AC3E}">
        <p14:creationId xmlns:p14="http://schemas.microsoft.com/office/powerpoint/2010/main" val="1828407275"/>
      </p:ext>
    </p:extLst>
  </p:cSld>
  <p:clrMapOvr>
    <a:masterClrMapping/>
  </p:clrMapOvr>
  <p:transition spd="slow">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Functions of a </a:t>
            </a:r>
            <a:r>
              <a:rPr lang="en-US" b="1" dirty="0" smtClean="0"/>
              <a:t>DDBMS</a:t>
            </a:r>
            <a:endParaRPr lang="en-US" dirty="0"/>
          </a:p>
        </p:txBody>
      </p:sp>
      <p:sp>
        <p:nvSpPr>
          <p:cNvPr id="22531" name="Content Placeholder 2"/>
          <p:cNvSpPr>
            <a:spLocks noGrp="1"/>
          </p:cNvSpPr>
          <p:nvPr>
            <p:ph sz="quarter" idx="1"/>
          </p:nvPr>
        </p:nvSpPr>
        <p:spPr>
          <a:xfrm>
            <a:off x="204788" y="1417638"/>
            <a:ext cx="8558212" cy="5287962"/>
          </a:xfrm>
        </p:spPr>
        <p:txBody>
          <a:bodyPr/>
          <a:lstStyle/>
          <a:p>
            <a:pPr>
              <a:buFont typeface="Wingdings" panose="05000000000000000000" pitchFamily="2" charset="2"/>
              <a:buChar char="Ø"/>
            </a:pPr>
            <a:r>
              <a:rPr lang="en-US" dirty="0" smtClean="0"/>
              <a:t>DDBMS have the following functionality.</a:t>
            </a:r>
            <a:endParaRPr lang="en-US" sz="2000" dirty="0" smtClean="0"/>
          </a:p>
          <a:p>
            <a:pPr lvl="1"/>
            <a:r>
              <a:rPr lang="en-US" sz="2400" dirty="0" smtClean="0">
                <a:solidFill>
                  <a:schemeClr val="accent1"/>
                </a:solidFill>
              </a:rPr>
              <a:t>Extended Communication Services </a:t>
            </a:r>
            <a:r>
              <a:rPr lang="en-US" sz="2400" dirty="0" smtClean="0"/>
              <a:t>-</a:t>
            </a:r>
            <a:r>
              <a:rPr lang="en-US" sz="2400" dirty="0" smtClean="0">
                <a:solidFill>
                  <a:schemeClr val="accent1"/>
                </a:solidFill>
              </a:rPr>
              <a:t> </a:t>
            </a:r>
            <a:r>
              <a:rPr lang="en-US" sz="2400" dirty="0" smtClean="0"/>
              <a:t>to provide access to remote sites.</a:t>
            </a:r>
            <a:endParaRPr lang="en-US" sz="2000" dirty="0" smtClean="0"/>
          </a:p>
          <a:p>
            <a:pPr lvl="1"/>
            <a:r>
              <a:rPr lang="en-US" sz="2400" dirty="0" smtClean="0">
                <a:solidFill>
                  <a:schemeClr val="accent1"/>
                </a:solidFill>
              </a:rPr>
              <a:t>Extended Data Dictionary</a:t>
            </a:r>
            <a:r>
              <a:rPr lang="en-US" sz="2400" dirty="0" smtClean="0"/>
              <a:t>-</a:t>
            </a:r>
            <a:r>
              <a:rPr lang="en-US" sz="2400" dirty="0" smtClean="0">
                <a:solidFill>
                  <a:schemeClr val="accent1"/>
                </a:solidFill>
              </a:rPr>
              <a:t> </a:t>
            </a:r>
            <a:r>
              <a:rPr lang="en-US" sz="2400" dirty="0" smtClean="0"/>
              <a:t>to store data distribution details a need for global system catalog.</a:t>
            </a:r>
            <a:endParaRPr lang="en-US" sz="2000" dirty="0" smtClean="0"/>
          </a:p>
          <a:p>
            <a:pPr lvl="1"/>
            <a:r>
              <a:rPr lang="en-US" sz="2400" dirty="0" smtClean="0">
                <a:solidFill>
                  <a:schemeClr val="accent1"/>
                </a:solidFill>
              </a:rPr>
              <a:t>Distributed Query Processing </a:t>
            </a:r>
            <a:r>
              <a:rPr lang="en-US" sz="2400" dirty="0" smtClean="0"/>
              <a:t>- optimization of query remote data access.</a:t>
            </a:r>
            <a:endParaRPr lang="en-US" sz="2000" dirty="0" smtClean="0"/>
          </a:p>
          <a:p>
            <a:pPr lvl="1"/>
            <a:r>
              <a:rPr lang="en-US" sz="2400" dirty="0" smtClean="0">
                <a:solidFill>
                  <a:schemeClr val="accent1"/>
                </a:solidFill>
              </a:rPr>
              <a:t>Extended security</a:t>
            </a:r>
            <a:r>
              <a:rPr lang="en-US" sz="2400" dirty="0" smtClean="0"/>
              <a:t>- access control to a distributed data</a:t>
            </a:r>
            <a:endParaRPr lang="en-US" sz="2000" dirty="0" smtClean="0"/>
          </a:p>
          <a:p>
            <a:pPr lvl="1"/>
            <a:r>
              <a:rPr lang="en-US" sz="2400" dirty="0" smtClean="0">
                <a:solidFill>
                  <a:schemeClr val="accent1"/>
                </a:solidFill>
              </a:rPr>
              <a:t>Extended Concurrency Control </a:t>
            </a:r>
            <a:r>
              <a:rPr lang="en-US" sz="2400" dirty="0" smtClean="0"/>
              <a:t>–maintain consistency of replicated data.</a:t>
            </a:r>
            <a:endParaRPr lang="en-US" sz="2000" dirty="0" smtClean="0"/>
          </a:p>
          <a:p>
            <a:pPr lvl="1"/>
            <a:r>
              <a:rPr lang="en-US" sz="2400" dirty="0" smtClean="0">
                <a:solidFill>
                  <a:schemeClr val="accent1"/>
                </a:solidFill>
              </a:rPr>
              <a:t>Extended Recovery Services</a:t>
            </a:r>
            <a:r>
              <a:rPr lang="en-US" sz="2400" dirty="0" smtClean="0"/>
              <a:t>- failures of individual sites and the communication line.</a:t>
            </a:r>
            <a:endParaRPr lang="en-US" sz="2000" dirty="0" smtClean="0"/>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dirty="0"/>
          </a:p>
        </p:txBody>
      </p:sp>
    </p:spTree>
    <p:extLst>
      <p:ext uri="{BB962C8B-B14F-4D97-AF65-F5344CB8AC3E}">
        <p14:creationId xmlns:p14="http://schemas.microsoft.com/office/powerpoint/2010/main" val="3991605180"/>
      </p:ext>
    </p:extLst>
  </p:cSld>
  <p:clrMapOvr>
    <a:masterClrMapping/>
  </p:clrMapOvr>
  <p:transition spd="slow">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Issues in </a:t>
            </a:r>
            <a:r>
              <a:rPr lang="en-US" b="1" dirty="0" smtClean="0"/>
              <a:t>DDBMS</a:t>
            </a:r>
            <a:endParaRPr lang="en-US" dirty="0"/>
          </a:p>
        </p:txBody>
      </p:sp>
      <p:sp>
        <p:nvSpPr>
          <p:cNvPr id="23555" name="Content Placeholder 2"/>
          <p:cNvSpPr>
            <a:spLocks noGrp="1"/>
          </p:cNvSpPr>
          <p:nvPr>
            <p:ph sz="quarter" idx="1"/>
          </p:nvPr>
        </p:nvSpPr>
        <p:spPr>
          <a:xfrm>
            <a:off x="457200" y="1437303"/>
            <a:ext cx="8458200" cy="5638800"/>
          </a:xfrm>
        </p:spPr>
        <p:txBody>
          <a:bodyPr/>
          <a:lstStyle/>
          <a:p>
            <a:pPr>
              <a:buFont typeface="Wingdings" panose="05000000000000000000" pitchFamily="2" charset="2"/>
              <a:buChar char="Ø"/>
            </a:pPr>
            <a:r>
              <a:rPr lang="en-US" b="1" dirty="0" smtClean="0"/>
              <a:t>How is data stored in DDBMS?</a:t>
            </a:r>
            <a:endParaRPr lang="en-US" sz="1800" dirty="0" smtClean="0"/>
          </a:p>
          <a:p>
            <a:pPr lvl="1"/>
            <a:r>
              <a:rPr lang="en-US" sz="2400" dirty="0" smtClean="0"/>
              <a:t>There are several ways of storing a single relation in distributed database systems.</a:t>
            </a:r>
            <a:endParaRPr lang="en-US" sz="1800" dirty="0" smtClean="0"/>
          </a:p>
          <a:p>
            <a:pPr lvl="1"/>
            <a:r>
              <a:rPr lang="en-US" sz="2400" b="1" u="sng" dirty="0" smtClean="0"/>
              <a:t>Replication</a:t>
            </a:r>
            <a:r>
              <a:rPr lang="en-US" sz="2400" b="1" dirty="0" smtClean="0"/>
              <a:t>: </a:t>
            </a:r>
            <a:endParaRPr lang="en-US" sz="1800" dirty="0" smtClean="0"/>
          </a:p>
          <a:p>
            <a:pPr lvl="2"/>
            <a:r>
              <a:rPr lang="en-US" sz="2000" dirty="0" smtClean="0"/>
              <a:t>System maintains multiple copies of similar data (identical data)</a:t>
            </a:r>
          </a:p>
          <a:p>
            <a:pPr lvl="2"/>
            <a:r>
              <a:rPr lang="en-US" sz="2000" dirty="0" smtClean="0"/>
              <a:t>Stored in different sites, for faster retrieval and fault tolerance.</a:t>
            </a:r>
          </a:p>
          <a:p>
            <a:pPr lvl="2"/>
            <a:r>
              <a:rPr lang="en-US" sz="2000" dirty="0" smtClean="0"/>
              <a:t>Duplicate copies of the tables can be kept on each system (replicated). </a:t>
            </a:r>
          </a:p>
          <a:p>
            <a:pPr lvl="2"/>
            <a:r>
              <a:rPr lang="en-US" sz="2000" dirty="0" smtClean="0"/>
              <a:t>Updates to the tables can become involved (of course the copies of the tables can be read-only).</a:t>
            </a:r>
          </a:p>
          <a:p>
            <a:pPr lvl="2"/>
            <a:r>
              <a:rPr lang="en-US" sz="2000" dirty="0" smtClean="0"/>
              <a:t>Advantage: Availability, Increased parallelism (if only reading)-</a:t>
            </a:r>
          </a:p>
          <a:p>
            <a:r>
              <a:rPr lang="en-US" dirty="0" smtClean="0"/>
              <a:t>Disadvantage: increased overhead of update.</a:t>
            </a:r>
            <a:r>
              <a:rPr lang="en-US" sz="2800" dirty="0" smtClean="0"/>
              <a:t> </a:t>
            </a:r>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dirty="0"/>
          </a:p>
        </p:txBody>
      </p:sp>
    </p:spTree>
    <p:extLst>
      <p:ext uri="{BB962C8B-B14F-4D97-AF65-F5344CB8AC3E}">
        <p14:creationId xmlns:p14="http://schemas.microsoft.com/office/powerpoint/2010/main" val="2710035983"/>
      </p:ext>
    </p:extLst>
  </p:cSld>
  <p:clrMapOvr>
    <a:masterClrMapping/>
  </p:clrMapOvr>
  <p:transition spd="slow">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24579" name="Content Placeholder 2"/>
          <p:cNvSpPr>
            <a:spLocks noGrp="1"/>
          </p:cNvSpPr>
          <p:nvPr>
            <p:ph sz="quarter" idx="1"/>
          </p:nvPr>
        </p:nvSpPr>
        <p:spPr>
          <a:xfrm>
            <a:off x="457200" y="1417638"/>
            <a:ext cx="7467600" cy="5056187"/>
          </a:xfrm>
        </p:spPr>
        <p:txBody>
          <a:bodyPr/>
          <a:lstStyle/>
          <a:p>
            <a:r>
              <a:rPr lang="en-US" sz="2800" b="1" dirty="0" smtClean="0"/>
              <a:t>Replication</a:t>
            </a:r>
          </a:p>
          <a:p>
            <a:endParaRPr lang="en-US" dirty="0" smtClean="0"/>
          </a:p>
        </p:txBody>
      </p:sp>
      <p:pic>
        <p:nvPicPr>
          <p:cNvPr id="24581"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9275" y="2011363"/>
            <a:ext cx="8197850" cy="400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dirty="0"/>
          </a:p>
        </p:txBody>
      </p:sp>
    </p:spTree>
    <p:extLst>
      <p:ext uri="{BB962C8B-B14F-4D97-AF65-F5344CB8AC3E}">
        <p14:creationId xmlns:p14="http://schemas.microsoft.com/office/powerpoint/2010/main" val="3999284065"/>
      </p:ext>
    </p:extLst>
  </p:cSld>
  <p:clrMapOvr>
    <a:masterClrMapping/>
  </p:clrMapOvr>
  <p:transition spd="slow">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368" y="149225"/>
            <a:ext cx="8534400" cy="1143000"/>
          </a:xfrm>
        </p:spPr>
        <p:txBody>
          <a:bodyPr/>
          <a:lstStyle/>
          <a:p>
            <a:pPr>
              <a:defRPr/>
            </a:pPr>
            <a:r>
              <a:rPr lang="en-US" dirty="0" smtClean="0"/>
              <a:t>…CON’T</a:t>
            </a:r>
            <a:endParaRPr lang="en-US" dirty="0"/>
          </a:p>
        </p:txBody>
      </p:sp>
      <p:pic>
        <p:nvPicPr>
          <p:cNvPr id="2560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5108575"/>
            <a:ext cx="42862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dirty="0"/>
          </a:p>
        </p:txBody>
      </p:sp>
      <p:sp>
        <p:nvSpPr>
          <p:cNvPr id="1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l="-74" t="-548"/>
            </a:stretch>
          </a:blipFill>
          <a:extLst/>
        </p:spPr>
        <p:txBody>
          <a:bodyPr/>
          <a:lstStyle/>
          <a:p>
            <a:pPr>
              <a:defRPr/>
            </a:pPr>
            <a:r>
              <a:rPr lang="en-US" dirty="0">
                <a:noFill/>
              </a:rPr>
              <a:t> </a:t>
            </a:r>
          </a:p>
        </p:txBody>
      </p:sp>
    </p:spTree>
    <p:extLst>
      <p:ext uri="{BB962C8B-B14F-4D97-AF65-F5344CB8AC3E}">
        <p14:creationId xmlns:p14="http://schemas.microsoft.com/office/powerpoint/2010/main" val="2143307855"/>
      </p:ext>
    </p:extLst>
  </p:cSld>
  <p:clrMapOvr>
    <a:masterClrMapping/>
  </p:clrMapOvr>
  <p:transition spd="slow">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26627" name="Content Placeholder 2"/>
          <p:cNvSpPr>
            <a:spLocks noGrp="1"/>
          </p:cNvSpPr>
          <p:nvPr>
            <p:ph sz="quarter" idx="1"/>
          </p:nvPr>
        </p:nvSpPr>
        <p:spPr>
          <a:xfrm>
            <a:off x="457200" y="1417638"/>
            <a:ext cx="8077200" cy="5056187"/>
          </a:xfrm>
        </p:spPr>
        <p:txBody>
          <a:bodyPr/>
          <a:lstStyle/>
          <a:p>
            <a:r>
              <a:rPr lang="en-US" b="1" dirty="0" smtClean="0"/>
              <a:t>Example (contd.): </a:t>
            </a:r>
            <a:r>
              <a:rPr lang="en-US" dirty="0" smtClean="0"/>
              <a:t>Horizontal fragmentation of PROJ relation</a:t>
            </a:r>
          </a:p>
          <a:p>
            <a:pPr lvl="1"/>
            <a:r>
              <a:rPr lang="en-US" sz="1500" b="1" dirty="0" smtClean="0"/>
              <a:t>– </a:t>
            </a:r>
            <a:r>
              <a:rPr lang="en-US" sz="1500" dirty="0" smtClean="0"/>
              <a:t>PROJ1: projects with budgets less than </a:t>
            </a:r>
            <a:r>
              <a:rPr lang="en-US" dirty="0" smtClean="0"/>
              <a:t>200, 000</a:t>
            </a:r>
          </a:p>
          <a:p>
            <a:pPr lvl="1"/>
            <a:r>
              <a:rPr lang="en-US" sz="1500" b="1" dirty="0" smtClean="0"/>
              <a:t>– </a:t>
            </a:r>
            <a:r>
              <a:rPr lang="en-US" sz="1500" dirty="0" smtClean="0"/>
              <a:t>PROJ2: projects with budgets greater than or equal to </a:t>
            </a:r>
            <a:r>
              <a:rPr lang="en-US" dirty="0" smtClean="0"/>
              <a:t>200, 000</a:t>
            </a:r>
            <a:endParaRPr lang="en-US" sz="1300" dirty="0" smtClean="0"/>
          </a:p>
          <a:p>
            <a:endParaRPr lang="en-US" dirty="0" smtClean="0"/>
          </a:p>
          <a:p>
            <a:endParaRPr lang="en-US" dirty="0" smtClean="0"/>
          </a:p>
        </p:txBody>
      </p:sp>
      <p:pic>
        <p:nvPicPr>
          <p:cNvPr id="2662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0"/>
            <a:ext cx="4191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0138" y="5105400"/>
            <a:ext cx="61817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dirty="0"/>
          </a:p>
        </p:txBody>
      </p:sp>
    </p:spTree>
    <p:extLst>
      <p:ext uri="{BB962C8B-B14F-4D97-AF65-F5344CB8AC3E}">
        <p14:creationId xmlns:p14="http://schemas.microsoft.com/office/powerpoint/2010/main" val="1022542752"/>
      </p:ext>
    </p:extLst>
  </p:cSld>
  <p:clrMapOvr>
    <a:masterClrMapping/>
  </p:clrMapOvr>
  <p:transition spd="slow">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pic>
        <p:nvPicPr>
          <p:cNvPr id="2765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71688" y="4876800"/>
            <a:ext cx="42386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dirty="0"/>
          </a:p>
        </p:txBody>
      </p:sp>
      <p:sp>
        <p:nvSpPr>
          <p:cNvPr id="9"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l="-289" t="-524" r="-1156"/>
            </a:stretch>
          </a:blipFill>
          <a:extLst/>
        </p:spPr>
        <p:txBody>
          <a:bodyPr/>
          <a:lstStyle/>
          <a:p>
            <a:pPr>
              <a:defRPr/>
            </a:pPr>
            <a:r>
              <a:rPr lang="en-US">
                <a:noFill/>
              </a:rPr>
              <a:t> </a:t>
            </a:r>
          </a:p>
        </p:txBody>
      </p:sp>
    </p:spTree>
    <p:extLst>
      <p:ext uri="{BB962C8B-B14F-4D97-AF65-F5344CB8AC3E}">
        <p14:creationId xmlns:p14="http://schemas.microsoft.com/office/powerpoint/2010/main" val="931365348"/>
      </p:ext>
    </p:extLst>
  </p:cSld>
  <p:clrMapOvr>
    <a:masterClrMapping/>
  </p:clrMapOvr>
  <p:transition spd="slow">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 name="Content Placeholder 2"/>
          <p:cNvSpPr>
            <a:spLocks noGrp="1"/>
          </p:cNvSpPr>
          <p:nvPr>
            <p:ph sz="quarter" idx="1"/>
          </p:nvPr>
        </p:nvSpPr>
        <p:spPr>
          <a:xfrm>
            <a:off x="457200" y="1417638"/>
            <a:ext cx="8458200" cy="5056187"/>
          </a:xfrm>
        </p:spPr>
        <p:txBody>
          <a:bodyPr/>
          <a:lstStyle/>
          <a:p>
            <a:pPr>
              <a:defRPr/>
            </a:pPr>
            <a:r>
              <a:rPr lang="en-US" b="1" dirty="0" smtClean="0"/>
              <a:t>Example: </a:t>
            </a:r>
            <a:r>
              <a:rPr lang="en-US" dirty="0"/>
              <a:t>Vertical fragmentation of PROJ relation</a:t>
            </a:r>
          </a:p>
          <a:p>
            <a:pPr lvl="1">
              <a:defRPr/>
            </a:pPr>
            <a:r>
              <a:rPr lang="en-US" dirty="0" smtClean="0"/>
              <a:t>PROJ1</a:t>
            </a:r>
            <a:r>
              <a:rPr lang="en-US" dirty="0"/>
              <a:t>: information about project budgets</a:t>
            </a:r>
          </a:p>
          <a:p>
            <a:pPr lvl="1">
              <a:defRPr/>
            </a:pPr>
            <a:r>
              <a:rPr lang="en-US" dirty="0" smtClean="0"/>
              <a:t>PROJ2</a:t>
            </a:r>
            <a:r>
              <a:rPr lang="en-US" dirty="0"/>
              <a:t>: information about project names and </a:t>
            </a:r>
            <a:r>
              <a:rPr lang="en-US" dirty="0" smtClean="0"/>
              <a:t>locations</a:t>
            </a:r>
          </a:p>
          <a:p>
            <a:pPr marL="366713" lvl="1" indent="0">
              <a:buFont typeface="Wingdings 2" panose="05020102010507070707" pitchFamily="18" charset="2"/>
              <a:buNone/>
              <a:defRPr/>
            </a:pPr>
            <a:endParaRPr lang="en-US" dirty="0"/>
          </a:p>
          <a:p>
            <a:pPr marL="366713" lvl="1" indent="0">
              <a:buFont typeface="Wingdings 2" panose="05020102010507070707" pitchFamily="18" charset="2"/>
              <a:buNone/>
              <a:defRPr/>
            </a:pPr>
            <a:endParaRPr lang="en-US" dirty="0"/>
          </a:p>
        </p:txBody>
      </p:sp>
      <p:pic>
        <p:nvPicPr>
          <p:cNvPr id="28677"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743200"/>
            <a:ext cx="4191000"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6963" y="4495800"/>
            <a:ext cx="618807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1"/>
          </p:nvPr>
        </p:nvSpPr>
        <p:spPr/>
        <p:txBody>
          <a:bodyPr/>
          <a:lstStyle/>
          <a:p>
            <a:r>
              <a:rPr lang="en-US" smtClean="0"/>
              <a:t>Distributed Database System</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dirty="0"/>
          </a:p>
        </p:txBody>
      </p:sp>
    </p:spTree>
    <p:extLst>
      <p:ext uri="{BB962C8B-B14F-4D97-AF65-F5344CB8AC3E}">
        <p14:creationId xmlns:p14="http://schemas.microsoft.com/office/powerpoint/2010/main" val="1513815231"/>
      </p:ext>
    </p:extLst>
  </p:cSld>
  <p:clrMapOvr>
    <a:masterClrMapping/>
  </p:clrMapOvr>
  <p:transition spd="slow">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29699" name="Content Placeholder 2"/>
          <p:cNvSpPr>
            <a:spLocks noGrp="1"/>
          </p:cNvSpPr>
          <p:nvPr>
            <p:ph sz="quarter" idx="1"/>
          </p:nvPr>
        </p:nvSpPr>
        <p:spPr>
          <a:xfrm>
            <a:off x="457200" y="1417638"/>
            <a:ext cx="8229600" cy="5056187"/>
          </a:xfrm>
        </p:spPr>
        <p:txBody>
          <a:bodyPr/>
          <a:lstStyle/>
          <a:p>
            <a:r>
              <a:rPr lang="en-US" b="1" i="1" dirty="0" smtClean="0"/>
              <a:t>Both (hybrid fragmentation)</a:t>
            </a:r>
            <a:endParaRPr lang="en-US" sz="2000" dirty="0" smtClean="0"/>
          </a:p>
          <a:p>
            <a:pPr lvl="1"/>
            <a:r>
              <a:rPr lang="en-US" i="1" dirty="0" smtClean="0"/>
              <a:t>A system can share the responsibility of storing </a:t>
            </a:r>
            <a:r>
              <a:rPr lang="en-US" b="1" i="1" dirty="0" smtClean="0"/>
              <a:t>particular attributes</a:t>
            </a:r>
            <a:r>
              <a:rPr lang="en-US" i="1" dirty="0" smtClean="0"/>
              <a:t> of a </a:t>
            </a:r>
            <a:r>
              <a:rPr lang="en-US" b="1" i="1" dirty="0" smtClean="0"/>
              <a:t>subset of records</a:t>
            </a:r>
            <a:r>
              <a:rPr lang="en-US" i="1" dirty="0" smtClean="0"/>
              <a:t> in a given </a:t>
            </a:r>
            <a:r>
              <a:rPr lang="en-US" b="1" i="1" dirty="0" smtClean="0"/>
              <a:t>relation</a:t>
            </a:r>
            <a:r>
              <a:rPr lang="en-US" i="1" dirty="0" smtClean="0"/>
              <a:t>.</a:t>
            </a:r>
            <a:endParaRPr lang="en-US" sz="1900" dirty="0" smtClean="0"/>
          </a:p>
          <a:p>
            <a:pPr lvl="1"/>
            <a:r>
              <a:rPr lang="en-US" i="1" dirty="0" smtClean="0"/>
              <a:t>Performed by projection then selection or selection then projection relational algebra operators.</a:t>
            </a:r>
            <a:endParaRPr lang="en-US" sz="1900" dirty="0" smtClean="0"/>
          </a:p>
          <a:p>
            <a:pPr lvl="1"/>
            <a:r>
              <a:rPr lang="en-US" i="1" dirty="0" smtClean="0"/>
              <a:t>Reconstruction is made by combined effect of </a:t>
            </a:r>
            <a:r>
              <a:rPr lang="en-US" b="1" i="1" dirty="0" smtClean="0"/>
              <a:t>Union</a:t>
            </a:r>
            <a:r>
              <a:rPr lang="en-US" i="1" dirty="0" smtClean="0"/>
              <a:t> and </a:t>
            </a:r>
            <a:r>
              <a:rPr lang="en-US" b="1" i="1" dirty="0" smtClean="0"/>
              <a:t>natural join</a:t>
            </a:r>
            <a:r>
              <a:rPr lang="en-US" i="1" dirty="0" smtClean="0"/>
              <a:t> operators.</a:t>
            </a:r>
          </a:p>
          <a:p>
            <a:pPr lvl="1"/>
            <a:endParaRPr lang="en-US" sz="1900" dirty="0" smtClean="0"/>
          </a:p>
          <a:p>
            <a:endParaRPr lang="en-US" dirty="0" smtClean="0"/>
          </a:p>
        </p:txBody>
      </p:sp>
      <p:pic>
        <p:nvPicPr>
          <p:cNvPr id="29701" name="Picture 4" descr="DS3-Figure 22-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4125913"/>
            <a:ext cx="6553200" cy="219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dirty="0"/>
          </a:p>
        </p:txBody>
      </p:sp>
    </p:spTree>
    <p:extLst>
      <p:ext uri="{BB962C8B-B14F-4D97-AF65-F5344CB8AC3E}">
        <p14:creationId xmlns:p14="http://schemas.microsoft.com/office/powerpoint/2010/main" val="3659210135"/>
      </p:ext>
    </p:extLst>
  </p:cSld>
  <p:clrMapOvr>
    <a:masterClrMapping/>
  </p:clrMapOvr>
  <p:transition spd="slow">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0723" name="Content Placeholder 2"/>
          <p:cNvSpPr>
            <a:spLocks noGrp="1"/>
          </p:cNvSpPr>
          <p:nvPr>
            <p:ph sz="quarter" idx="1"/>
          </p:nvPr>
        </p:nvSpPr>
        <p:spPr>
          <a:xfrm>
            <a:off x="457200" y="1417637"/>
            <a:ext cx="8229600" cy="4792663"/>
          </a:xfrm>
        </p:spPr>
        <p:txBody>
          <a:bodyPr>
            <a:normAutofit/>
          </a:bodyPr>
          <a:lstStyle/>
          <a:p>
            <a:r>
              <a:rPr lang="en-US" sz="3200" b="1" i="1" dirty="0" smtClean="0"/>
              <a:t>Fragmentation is correct if it fulfils the following</a:t>
            </a:r>
            <a:endParaRPr lang="en-US" sz="3200" dirty="0" smtClean="0"/>
          </a:p>
          <a:p>
            <a:pPr lvl="1"/>
            <a:r>
              <a:rPr lang="en-US" sz="2800" b="1" i="1" dirty="0" smtClean="0"/>
              <a:t>Complete</a:t>
            </a:r>
            <a:r>
              <a:rPr lang="en-US" sz="2800" i="1" dirty="0" smtClean="0"/>
              <a:t>: - a data item must appear in at least one fragment of a given relation R (R1, R2…</a:t>
            </a:r>
            <a:r>
              <a:rPr lang="en-US" sz="2800" i="1" dirty="0" err="1" smtClean="0"/>
              <a:t>Rn</a:t>
            </a:r>
            <a:r>
              <a:rPr lang="en-US" sz="2800" i="1" dirty="0" smtClean="0"/>
              <a:t>).</a:t>
            </a:r>
            <a:endParaRPr lang="en-US" sz="2800" dirty="0" smtClean="0"/>
          </a:p>
          <a:p>
            <a:pPr lvl="1"/>
            <a:r>
              <a:rPr lang="en-US" sz="2800" b="1" i="1" dirty="0" smtClean="0"/>
              <a:t>Reconstruction</a:t>
            </a:r>
            <a:r>
              <a:rPr lang="en-US" sz="2800" i="1" dirty="0" smtClean="0"/>
              <a:t>:- it must be possible to reconstruct a relation from the fragments</a:t>
            </a:r>
            <a:endParaRPr lang="en-US" sz="2800" dirty="0" smtClean="0"/>
          </a:p>
          <a:p>
            <a:pPr lvl="1"/>
            <a:r>
              <a:rPr lang="en-US" sz="2800" b="1" i="1" dirty="0" err="1" smtClean="0"/>
              <a:t>Disjointness</a:t>
            </a:r>
            <a:r>
              <a:rPr lang="en-US" sz="2800" i="1" dirty="0" smtClean="0"/>
              <a:t>: - a data item should only be found in a single fragment except for vertical fragmentation (the primary key is repeated for reconstruction).</a:t>
            </a:r>
            <a:endParaRPr lang="en-US" sz="2800"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dirty="0"/>
          </a:p>
        </p:txBody>
      </p:sp>
    </p:spTree>
    <p:extLst>
      <p:ext uri="{BB962C8B-B14F-4D97-AF65-F5344CB8AC3E}">
        <p14:creationId xmlns:p14="http://schemas.microsoft.com/office/powerpoint/2010/main" val="3093833977"/>
      </p:ext>
    </p:extLst>
  </p:cSld>
  <p:clrMapOvr>
    <a:masterClrMapping/>
  </p:clrMapOvr>
  <p:transition spd="slow">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Data transparency</a:t>
            </a:r>
            <a:r>
              <a:rPr lang="en-US" b="1" dirty="0" smtClean="0"/>
              <a:t>:</a:t>
            </a:r>
            <a:endParaRPr lang="en-US" dirty="0"/>
          </a:p>
        </p:txBody>
      </p:sp>
      <p:sp>
        <p:nvSpPr>
          <p:cNvPr id="31747" name="Content Placeholder 2"/>
          <p:cNvSpPr>
            <a:spLocks noGrp="1"/>
          </p:cNvSpPr>
          <p:nvPr>
            <p:ph sz="quarter" idx="1"/>
          </p:nvPr>
        </p:nvSpPr>
        <p:spPr>
          <a:xfrm>
            <a:off x="457200" y="1417638"/>
            <a:ext cx="8229600" cy="5056187"/>
          </a:xfrm>
        </p:spPr>
        <p:txBody>
          <a:bodyPr>
            <a:normAutofit lnSpcReduction="10000"/>
          </a:bodyPr>
          <a:lstStyle/>
          <a:p>
            <a:pPr>
              <a:buFont typeface="Wingdings" panose="05000000000000000000" pitchFamily="2" charset="2"/>
              <a:buChar char="Ø"/>
            </a:pPr>
            <a:r>
              <a:rPr lang="en-US" dirty="0" smtClean="0"/>
              <a:t>The degree to which system user may remain unaware of the details of how and where the data items are stored in a distributed system.</a:t>
            </a:r>
            <a:endParaRPr lang="en-US" sz="2000" dirty="0" smtClean="0"/>
          </a:p>
          <a:p>
            <a:pPr lvl="1"/>
            <a:r>
              <a:rPr lang="en-US" sz="2400" b="1" dirty="0" smtClean="0"/>
              <a:t>Distribution transparency</a:t>
            </a:r>
            <a:r>
              <a:rPr lang="en-US" sz="2400" dirty="0" smtClean="0"/>
              <a:t> Even though there are many systems they appear as one- seen as a single, logical entity. </a:t>
            </a:r>
            <a:endParaRPr lang="en-US" sz="2000" dirty="0" smtClean="0"/>
          </a:p>
          <a:p>
            <a:pPr lvl="1"/>
            <a:r>
              <a:rPr lang="en-US" sz="2400" b="1" dirty="0" smtClean="0"/>
              <a:t>Replication transparency</a:t>
            </a:r>
            <a:r>
              <a:rPr lang="en-US" sz="2400" dirty="0" smtClean="0"/>
              <a:t> Copies of data floating around everywhere also seem like just one copy to the developers and users </a:t>
            </a:r>
            <a:endParaRPr lang="en-US" sz="2000" dirty="0" smtClean="0"/>
          </a:p>
          <a:p>
            <a:pPr lvl="1"/>
            <a:r>
              <a:rPr lang="en-US" sz="2400" b="1" dirty="0" smtClean="0"/>
              <a:t>Fragmentation transparency</a:t>
            </a:r>
            <a:r>
              <a:rPr lang="en-US" sz="2400" dirty="0" smtClean="0"/>
              <a:t> A table that is actually stored in parts everywhere across sites may seem like just a single table in a single</a:t>
            </a:r>
            <a:endParaRPr lang="en-US" sz="2000" dirty="0" smtClean="0"/>
          </a:p>
          <a:p>
            <a:pPr lvl="1"/>
            <a:r>
              <a:rPr lang="en-US" sz="2400" b="1" dirty="0" smtClean="0"/>
              <a:t>Location Transparency-</a:t>
            </a:r>
            <a:r>
              <a:rPr lang="en-US" sz="2400" dirty="0" smtClean="0"/>
              <a:t> the user doesn’t need to know where a data item is physically located. </a:t>
            </a:r>
            <a:endParaRPr lang="en-US" sz="2000" dirty="0" smtClean="0"/>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dirty="0"/>
          </a:p>
        </p:txBody>
      </p:sp>
    </p:spTree>
    <p:extLst>
      <p:ext uri="{BB962C8B-B14F-4D97-AF65-F5344CB8AC3E}">
        <p14:creationId xmlns:p14="http://schemas.microsoft.com/office/powerpoint/2010/main" val="3381730476"/>
      </p:ext>
    </p:extLst>
  </p:cSld>
  <p:clrMapOvr>
    <a:masterClrMapping/>
  </p:clrMapOvr>
  <p:transition spd="slow">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2771" name="Content Placeholder 2"/>
          <p:cNvSpPr>
            <a:spLocks noGrp="1"/>
          </p:cNvSpPr>
          <p:nvPr>
            <p:ph sz="quarter" idx="1"/>
          </p:nvPr>
        </p:nvSpPr>
        <p:spPr>
          <a:xfrm>
            <a:off x="257174" y="1417638"/>
            <a:ext cx="8658225" cy="5059362"/>
          </a:xfrm>
        </p:spPr>
        <p:txBody>
          <a:bodyPr>
            <a:noAutofit/>
          </a:bodyPr>
          <a:lstStyle/>
          <a:p>
            <a:pPr>
              <a:buFont typeface="Wingdings" panose="05000000000000000000" pitchFamily="2" charset="2"/>
              <a:buChar char="Ø"/>
            </a:pPr>
            <a:r>
              <a:rPr lang="en-US" sz="2000" b="1" i="1" dirty="0" smtClean="0"/>
              <a:t>How does it work?</a:t>
            </a:r>
            <a:endParaRPr lang="en-US" sz="2000" dirty="0" smtClean="0"/>
          </a:p>
          <a:p>
            <a:r>
              <a:rPr lang="en-US" sz="1800" dirty="0" smtClean="0"/>
              <a:t>Distributed computing can be difficult to implement, particularly for replicated data that can be updated from many systems. </a:t>
            </a:r>
          </a:p>
          <a:p>
            <a:r>
              <a:rPr lang="en-US" sz="1800" dirty="0" smtClean="0"/>
              <a:t>In order to operate a distributed database system has to take care of:</a:t>
            </a:r>
          </a:p>
          <a:p>
            <a:pPr lvl="1"/>
            <a:r>
              <a:rPr lang="en-US" sz="1800" b="1" dirty="0" smtClean="0"/>
              <a:t>Distributed Query Processing</a:t>
            </a:r>
            <a:r>
              <a:rPr lang="en-US" sz="1800" dirty="0" smtClean="0"/>
              <a:t> </a:t>
            </a:r>
          </a:p>
          <a:p>
            <a:pPr lvl="1"/>
            <a:r>
              <a:rPr lang="en-US" sz="1800" b="1" dirty="0" smtClean="0"/>
              <a:t>Distributed Transaction Management</a:t>
            </a:r>
            <a:r>
              <a:rPr lang="en-US" sz="1800" dirty="0" smtClean="0"/>
              <a:t> </a:t>
            </a:r>
          </a:p>
          <a:p>
            <a:pPr lvl="1"/>
            <a:r>
              <a:rPr lang="en-US" sz="1800" b="1" dirty="0" smtClean="0"/>
              <a:t>Replication Data Management</a:t>
            </a:r>
            <a:r>
              <a:rPr lang="en-US" sz="1800" dirty="0" smtClean="0"/>
              <a:t> If you are going to have copies of data on many machines how often does the data get updated if it is changed in another system? Who is in charge of propagating the update to the data? </a:t>
            </a:r>
          </a:p>
          <a:p>
            <a:pPr lvl="1"/>
            <a:r>
              <a:rPr lang="en-US" sz="1800" b="1" dirty="0" smtClean="0"/>
              <a:t>Distributed Database Recovery</a:t>
            </a:r>
            <a:r>
              <a:rPr lang="en-US" sz="1800" dirty="0" smtClean="0"/>
              <a:t> If one machine goes down how does that affect the others. </a:t>
            </a:r>
          </a:p>
          <a:p>
            <a:pPr lvl="1"/>
            <a:r>
              <a:rPr lang="en-US" sz="1800" b="1" dirty="0" smtClean="0"/>
              <a:t>Security: </a:t>
            </a:r>
            <a:r>
              <a:rPr lang="en-US" sz="1800" dirty="0" smtClean="0"/>
              <a:t>Just like any computer network, a distributed system needs to have a common way to validate users entering from any computer in the network of servers. </a:t>
            </a:r>
          </a:p>
          <a:p>
            <a:pPr lvl="1"/>
            <a:r>
              <a:rPr lang="en-US" sz="1800" b="1" dirty="0" smtClean="0"/>
              <a:t>Common Data-Dictionary</a:t>
            </a:r>
            <a:r>
              <a:rPr lang="en-US" sz="1800" dirty="0" smtClean="0"/>
              <a:t> Your schema now has to be distinguished and work in connection to schemas created on many systems. </a:t>
            </a:r>
          </a:p>
          <a:p>
            <a:endParaRPr lang="en-US" sz="2800" dirty="0" smtClean="0"/>
          </a:p>
        </p:txBody>
      </p:sp>
      <p:sp>
        <p:nvSpPr>
          <p:cNvPr id="3" name="Footer Placeholder 2"/>
          <p:cNvSpPr>
            <a:spLocks noGrp="1"/>
          </p:cNvSpPr>
          <p:nvPr>
            <p:ph type="ftr" sz="quarter" idx="11"/>
          </p:nvPr>
        </p:nvSpPr>
        <p:spPr>
          <a:xfrm>
            <a:off x="685800" y="6343650"/>
            <a:ext cx="4419600" cy="457200"/>
          </a:xfrm>
        </p:spPr>
        <p:txBody>
          <a:bodyPr/>
          <a:lstStyle/>
          <a:p>
            <a:r>
              <a:rPr lang="en-US" dirty="0" smtClean="0"/>
              <a:t>Distributed Database System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dirty="0"/>
          </a:p>
        </p:txBody>
      </p:sp>
    </p:spTree>
    <p:extLst>
      <p:ext uri="{BB962C8B-B14F-4D97-AF65-F5344CB8AC3E}">
        <p14:creationId xmlns:p14="http://schemas.microsoft.com/office/powerpoint/2010/main" val="3588152971"/>
      </p:ext>
    </p:extLst>
  </p:cSld>
  <p:clrMapOvr>
    <a:masterClrMapping/>
  </p:clrMapOvr>
  <p:transition spd="slow">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174038" cy="1066800"/>
          </a:xfrm>
        </p:spPr>
        <p:txBody>
          <a:bodyPr>
            <a:noAutofit/>
          </a:bodyPr>
          <a:lstStyle/>
          <a:p>
            <a:pPr>
              <a:defRPr/>
            </a:pPr>
            <a:r>
              <a:rPr lang="en-US" sz="3200" b="1" dirty="0"/>
              <a:t>Homogeneous and Heterogeneous Distributed Databases</a:t>
            </a:r>
            <a:endParaRPr lang="en-US" sz="3200" dirty="0"/>
          </a:p>
        </p:txBody>
      </p:sp>
      <p:sp>
        <p:nvSpPr>
          <p:cNvPr id="33795" name="Content Placeholder 2"/>
          <p:cNvSpPr>
            <a:spLocks noGrp="1"/>
          </p:cNvSpPr>
          <p:nvPr>
            <p:ph sz="quarter" idx="1"/>
          </p:nvPr>
        </p:nvSpPr>
        <p:spPr>
          <a:xfrm>
            <a:off x="228600" y="1219200"/>
            <a:ext cx="4779962" cy="5181600"/>
          </a:xfrm>
        </p:spPr>
        <p:txBody>
          <a:bodyPr>
            <a:normAutofit lnSpcReduction="10000"/>
          </a:bodyPr>
          <a:lstStyle/>
          <a:p>
            <a:r>
              <a:rPr lang="en-US" sz="2000" b="1" dirty="0" smtClean="0"/>
              <a:t>In a homogeneous distributed database</a:t>
            </a:r>
            <a:endParaRPr lang="en-US" sz="1600" dirty="0" smtClean="0"/>
          </a:p>
          <a:p>
            <a:pPr lvl="1"/>
            <a:r>
              <a:rPr lang="en-US" sz="1800" dirty="0" smtClean="0"/>
              <a:t>Are aware of each other and agree to cooperate in processing user requests.</a:t>
            </a:r>
            <a:endParaRPr lang="en-US" sz="1400" dirty="0" smtClean="0"/>
          </a:p>
          <a:p>
            <a:pPr lvl="1"/>
            <a:r>
              <a:rPr lang="en-US" sz="1800" dirty="0" smtClean="0"/>
              <a:t>Each site surrenders part of its autonomy in terms of right to change schemas or software</a:t>
            </a:r>
            <a:endParaRPr lang="en-US" sz="1400" dirty="0" smtClean="0"/>
          </a:p>
          <a:p>
            <a:pPr lvl="1"/>
            <a:r>
              <a:rPr lang="en-US" sz="1800" dirty="0" smtClean="0"/>
              <a:t>Appears to the user as a single system</a:t>
            </a:r>
          </a:p>
          <a:p>
            <a:pPr lvl="1">
              <a:lnSpc>
                <a:spcPct val="80000"/>
              </a:lnSpc>
            </a:pPr>
            <a:r>
              <a:rPr lang="en-US" sz="2000" dirty="0" smtClean="0"/>
              <a:t>All sites of the database system have identical setup, i.e., same database system software.</a:t>
            </a:r>
          </a:p>
          <a:p>
            <a:pPr lvl="1">
              <a:lnSpc>
                <a:spcPct val="80000"/>
              </a:lnSpc>
            </a:pPr>
            <a:r>
              <a:rPr lang="en-US" sz="2000" dirty="0" smtClean="0"/>
              <a:t>The underlying operating system may be different.</a:t>
            </a:r>
          </a:p>
          <a:p>
            <a:pPr lvl="2">
              <a:lnSpc>
                <a:spcPct val="80000"/>
              </a:lnSpc>
            </a:pPr>
            <a:r>
              <a:rPr lang="en-US" dirty="0" smtClean="0"/>
              <a:t>For example, all sites run Oracle or DB2, or Sybase or some other database system.</a:t>
            </a:r>
          </a:p>
          <a:p>
            <a:pPr lvl="1">
              <a:lnSpc>
                <a:spcPct val="80000"/>
              </a:lnSpc>
            </a:pPr>
            <a:r>
              <a:rPr lang="en-US" sz="2000" dirty="0" smtClean="0"/>
              <a:t>The underlying operating systems can be a mixture of Linux, Window, Unix, etc.</a:t>
            </a:r>
          </a:p>
          <a:p>
            <a:pPr lvl="1"/>
            <a:endParaRPr lang="en-US" sz="2000" dirty="0" smtClean="0"/>
          </a:p>
          <a:p>
            <a:pPr lvl="1"/>
            <a:endParaRPr lang="en-US" sz="1600" dirty="0" smtClean="0"/>
          </a:p>
          <a:p>
            <a:endParaRPr lang="en-US" dirty="0" smtClean="0"/>
          </a:p>
        </p:txBody>
      </p:sp>
      <p:graphicFrame>
        <p:nvGraphicFramePr>
          <p:cNvPr id="33797" name="Object 2"/>
          <p:cNvGraphicFramePr>
            <a:graphicFrameLocks noChangeAspect="1"/>
          </p:cNvGraphicFramePr>
          <p:nvPr>
            <p:extLst>
              <p:ext uri="{D42A27DB-BD31-4B8C-83A1-F6EECF244321}">
                <p14:modId xmlns:p14="http://schemas.microsoft.com/office/powerpoint/2010/main" val="1020666456"/>
              </p:ext>
            </p:extLst>
          </p:nvPr>
        </p:nvGraphicFramePr>
        <p:xfrm>
          <a:off x="5008562" y="1219200"/>
          <a:ext cx="3906838" cy="3276600"/>
        </p:xfrm>
        <a:graphic>
          <a:graphicData uri="http://schemas.openxmlformats.org/presentationml/2006/ole">
            <mc:AlternateContent xmlns:mc="http://schemas.openxmlformats.org/markup-compatibility/2006">
              <mc:Choice xmlns:v="urn:schemas-microsoft-com:vml" Requires="v">
                <p:oleObj spid="_x0000_s1030" name="Visio" r:id="rId3" imgW="4779264" imgH="3095447" progId="Visio.Drawing.11">
                  <p:embed/>
                </p:oleObj>
              </mc:Choice>
              <mc:Fallback>
                <p:oleObj name="Visio" r:id="rId3" imgW="4779264" imgH="3095447"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8562" y="1219200"/>
                        <a:ext cx="3906838"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dirty="0"/>
          </a:p>
        </p:txBody>
      </p:sp>
    </p:spTree>
    <p:extLst>
      <p:ext uri="{BB962C8B-B14F-4D97-AF65-F5344CB8AC3E}">
        <p14:creationId xmlns:p14="http://schemas.microsoft.com/office/powerpoint/2010/main" val="255004135"/>
      </p:ext>
    </p:extLst>
  </p:cSld>
  <p:clrMapOvr>
    <a:masterClrMapping/>
  </p:clrMapOvr>
  <p:transition spd="slow">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4819" name="Content Placeholder 2"/>
          <p:cNvSpPr>
            <a:spLocks noGrp="1"/>
          </p:cNvSpPr>
          <p:nvPr>
            <p:ph sz="quarter" idx="1"/>
          </p:nvPr>
        </p:nvSpPr>
        <p:spPr>
          <a:xfrm>
            <a:off x="381000" y="1417638"/>
            <a:ext cx="4876800" cy="4983161"/>
          </a:xfrm>
        </p:spPr>
        <p:txBody>
          <a:bodyPr>
            <a:noAutofit/>
          </a:bodyPr>
          <a:lstStyle/>
          <a:p>
            <a:pPr>
              <a:buFont typeface="Wingdings" panose="05000000000000000000" pitchFamily="2" charset="2"/>
              <a:buChar char="Ø"/>
            </a:pPr>
            <a:r>
              <a:rPr lang="en-US" sz="2400" b="1" dirty="0" smtClean="0"/>
              <a:t>In a heterogeneous distributed database</a:t>
            </a:r>
            <a:endParaRPr lang="en-US" sz="1600" dirty="0" smtClean="0"/>
          </a:p>
          <a:p>
            <a:pPr lvl="1"/>
            <a:r>
              <a:rPr lang="en-US" sz="2000" dirty="0" smtClean="0"/>
              <a:t>Different sites may use different schemas and software (DBMS)</a:t>
            </a:r>
            <a:endParaRPr lang="en-US" sz="1800" dirty="0" smtClean="0"/>
          </a:p>
          <a:p>
            <a:pPr marL="855663" lvl="3"/>
            <a:r>
              <a:rPr lang="en-US" dirty="0" smtClean="0"/>
              <a:t>Difference in schema is a major problem for query processing</a:t>
            </a:r>
            <a:endParaRPr lang="en-US" sz="1600" dirty="0" smtClean="0"/>
          </a:p>
          <a:p>
            <a:pPr marL="855663" lvl="3"/>
            <a:r>
              <a:rPr lang="en-US" dirty="0" smtClean="0"/>
              <a:t>Difference in software is a major problem for transaction processing</a:t>
            </a:r>
            <a:endParaRPr lang="en-US" sz="1600" dirty="0" smtClean="0"/>
          </a:p>
          <a:p>
            <a:pPr lvl="1"/>
            <a:r>
              <a:rPr lang="en-US" sz="2000" dirty="0" smtClean="0"/>
              <a:t>Sites may not be aware of each other and may provide only limited facilities for cooperation in transaction processing.</a:t>
            </a:r>
            <a:endParaRPr lang="en-US" sz="1800" dirty="0" smtClean="0"/>
          </a:p>
          <a:p>
            <a:pPr lvl="1"/>
            <a:r>
              <a:rPr lang="en-US" sz="2000" dirty="0" smtClean="0"/>
              <a:t>May need </a:t>
            </a:r>
            <a:r>
              <a:rPr lang="en-US" sz="2000" b="1" i="1" dirty="0" smtClean="0"/>
              <a:t>gateways</a:t>
            </a:r>
            <a:r>
              <a:rPr lang="en-US" sz="2000" dirty="0" smtClean="0"/>
              <a:t> to interface one another.</a:t>
            </a:r>
            <a:endParaRPr lang="en-US" sz="1800" dirty="0" smtClean="0"/>
          </a:p>
          <a:p>
            <a:endParaRPr lang="en-US" sz="2800" dirty="0" smtClean="0"/>
          </a:p>
        </p:txBody>
      </p:sp>
      <p:graphicFrame>
        <p:nvGraphicFramePr>
          <p:cNvPr id="34821" name="Object 2"/>
          <p:cNvGraphicFramePr>
            <a:graphicFrameLocks noChangeAspect="1"/>
          </p:cNvGraphicFramePr>
          <p:nvPr>
            <p:extLst>
              <p:ext uri="{D42A27DB-BD31-4B8C-83A1-F6EECF244321}">
                <p14:modId xmlns:p14="http://schemas.microsoft.com/office/powerpoint/2010/main" val="2912566507"/>
              </p:ext>
            </p:extLst>
          </p:nvPr>
        </p:nvGraphicFramePr>
        <p:xfrm>
          <a:off x="5105400" y="2057400"/>
          <a:ext cx="3810000" cy="2820213"/>
        </p:xfrm>
        <a:graphic>
          <a:graphicData uri="http://schemas.openxmlformats.org/presentationml/2006/ole">
            <mc:AlternateContent xmlns:mc="http://schemas.openxmlformats.org/markup-compatibility/2006">
              <mc:Choice xmlns:v="urn:schemas-microsoft-com:vml" Requires="v">
                <p:oleObj spid="_x0000_s2054" name="Visio" r:id="rId3" imgW="5484052" imgH="3124275" progId="Visio.Drawing.11">
                  <p:embed/>
                </p:oleObj>
              </mc:Choice>
              <mc:Fallback>
                <p:oleObj name="Visio" r:id="rId3" imgW="5484052" imgH="312427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2057400"/>
                        <a:ext cx="3810000" cy="2820213"/>
                      </a:xfrm>
                      <a:prstGeom prst="rect">
                        <a:avLst/>
                      </a:prstGeom>
                      <a:noFill/>
                      <a:ln>
                        <a:noFill/>
                      </a:ln>
                    </p:spPr>
                  </p:pic>
                </p:oleObj>
              </mc:Fallback>
            </mc:AlternateContent>
          </a:graphicData>
        </a:graphic>
      </p:graphicFrame>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dirty="0"/>
          </a:p>
        </p:txBody>
      </p:sp>
    </p:spTree>
    <p:extLst>
      <p:ext uri="{BB962C8B-B14F-4D97-AF65-F5344CB8AC3E}">
        <p14:creationId xmlns:p14="http://schemas.microsoft.com/office/powerpoint/2010/main" val="1616867972"/>
      </p:ext>
    </p:extLst>
  </p:cSld>
  <p:clrMapOvr>
    <a:masterClrMapping/>
  </p:clrMapOvr>
  <p:transition spd="slow">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534400" cy="1112838"/>
          </a:xfrm>
        </p:spPr>
        <p:txBody>
          <a:bodyPr/>
          <a:lstStyle/>
          <a:p>
            <a:pPr>
              <a:defRPr/>
            </a:pPr>
            <a:r>
              <a:rPr lang="en-US" b="1" i="1" dirty="0"/>
              <a:t>Why </a:t>
            </a:r>
            <a:r>
              <a:rPr lang="en-US" b="1" i="1" dirty="0" smtClean="0"/>
              <a:t>DDBMS/Advantages</a:t>
            </a:r>
            <a:endParaRPr lang="en-US" dirty="0"/>
          </a:p>
        </p:txBody>
      </p:sp>
      <p:sp>
        <p:nvSpPr>
          <p:cNvPr id="35843" name="Content Placeholder 2"/>
          <p:cNvSpPr>
            <a:spLocks noGrp="1"/>
          </p:cNvSpPr>
          <p:nvPr>
            <p:ph sz="quarter" idx="1"/>
          </p:nvPr>
        </p:nvSpPr>
        <p:spPr>
          <a:xfrm>
            <a:off x="457200" y="1189038"/>
            <a:ext cx="8458200" cy="5668962"/>
          </a:xfrm>
        </p:spPr>
        <p:txBody>
          <a:bodyPr/>
          <a:lstStyle/>
          <a:p>
            <a:r>
              <a:rPr lang="en-US" sz="1800" b="1" dirty="0" smtClean="0"/>
              <a:t>Many existing systems</a:t>
            </a:r>
            <a:endParaRPr lang="en-US" sz="1800" dirty="0" smtClean="0"/>
          </a:p>
          <a:p>
            <a:pPr lvl="1"/>
            <a:r>
              <a:rPr lang="en-US" sz="1600" dirty="0" smtClean="0"/>
              <a:t>Possibly there are many different existing system, with possible different kinds of systems (Oracle, Informix, others) that need to be used together.</a:t>
            </a:r>
          </a:p>
          <a:p>
            <a:r>
              <a:rPr lang="en-US" sz="1800" b="1" dirty="0" smtClean="0"/>
              <a:t>Data sharing and distributed control:</a:t>
            </a:r>
            <a:endParaRPr lang="en-US" sz="1800" dirty="0" smtClean="0"/>
          </a:p>
          <a:p>
            <a:pPr lvl="1"/>
            <a:r>
              <a:rPr lang="en-US" sz="1600" dirty="0" smtClean="0"/>
              <a:t>User at one site may be able access data that is available at another site.</a:t>
            </a:r>
          </a:p>
          <a:p>
            <a:pPr lvl="1"/>
            <a:r>
              <a:rPr lang="en-US" sz="1600" dirty="0" smtClean="0"/>
              <a:t>Each site can retain some degree of control over local data</a:t>
            </a:r>
          </a:p>
          <a:p>
            <a:pPr lvl="1"/>
            <a:r>
              <a:rPr lang="en-US" sz="1600" dirty="0" smtClean="0"/>
              <a:t>We will have local as well as global database administrator</a:t>
            </a:r>
          </a:p>
          <a:p>
            <a:r>
              <a:rPr lang="en-US" sz="1800" b="1" dirty="0" smtClean="0"/>
              <a:t>Reliability and availability of data</a:t>
            </a:r>
            <a:endParaRPr lang="en-US" sz="1800" dirty="0" smtClean="0"/>
          </a:p>
          <a:p>
            <a:pPr lvl="1"/>
            <a:r>
              <a:rPr lang="en-US" sz="1600" dirty="0" smtClean="0"/>
              <a:t>If one site fails the rest can continue operation as long as transaction does not demand data from the failed system and the data is not replicated in other sites</a:t>
            </a:r>
          </a:p>
          <a:p>
            <a:r>
              <a:rPr lang="en-US" sz="1800" b="1" dirty="0" smtClean="0"/>
              <a:t>Speedup of query processing</a:t>
            </a:r>
            <a:endParaRPr lang="en-US" sz="1800" dirty="0" smtClean="0"/>
          </a:p>
          <a:p>
            <a:pPr lvl="1"/>
            <a:r>
              <a:rPr lang="en-US" sz="1600" dirty="0" smtClean="0"/>
              <a:t>If a query involves data from several sites, it may be possible to split the query into sub-queries that can be executed at several sites which is parallel processing</a:t>
            </a:r>
          </a:p>
          <a:p>
            <a:pPr lvl="1"/>
            <a:r>
              <a:rPr lang="en-US" sz="1600" dirty="0" smtClean="0"/>
              <a:t>Query can be sent to the least heavily loaded sites</a:t>
            </a:r>
          </a:p>
          <a:p>
            <a:pPr lvl="1"/>
            <a:r>
              <a:rPr lang="en-US" sz="1600" b="1" dirty="0" smtClean="0"/>
              <a:t> Expansion </a:t>
            </a:r>
            <a:r>
              <a:rPr lang="en-US" sz="1600" dirty="0" smtClean="0"/>
              <a:t>(Scalability)</a:t>
            </a:r>
          </a:p>
          <a:p>
            <a:pPr lvl="1"/>
            <a:r>
              <a:rPr lang="en-US" sz="1600" dirty="0" smtClean="0"/>
              <a:t>In a distributed environment you can easily </a:t>
            </a:r>
            <a:r>
              <a:rPr lang="en-US" sz="2000" dirty="0" smtClean="0"/>
              <a:t>expand by adding more machines to the network.</a:t>
            </a:r>
          </a:p>
          <a:p>
            <a:endParaRPr lang="en-US" sz="2000" dirty="0" smtClean="0"/>
          </a:p>
        </p:txBody>
      </p:sp>
      <p:sp>
        <p:nvSpPr>
          <p:cNvPr id="3" name="Footer Placeholder 2"/>
          <p:cNvSpPr>
            <a:spLocks noGrp="1"/>
          </p:cNvSpPr>
          <p:nvPr>
            <p:ph type="ftr" sz="quarter" idx="11"/>
          </p:nvPr>
        </p:nvSpPr>
        <p:spPr>
          <a:xfrm>
            <a:off x="609600" y="6400800"/>
            <a:ext cx="4419600" cy="457200"/>
          </a:xfrm>
        </p:spPr>
        <p:txBody>
          <a:bodyPr/>
          <a:lstStyle/>
          <a:p>
            <a:r>
              <a:rPr lang="en-US" dirty="0" smtClean="0"/>
              <a:t>Distributed Database System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dirty="0"/>
          </a:p>
        </p:txBody>
      </p:sp>
    </p:spTree>
    <p:extLst>
      <p:ext uri="{BB962C8B-B14F-4D97-AF65-F5344CB8AC3E}">
        <p14:creationId xmlns:p14="http://schemas.microsoft.com/office/powerpoint/2010/main" val="2060382997"/>
      </p:ext>
    </p:extLst>
  </p:cSld>
  <p:clrMapOvr>
    <a:masterClrMapping/>
  </p:clrMapOvr>
  <p:transition spd="slow">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i="1" dirty="0"/>
              <a:t>Disadvantages of DDBMS</a:t>
            </a:r>
            <a:endParaRPr lang="en-US" dirty="0"/>
          </a:p>
        </p:txBody>
      </p:sp>
      <p:sp>
        <p:nvSpPr>
          <p:cNvPr id="3" name="Content Placeholder 2"/>
          <p:cNvSpPr>
            <a:spLocks noGrp="1"/>
          </p:cNvSpPr>
          <p:nvPr>
            <p:ph sz="quarter" idx="1"/>
          </p:nvPr>
        </p:nvSpPr>
        <p:spPr>
          <a:xfrm>
            <a:off x="457200" y="1417638"/>
            <a:ext cx="8229600" cy="5287962"/>
          </a:xfrm>
        </p:spPr>
        <p:txBody>
          <a:bodyPr/>
          <a:lstStyle/>
          <a:p>
            <a:pPr marL="457200" indent="-457200">
              <a:buFont typeface="+mj-lt"/>
              <a:buAutoNum type="arabicPeriod"/>
              <a:defRPr/>
            </a:pPr>
            <a:r>
              <a:rPr lang="en-US" sz="2000" b="1" dirty="0"/>
              <a:t>Software Development Cost</a:t>
            </a:r>
            <a:endParaRPr lang="en-US" sz="2000" dirty="0"/>
          </a:p>
          <a:p>
            <a:pPr lvl="1">
              <a:defRPr/>
            </a:pPr>
            <a:r>
              <a:rPr lang="en-US" sz="2000" dirty="0"/>
              <a:t>Is difficult to install, thus is costly</a:t>
            </a:r>
          </a:p>
          <a:p>
            <a:pPr marL="457200" indent="-457200">
              <a:buFont typeface="+mj-lt"/>
              <a:buAutoNum type="arabicPeriod"/>
              <a:defRPr/>
            </a:pPr>
            <a:r>
              <a:rPr lang="en-US" sz="2000" b="1" dirty="0"/>
              <a:t>Greater Potential for Bugs </a:t>
            </a:r>
            <a:endParaRPr lang="en-US" sz="2000" dirty="0"/>
          </a:p>
          <a:p>
            <a:pPr lvl="1">
              <a:defRPr/>
            </a:pPr>
            <a:r>
              <a:rPr lang="en-US" sz="2000" dirty="0"/>
              <a:t>Parallel processing may endanger correctness of algorithms</a:t>
            </a:r>
          </a:p>
          <a:p>
            <a:pPr marL="457200" indent="-457200">
              <a:buFont typeface="+mj-lt"/>
              <a:buAutoNum type="arabicPeriod"/>
              <a:defRPr/>
            </a:pPr>
            <a:r>
              <a:rPr lang="en-US" sz="2000" b="1" dirty="0"/>
              <a:t>Increased Processing Overhead </a:t>
            </a:r>
            <a:endParaRPr lang="en-US" sz="2000" dirty="0"/>
          </a:p>
          <a:p>
            <a:pPr lvl="1">
              <a:defRPr/>
            </a:pPr>
            <a:r>
              <a:rPr lang="en-US" sz="2000" dirty="0"/>
              <a:t>Exchange of message between sites – high communication latency</a:t>
            </a:r>
          </a:p>
          <a:p>
            <a:pPr lvl="1">
              <a:defRPr/>
            </a:pPr>
            <a:r>
              <a:rPr lang="en-US" sz="2000" dirty="0"/>
              <a:t>Due to communication jargons</a:t>
            </a:r>
          </a:p>
          <a:p>
            <a:pPr marL="457200" indent="-457200">
              <a:buFont typeface="+mj-lt"/>
              <a:buAutoNum type="arabicPeriod"/>
              <a:defRPr/>
            </a:pPr>
            <a:r>
              <a:rPr lang="en-US" sz="2000" b="1" dirty="0"/>
              <a:t>Communication problems</a:t>
            </a:r>
            <a:endParaRPr lang="en-US" sz="2000" dirty="0"/>
          </a:p>
          <a:p>
            <a:pPr marL="457200" indent="-457200">
              <a:buFont typeface="+mj-lt"/>
              <a:buAutoNum type="arabicPeriod"/>
              <a:defRPr/>
            </a:pPr>
            <a:r>
              <a:rPr lang="en-US" sz="2000" b="1" dirty="0"/>
              <a:t>Increased Complexity and  Data Inconsistency Problems</a:t>
            </a:r>
            <a:endParaRPr lang="en-US" sz="2000" dirty="0"/>
          </a:p>
          <a:p>
            <a:pPr lvl="1">
              <a:defRPr/>
            </a:pPr>
            <a:r>
              <a:rPr lang="en-US" sz="2000" dirty="0"/>
              <a:t>Since clients can read and modify closely related data stored in different database instances concurrently.</a:t>
            </a:r>
          </a:p>
          <a:p>
            <a:pPr marL="457200" indent="-457200">
              <a:buFont typeface="+mj-lt"/>
              <a:buAutoNum type="arabicPeriod"/>
              <a:defRPr/>
            </a:pPr>
            <a:r>
              <a:rPr lang="en-US" sz="2000" b="1" dirty="0"/>
              <a:t>Security Problems: </a:t>
            </a:r>
            <a:r>
              <a:rPr lang="en-US" sz="2000" dirty="0"/>
              <a:t>network and replicated data security.</a:t>
            </a:r>
          </a:p>
          <a:p>
            <a:pPr>
              <a:defRPr/>
            </a:pPr>
            <a:endParaRPr lang="en-US" dirty="0"/>
          </a:p>
        </p:txBody>
      </p:sp>
      <p:sp>
        <p:nvSpPr>
          <p:cNvPr id="4" name="Footer Placeholder 3"/>
          <p:cNvSpPr>
            <a:spLocks noGrp="1"/>
          </p:cNvSpPr>
          <p:nvPr>
            <p:ph type="ftr" sz="quarter" idx="11"/>
          </p:nvPr>
        </p:nvSpPr>
        <p:spPr/>
        <p:txBody>
          <a:bodyPr/>
          <a:lstStyle/>
          <a:p>
            <a:r>
              <a:rPr lang="en-US" smtClean="0"/>
              <a:t>Distributed Database System</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dirty="0"/>
          </a:p>
        </p:txBody>
      </p:sp>
    </p:spTree>
    <p:extLst>
      <p:ext uri="{BB962C8B-B14F-4D97-AF65-F5344CB8AC3E}">
        <p14:creationId xmlns:p14="http://schemas.microsoft.com/office/powerpoint/2010/main" val="2764296052"/>
      </p:ext>
    </p:extLst>
  </p:cSld>
  <p:clrMapOvr>
    <a:masterClrMapping/>
  </p:clrMapOvr>
  <p:transition spd="slow">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610600" cy="1143000"/>
          </a:xfrm>
        </p:spPr>
        <p:txBody>
          <a:bodyPr>
            <a:noAutofit/>
          </a:bodyPr>
          <a:lstStyle/>
          <a:p>
            <a:pPr>
              <a:defRPr/>
            </a:pPr>
            <a:r>
              <a:rPr lang="en-US" sz="3200" b="1" dirty="0"/>
              <a:t>Query Processing and Transaction Management in </a:t>
            </a:r>
            <a:r>
              <a:rPr lang="en-US" sz="3200" b="1" dirty="0" smtClean="0"/>
              <a:t>DDBMS</a:t>
            </a:r>
            <a:endParaRPr lang="en-US" sz="3200" dirty="0"/>
          </a:p>
        </p:txBody>
      </p:sp>
      <p:sp>
        <p:nvSpPr>
          <p:cNvPr id="3" name="Content Placeholder 2"/>
          <p:cNvSpPr>
            <a:spLocks noGrp="1"/>
          </p:cNvSpPr>
          <p:nvPr>
            <p:ph sz="quarter" idx="1"/>
          </p:nvPr>
        </p:nvSpPr>
        <p:spPr>
          <a:xfrm>
            <a:off x="457200" y="1371600"/>
            <a:ext cx="8229600" cy="5102225"/>
          </a:xfrm>
        </p:spPr>
        <p:txBody>
          <a:bodyPr/>
          <a:lstStyle/>
          <a:p>
            <a:pPr marL="0" indent="0">
              <a:buFont typeface="Wingdings" panose="05000000000000000000" pitchFamily="2" charset="2"/>
              <a:buNone/>
              <a:defRPr/>
            </a:pPr>
            <a:r>
              <a:rPr lang="en-US" b="1" dirty="0"/>
              <a:t>Query Processing</a:t>
            </a:r>
            <a:endParaRPr lang="en-US" dirty="0"/>
          </a:p>
          <a:p>
            <a:pPr>
              <a:defRPr/>
            </a:pPr>
            <a:r>
              <a:rPr lang="en-US" dirty="0"/>
              <a:t>There are different strategies to process a specific query, which in turn increase the performance of the system by minimizing processing time and cost. </a:t>
            </a:r>
            <a:endParaRPr lang="en-US" dirty="0" smtClean="0"/>
          </a:p>
          <a:p>
            <a:pPr>
              <a:defRPr/>
            </a:pPr>
            <a:r>
              <a:rPr lang="en-US" dirty="0" smtClean="0"/>
              <a:t>In </a:t>
            </a:r>
            <a:r>
              <a:rPr lang="en-US" dirty="0"/>
              <a:t>addition to the cost estimates we have for a centralized database (disk access, relation size, </a:t>
            </a:r>
            <a:r>
              <a:rPr lang="en-US" dirty="0" err="1"/>
              <a:t>etc</a:t>
            </a:r>
            <a:r>
              <a:rPr lang="en-US" dirty="0"/>
              <a:t>), we have to consider the following in distributed query processing:</a:t>
            </a:r>
          </a:p>
          <a:p>
            <a:pPr lvl="1">
              <a:defRPr/>
            </a:pPr>
            <a:r>
              <a:rPr lang="en-US" dirty="0"/>
              <a:t>Cost of data transmission over the huge network</a:t>
            </a:r>
          </a:p>
          <a:p>
            <a:pPr lvl="1">
              <a:defRPr/>
            </a:pPr>
            <a:r>
              <a:rPr lang="en-US" dirty="0"/>
              <a:t>Gain of parallel processing of a single query</a:t>
            </a:r>
          </a:p>
          <a:p>
            <a:pPr>
              <a:defRPr/>
            </a:pPr>
            <a:endParaRPr lang="en-US" dirty="0"/>
          </a:p>
        </p:txBody>
      </p:sp>
      <p:sp>
        <p:nvSpPr>
          <p:cNvPr id="4" name="Footer Placeholder 3"/>
          <p:cNvSpPr>
            <a:spLocks noGrp="1"/>
          </p:cNvSpPr>
          <p:nvPr>
            <p:ph type="ftr" sz="quarter" idx="11"/>
          </p:nvPr>
        </p:nvSpPr>
        <p:spPr/>
        <p:txBody>
          <a:bodyPr/>
          <a:lstStyle/>
          <a:p>
            <a:r>
              <a:rPr lang="en-US" smtClean="0"/>
              <a:t>Distributed Database System</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dirty="0"/>
          </a:p>
        </p:txBody>
      </p:sp>
    </p:spTree>
    <p:extLst>
      <p:ext uri="{BB962C8B-B14F-4D97-AF65-F5344CB8AC3E}">
        <p14:creationId xmlns:p14="http://schemas.microsoft.com/office/powerpoint/2010/main" val="3990606564"/>
      </p:ext>
    </p:extLst>
  </p:cSld>
  <p:clrMapOvr>
    <a:masterClrMapping/>
  </p:clrMapOvr>
  <p:transition spd="slow">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8915" name="Content Placeholder 2"/>
          <p:cNvSpPr>
            <a:spLocks noGrp="1"/>
          </p:cNvSpPr>
          <p:nvPr>
            <p:ph sz="quarter" idx="1"/>
          </p:nvPr>
        </p:nvSpPr>
        <p:spPr>
          <a:xfrm>
            <a:off x="457200" y="1417639"/>
            <a:ext cx="8305800" cy="4906962"/>
          </a:xfrm>
        </p:spPr>
        <p:txBody>
          <a:bodyPr/>
          <a:lstStyle/>
          <a:p>
            <a:r>
              <a:rPr lang="en-US" sz="2100" dirty="0" smtClean="0"/>
              <a:t>Let the distributed database has three sites (S1, S2, and S3). And two relations, EMPLOYEE and DEPARTMENT are located at S1 and S2 respectively without any fragmentation.  And a query is initiated from S3 to retrieve employees [First Name (15 byte long), Last name (15 byte long) and Department name (10 byte long) total of 40 bytes with the department they are working in.</a:t>
            </a:r>
          </a:p>
          <a:p>
            <a:r>
              <a:rPr lang="en-US" sz="2100" dirty="0" smtClean="0"/>
              <a:t>Let: </a:t>
            </a:r>
          </a:p>
          <a:p>
            <a:r>
              <a:rPr lang="en-US" sz="2100" dirty="0" smtClean="0"/>
              <a:t>For EMPLOYEE we have the following information</a:t>
            </a:r>
          </a:p>
          <a:p>
            <a:pPr marL="823913" lvl="1" indent="-457200">
              <a:buFont typeface="Century Schoolbook" panose="02040604050505020304" pitchFamily="18" charset="0"/>
              <a:buAutoNum type="arabicPeriod"/>
            </a:pPr>
            <a:r>
              <a:rPr lang="en-US" dirty="0" smtClean="0"/>
              <a:t>10,000 records</a:t>
            </a:r>
          </a:p>
          <a:p>
            <a:pPr marL="823913" lvl="1" indent="-457200">
              <a:buFont typeface="Century Schoolbook" panose="02040604050505020304" pitchFamily="18" charset="0"/>
              <a:buAutoNum type="arabicPeriod"/>
            </a:pPr>
            <a:r>
              <a:rPr lang="en-US" dirty="0" smtClean="0"/>
              <a:t>each record is 100 bytes long</a:t>
            </a:r>
          </a:p>
          <a:p>
            <a:r>
              <a:rPr lang="en-US" sz="2100" dirty="0" smtClean="0"/>
              <a:t>For DEPARTMENT we have the following information</a:t>
            </a:r>
          </a:p>
          <a:p>
            <a:pPr marL="823913" lvl="1" indent="-457200">
              <a:buFont typeface="Century Schoolbook" panose="02040604050505020304" pitchFamily="18" charset="0"/>
              <a:buAutoNum type="arabicPeriod"/>
            </a:pPr>
            <a:r>
              <a:rPr lang="en-US" dirty="0" smtClean="0"/>
              <a:t>100 records</a:t>
            </a:r>
          </a:p>
          <a:p>
            <a:pPr marL="823913" lvl="1" indent="-457200">
              <a:buFont typeface="Century Schoolbook" panose="02040604050505020304" pitchFamily="18" charset="0"/>
              <a:buAutoNum type="arabicPeriod"/>
            </a:pPr>
            <a:r>
              <a:rPr lang="en-US" dirty="0" smtClean="0"/>
              <a:t>each record is 35 bytes long</a:t>
            </a:r>
          </a:p>
          <a:p>
            <a:pPr marL="823913" lvl="1" indent="-457200">
              <a:buFont typeface="Century Schoolbook" panose="02040604050505020304" pitchFamily="18" charset="0"/>
              <a:buAutoNum type="arabicPeriod"/>
            </a:pPr>
            <a:endParaRPr lang="en-US" dirty="0" smtClean="0"/>
          </a:p>
        </p:txBody>
      </p:sp>
      <p:sp>
        <p:nvSpPr>
          <p:cNvPr id="3" name="Footer Placeholder 2"/>
          <p:cNvSpPr>
            <a:spLocks noGrp="1"/>
          </p:cNvSpPr>
          <p:nvPr>
            <p:ph type="ftr" sz="quarter" idx="11"/>
          </p:nvPr>
        </p:nvSpPr>
        <p:spPr>
          <a:xfrm>
            <a:off x="838200" y="6270523"/>
            <a:ext cx="4419600" cy="457200"/>
          </a:xfrm>
        </p:spPr>
        <p:txBody>
          <a:bodyPr/>
          <a:lstStyle/>
          <a:p>
            <a:r>
              <a:rPr lang="en-US" dirty="0" smtClean="0"/>
              <a:t>Distributed Database System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dirty="0"/>
          </a:p>
        </p:txBody>
      </p:sp>
    </p:spTree>
    <p:extLst>
      <p:ext uri="{BB962C8B-B14F-4D97-AF65-F5344CB8AC3E}">
        <p14:creationId xmlns:p14="http://schemas.microsoft.com/office/powerpoint/2010/main" val="2023576894"/>
      </p:ext>
    </p:extLst>
  </p:cSld>
  <p:clrMapOvr>
    <a:masterClrMapping/>
  </p:clrMapOvr>
  <p:transition spd="slow">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9939" name="Content Placeholder 2"/>
          <p:cNvSpPr>
            <a:spLocks noGrp="1"/>
          </p:cNvSpPr>
          <p:nvPr>
            <p:ph sz="quarter" idx="1"/>
          </p:nvPr>
        </p:nvSpPr>
        <p:spPr>
          <a:xfrm>
            <a:off x="457200" y="1417638"/>
            <a:ext cx="8305800" cy="5440362"/>
          </a:xfrm>
        </p:spPr>
        <p:txBody>
          <a:bodyPr/>
          <a:lstStyle/>
          <a:p>
            <a:r>
              <a:rPr lang="en-US" dirty="0" smtClean="0"/>
              <a:t>There are three ways of executing this query:</a:t>
            </a:r>
          </a:p>
          <a:p>
            <a:pPr marL="823913" lvl="1" indent="-457200">
              <a:buFont typeface="Century Schoolbook" panose="02040604050505020304" pitchFamily="18" charset="0"/>
              <a:buAutoNum type="arabicPeriod"/>
            </a:pPr>
            <a:r>
              <a:rPr lang="en-US" sz="2000" dirty="0" smtClean="0"/>
              <a:t>Transfer DEPARTMENT and EMPLOYEE to S3 and perform the join there: needs transfer of 10,000*100+100*35=1,003,500 byte.</a:t>
            </a:r>
          </a:p>
          <a:p>
            <a:pPr marL="823913" lvl="1" indent="-457200">
              <a:buFont typeface="Century Schoolbook" panose="02040604050505020304" pitchFamily="18" charset="0"/>
              <a:buAutoNum type="arabicPeriod"/>
            </a:pPr>
            <a:r>
              <a:rPr lang="en-US" sz="2000" dirty="0" smtClean="0"/>
              <a:t>Transfer the DEPARTMENT to S1, perform the join there which will have 40*10,000 = 400,000 bytes and transfer the result to S3. we need 1,000,000+400,000=1,400,000 byte to be transferred</a:t>
            </a:r>
          </a:p>
          <a:p>
            <a:pPr marL="823913" lvl="1" indent="-457200">
              <a:buFont typeface="Century Schoolbook" panose="02040604050505020304" pitchFamily="18" charset="0"/>
              <a:buAutoNum type="arabicPeriod"/>
            </a:pPr>
            <a:r>
              <a:rPr lang="en-US" sz="2000" dirty="0" smtClean="0"/>
              <a:t>Transfer the EMPLOYEE to S2, perform the join there which will have 40*10,000 = 400,000 bytes and transfer the result to S3. We need 3,500+400,000=403,500 byte to be transferred.</a:t>
            </a:r>
          </a:p>
          <a:p>
            <a:r>
              <a:rPr lang="en-US" sz="2300" dirty="0" smtClean="0"/>
              <a:t>Then one can select the strategy that will reduce the data transfer cost for this specific query. </a:t>
            </a:r>
          </a:p>
          <a:p>
            <a:r>
              <a:rPr lang="en-US" sz="2300" dirty="0" smtClean="0"/>
              <a:t>Other steps of optimization may also be included to make the processing more efficient by </a:t>
            </a:r>
            <a:r>
              <a:rPr lang="en-US" sz="2300" i="1" dirty="0" smtClean="0"/>
              <a:t>reducing the size of the relations using projection</a:t>
            </a:r>
            <a:r>
              <a:rPr lang="en-US" sz="2300" dirty="0" smtClean="0"/>
              <a:t>.</a:t>
            </a:r>
          </a:p>
          <a:p>
            <a:endParaRPr lang="en-US" sz="2000" dirty="0" smtClean="0"/>
          </a:p>
        </p:txBody>
      </p:sp>
      <p:sp>
        <p:nvSpPr>
          <p:cNvPr id="3" name="Footer Placeholder 2"/>
          <p:cNvSpPr>
            <a:spLocks noGrp="1"/>
          </p:cNvSpPr>
          <p:nvPr>
            <p:ph type="ftr" sz="quarter" idx="11"/>
          </p:nvPr>
        </p:nvSpPr>
        <p:spPr>
          <a:xfrm>
            <a:off x="914400" y="6400800"/>
            <a:ext cx="4419600" cy="457200"/>
          </a:xfrm>
        </p:spPr>
        <p:txBody>
          <a:bodyPr/>
          <a:lstStyle/>
          <a:p>
            <a:r>
              <a:rPr lang="en-US" dirty="0" smtClean="0"/>
              <a:t>Distributed Database System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dirty="0"/>
          </a:p>
        </p:txBody>
      </p:sp>
    </p:spTree>
    <p:extLst>
      <p:ext uri="{BB962C8B-B14F-4D97-AF65-F5344CB8AC3E}">
        <p14:creationId xmlns:p14="http://schemas.microsoft.com/office/powerpoint/2010/main" val="1231972764"/>
      </p:ext>
    </p:extLst>
  </p:cSld>
  <p:clrMapOvr>
    <a:masterClrMapping/>
  </p:clrMapOvr>
  <p:transition spd="slow">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Transaction </a:t>
            </a:r>
            <a:r>
              <a:rPr lang="en-US" b="1" dirty="0" smtClean="0"/>
              <a:t>Management</a:t>
            </a:r>
            <a:endParaRPr lang="en-US" dirty="0"/>
          </a:p>
        </p:txBody>
      </p:sp>
      <p:sp>
        <p:nvSpPr>
          <p:cNvPr id="40963" name="Content Placeholder 2"/>
          <p:cNvSpPr>
            <a:spLocks noGrp="1"/>
          </p:cNvSpPr>
          <p:nvPr>
            <p:ph sz="quarter" idx="1"/>
          </p:nvPr>
        </p:nvSpPr>
        <p:spPr>
          <a:xfrm>
            <a:off x="457200" y="1417638"/>
            <a:ext cx="8458200" cy="5056187"/>
          </a:xfrm>
        </p:spPr>
        <p:txBody>
          <a:bodyPr/>
          <a:lstStyle/>
          <a:p>
            <a:r>
              <a:rPr lang="en-US" dirty="0" smtClean="0"/>
              <a:t>Transaction is a logical unit of work constituted by one or more operations executed by a single user.</a:t>
            </a:r>
          </a:p>
          <a:p>
            <a:r>
              <a:rPr lang="en-US" dirty="0" smtClean="0"/>
              <a:t> A transaction begins with the user's first executable query statement and ends when it is committed or rolled back.</a:t>
            </a:r>
          </a:p>
          <a:p>
            <a:r>
              <a:rPr lang="en-US" dirty="0" smtClean="0"/>
              <a:t>A </a:t>
            </a:r>
            <a:r>
              <a:rPr lang="en-US" b="1" dirty="0" smtClean="0"/>
              <a:t>Distributed Transaction</a:t>
            </a:r>
            <a:r>
              <a:rPr lang="en-US" dirty="0" smtClean="0"/>
              <a:t> is a transaction that includes one or more statements that, individually or as a group, update data on two or more distinct nodes of a distributed database.</a:t>
            </a:r>
          </a:p>
          <a:p>
            <a:r>
              <a:rPr lang="en-US" b="1" dirty="0" smtClean="0"/>
              <a:t>Representation of Query in Distributed Database</a:t>
            </a:r>
            <a:endParaRPr lang="en-US" dirty="0" smtClean="0"/>
          </a:p>
          <a:p>
            <a:endParaRPr lang="en-US" dirty="0" smtClean="0"/>
          </a:p>
        </p:txBody>
      </p:sp>
      <p:graphicFrame>
        <p:nvGraphicFramePr>
          <p:cNvPr id="6" name="Table 5"/>
          <p:cNvGraphicFramePr>
            <a:graphicFrameLocks noGrp="1"/>
          </p:cNvGraphicFramePr>
          <p:nvPr>
            <p:extLst>
              <p:ext uri="{D42A27DB-BD31-4B8C-83A1-F6EECF244321}">
                <p14:modId xmlns:p14="http://schemas.microsoft.com/office/powerpoint/2010/main" val="3632617442"/>
              </p:ext>
            </p:extLst>
          </p:nvPr>
        </p:nvGraphicFramePr>
        <p:xfrm>
          <a:off x="762000" y="5487352"/>
          <a:ext cx="7232650" cy="684848"/>
        </p:xfrm>
        <a:graphic>
          <a:graphicData uri="http://schemas.openxmlformats.org/drawingml/2006/table">
            <a:tbl>
              <a:tblPr firstRow="1" firstCol="1" lastRow="1" lastCol="1" bandRow="1" bandCol="1"/>
              <a:tblGrid>
                <a:gridCol w="4041605">
                  <a:extLst>
                    <a:ext uri="{9D8B030D-6E8A-4147-A177-3AD203B41FA5}">
                      <a16:colId xmlns:a16="http://schemas.microsoft.com/office/drawing/2014/main" val="20000"/>
                    </a:ext>
                  </a:extLst>
                </a:gridCol>
                <a:gridCol w="694333">
                  <a:extLst>
                    <a:ext uri="{9D8B030D-6E8A-4147-A177-3AD203B41FA5}">
                      <a16:colId xmlns:a16="http://schemas.microsoft.com/office/drawing/2014/main" val="20001"/>
                    </a:ext>
                  </a:extLst>
                </a:gridCol>
                <a:gridCol w="925780">
                  <a:extLst>
                    <a:ext uri="{9D8B030D-6E8A-4147-A177-3AD203B41FA5}">
                      <a16:colId xmlns:a16="http://schemas.microsoft.com/office/drawing/2014/main" val="20002"/>
                    </a:ext>
                  </a:extLst>
                </a:gridCol>
                <a:gridCol w="1570932">
                  <a:extLst>
                    <a:ext uri="{9D8B030D-6E8A-4147-A177-3AD203B41FA5}">
                      <a16:colId xmlns:a16="http://schemas.microsoft.com/office/drawing/2014/main" val="20003"/>
                    </a:ext>
                  </a:extLst>
                </a:gridCol>
              </a:tblGrid>
              <a:tr h="228071">
                <a:tc>
                  <a:txBody>
                    <a:bodyPr/>
                    <a:lstStyle/>
                    <a:p>
                      <a:pPr marL="0" marR="0" algn="ctr">
                        <a:lnSpc>
                          <a:spcPct val="107000"/>
                        </a:lnSpc>
                      </a:pPr>
                      <a:r>
                        <a:rPr lang="en-US" sz="1400" b="1" dirty="0">
                          <a:effectLst/>
                          <a:latin typeface="Book Antiqua" panose="02040602050305030304" pitchFamily="18" charset="0"/>
                          <a:ea typeface="Times New Roman" panose="02020603050405020304" pitchFamily="18" charset="0"/>
                        </a:rPr>
                        <a:t>SQL Statement</a:t>
                      </a:r>
                      <a:endParaRPr lang="en-US" sz="1400" dirty="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pPr>
                      <a:r>
                        <a:rPr lang="en-US" sz="1400" b="1">
                          <a:effectLst/>
                          <a:latin typeface="Book Antiqua" panose="02040602050305030304" pitchFamily="18" charset="0"/>
                          <a:ea typeface="Times New Roman" panose="02020603050405020304" pitchFamily="18" charset="0"/>
                        </a:rPr>
                        <a:t>Object</a:t>
                      </a:r>
                      <a:endParaRPr lang="en-US" sz="140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pPr>
                      <a:r>
                        <a:rPr lang="en-US" sz="1400" b="1">
                          <a:effectLst/>
                          <a:latin typeface="Book Antiqua" panose="02040602050305030304" pitchFamily="18" charset="0"/>
                          <a:ea typeface="Times New Roman" panose="02020603050405020304" pitchFamily="18" charset="0"/>
                        </a:rPr>
                        <a:t>Database</a:t>
                      </a:r>
                      <a:endParaRPr lang="en-US" sz="140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pPr>
                      <a:r>
                        <a:rPr lang="en-US" sz="1400" b="1">
                          <a:effectLst/>
                          <a:latin typeface="Book Antiqua" panose="02040602050305030304" pitchFamily="18" charset="0"/>
                          <a:ea typeface="Times New Roman" panose="02020603050405020304" pitchFamily="18" charset="0"/>
                        </a:rPr>
                        <a:t>Domain</a:t>
                      </a:r>
                      <a:endParaRPr lang="en-US" sz="140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6142">
                <a:tc>
                  <a:txBody>
                    <a:bodyPr/>
                    <a:lstStyle/>
                    <a:p>
                      <a:pPr marL="0" marR="0" algn="just">
                        <a:lnSpc>
                          <a:spcPct val="107000"/>
                        </a:lnSpc>
                      </a:pPr>
                      <a:r>
                        <a:rPr lang="en-US" sz="1000" dirty="0">
                          <a:effectLst/>
                          <a:latin typeface="Book Antiqua" panose="02040602050305030304" pitchFamily="18" charset="0"/>
                          <a:ea typeface="Times New Roman" panose="02020603050405020304" pitchFamily="18" charset="0"/>
                        </a:rPr>
                        <a:t>SELECT * FROM </a:t>
                      </a:r>
                      <a:r>
                        <a:rPr lang="en-US" sz="1400" dirty="0">
                          <a:effectLst/>
                          <a:latin typeface="Book Antiqua" panose="02040602050305030304" pitchFamily="18" charset="0"/>
                          <a:ea typeface="Times New Roman" panose="02020603050405020304" pitchFamily="18" charset="0"/>
                          <a:cs typeface="Courier New" panose="02070309020205020404" pitchFamily="49" charset="0"/>
                        </a:rPr>
                        <a:t>dept@sales.midroc.telecom.et;</a:t>
                      </a:r>
                      <a:endParaRPr lang="en-US" sz="1400" dirty="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pPr>
                      <a:r>
                        <a:rPr lang="en-US" sz="1400" dirty="0" err="1">
                          <a:effectLst/>
                          <a:latin typeface="Book Antiqua" panose="02040602050305030304" pitchFamily="18" charset="0"/>
                          <a:ea typeface="Times New Roman" panose="02020603050405020304" pitchFamily="18" charset="0"/>
                        </a:rPr>
                        <a:t>dept</a:t>
                      </a:r>
                      <a:endParaRPr lang="en-US" sz="1400" dirty="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pPr>
                      <a:r>
                        <a:rPr lang="en-US" sz="1400" dirty="0">
                          <a:effectLst/>
                          <a:latin typeface="Book Antiqua" panose="02040602050305030304" pitchFamily="18" charset="0"/>
                          <a:ea typeface="Times New Roman" panose="02020603050405020304" pitchFamily="18" charset="0"/>
                        </a:rPr>
                        <a:t>sales</a:t>
                      </a:r>
                      <a:endParaRPr lang="en-US" sz="1400" dirty="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pPr>
                      <a:r>
                        <a:rPr lang="en-US" sz="1400" dirty="0">
                          <a:effectLst/>
                          <a:latin typeface="Book Antiqua" panose="02040602050305030304" pitchFamily="18" charset="0"/>
                          <a:ea typeface="Times New Roman" panose="02020603050405020304" pitchFamily="18" charset="0"/>
                          <a:cs typeface="Courier New" panose="02070309020205020404" pitchFamily="49" charset="0"/>
                        </a:rPr>
                        <a:t>midroc.telecom.et;</a:t>
                      </a:r>
                      <a:endParaRPr lang="en-US" sz="1400" dirty="0">
                        <a:effectLst/>
                        <a:latin typeface="Times New Roman" panose="02020603050405020304" pitchFamily="18" charset="0"/>
                        <a:ea typeface="Times New Roman" panose="02020603050405020304" pitchFamily="18" charset="0"/>
                      </a:endParaRPr>
                    </a:p>
                  </a:txBody>
                  <a:tcPr marL="67904" marR="679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dirty="0"/>
          </a:p>
        </p:txBody>
      </p:sp>
    </p:spTree>
    <p:extLst>
      <p:ext uri="{BB962C8B-B14F-4D97-AF65-F5344CB8AC3E}">
        <p14:creationId xmlns:p14="http://schemas.microsoft.com/office/powerpoint/2010/main" val="1871267128"/>
      </p:ext>
    </p:extLst>
  </p:cSld>
  <p:clrMapOvr>
    <a:masterClrMapping/>
  </p:clrMapOvr>
  <p:transition spd="slow">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3" name="Content Placeholder 2"/>
          <p:cNvSpPr>
            <a:spLocks noGrp="1"/>
          </p:cNvSpPr>
          <p:nvPr>
            <p:ph sz="quarter" idx="1"/>
          </p:nvPr>
        </p:nvSpPr>
        <p:spPr>
          <a:xfrm>
            <a:off x="381000" y="1417639"/>
            <a:ext cx="8534400" cy="4792662"/>
          </a:xfrm>
        </p:spPr>
        <p:txBody>
          <a:bodyPr>
            <a:normAutofit lnSpcReduction="10000"/>
          </a:bodyPr>
          <a:lstStyle/>
          <a:p>
            <a:pPr>
              <a:defRPr/>
            </a:pPr>
            <a:r>
              <a:rPr lang="en-US" sz="2000" dirty="0"/>
              <a:t>There are two types of transaction in DDBMS to access data from other sites:</a:t>
            </a:r>
          </a:p>
          <a:p>
            <a:pPr marL="457200" indent="-457200">
              <a:buFont typeface="+mj-lt"/>
              <a:buAutoNum type="arabicPeriod"/>
              <a:defRPr/>
            </a:pPr>
            <a:r>
              <a:rPr lang="en-US" sz="2000" b="1" dirty="0"/>
              <a:t>Remote Transaction:</a:t>
            </a:r>
            <a:r>
              <a:rPr lang="en-US" sz="2000" dirty="0"/>
              <a:t> contains only statements that access a single remote node. </a:t>
            </a:r>
            <a:endParaRPr lang="en-US" sz="2000" dirty="0" smtClean="0"/>
          </a:p>
          <a:p>
            <a:pPr lvl="1">
              <a:defRPr/>
            </a:pPr>
            <a:r>
              <a:rPr lang="en-US" sz="2000" b="1" dirty="0" smtClean="0"/>
              <a:t>Remote </a:t>
            </a:r>
            <a:r>
              <a:rPr lang="en-US" sz="2000" b="1" dirty="0"/>
              <a:t>Query</a:t>
            </a:r>
            <a:r>
              <a:rPr lang="en-US" sz="2000" dirty="0"/>
              <a:t> statement is a query that selects information from one or more remote tables, all of which reside at the same remote node or site.</a:t>
            </a:r>
          </a:p>
          <a:p>
            <a:pPr lvl="1">
              <a:defRPr/>
            </a:pPr>
            <a:r>
              <a:rPr lang="en-US" sz="2000" dirty="0"/>
              <a:t>For example, the following query accesses data from the </a:t>
            </a:r>
            <a:r>
              <a:rPr lang="en-US" sz="2000" i="1" dirty="0" err="1"/>
              <a:t>dept</a:t>
            </a:r>
            <a:r>
              <a:rPr lang="en-US" sz="2000" dirty="0"/>
              <a:t> table in the </a:t>
            </a:r>
            <a:r>
              <a:rPr lang="en-US" sz="2000" i="1" dirty="0"/>
              <a:t>Addis</a:t>
            </a:r>
            <a:r>
              <a:rPr lang="en-US" sz="2000" dirty="0"/>
              <a:t> schema (the site) of the remote sales database:</a:t>
            </a:r>
          </a:p>
          <a:p>
            <a:pPr lvl="2">
              <a:defRPr/>
            </a:pPr>
            <a:r>
              <a:rPr lang="en-US" dirty="0"/>
              <a:t>SELECT * </a:t>
            </a:r>
            <a:r>
              <a:rPr lang="en-US" dirty="0" smtClean="0"/>
              <a:t>FROM Addis.dept@sales.midroc.telecom.et</a:t>
            </a:r>
            <a:r>
              <a:rPr lang="en-US" dirty="0"/>
              <a:t>;</a:t>
            </a:r>
          </a:p>
          <a:p>
            <a:pPr>
              <a:defRPr/>
            </a:pPr>
            <a:r>
              <a:rPr lang="en-US" sz="2000" dirty="0"/>
              <a:t>A remote </a:t>
            </a:r>
            <a:r>
              <a:rPr lang="en-US" sz="2000" b="1" dirty="0"/>
              <a:t>update</a:t>
            </a:r>
            <a:r>
              <a:rPr lang="en-US" sz="2000" dirty="0"/>
              <a:t> statement is an update that modifies data in one or more tables, all of which are collocated at the same remote node. </a:t>
            </a:r>
            <a:endParaRPr lang="en-US" sz="2000" dirty="0" smtClean="0"/>
          </a:p>
          <a:p>
            <a:pPr>
              <a:defRPr/>
            </a:pPr>
            <a:r>
              <a:rPr lang="en-US" sz="2000" dirty="0" smtClean="0"/>
              <a:t>For </a:t>
            </a:r>
            <a:r>
              <a:rPr lang="en-US" sz="2000" dirty="0"/>
              <a:t>example, the following query updates the branch table in the Addis schema of the remote sales database:</a:t>
            </a:r>
          </a:p>
          <a:p>
            <a:pPr marL="641350" lvl="2" indent="0">
              <a:buFont typeface="Wingdings" panose="05000000000000000000" pitchFamily="2" charset="2"/>
              <a:buNone/>
              <a:defRPr/>
            </a:pPr>
            <a:r>
              <a:rPr lang="en-US" dirty="0">
                <a:solidFill>
                  <a:schemeClr val="accent1"/>
                </a:solidFill>
              </a:rPr>
              <a:t>UPDATE </a:t>
            </a:r>
            <a:r>
              <a:rPr lang="en-US" dirty="0" err="1">
                <a:solidFill>
                  <a:schemeClr val="accent1"/>
                </a:solidFill>
              </a:rPr>
              <a:t>Addis.dept</a:t>
            </a:r>
            <a:r>
              <a:rPr lang="en-US" dirty="0">
                <a:solidFill>
                  <a:schemeClr val="accent1"/>
                </a:solidFill>
              </a:rPr>
              <a:t>@ sales.midroc.telecom.et;</a:t>
            </a:r>
          </a:p>
          <a:p>
            <a:pPr marL="641350" lvl="2" indent="0">
              <a:buFont typeface="Wingdings" panose="05000000000000000000" pitchFamily="2" charset="2"/>
              <a:buNone/>
              <a:defRPr/>
            </a:pPr>
            <a:r>
              <a:rPr lang="en-US" dirty="0">
                <a:solidFill>
                  <a:schemeClr val="accent1"/>
                </a:solidFill>
              </a:rPr>
              <a:t>SET </a:t>
            </a:r>
            <a:r>
              <a:rPr lang="en-US" dirty="0" err="1">
                <a:solidFill>
                  <a:schemeClr val="accent1"/>
                </a:solidFill>
              </a:rPr>
              <a:t>loc</a:t>
            </a:r>
            <a:r>
              <a:rPr lang="en-US" dirty="0">
                <a:solidFill>
                  <a:schemeClr val="accent1"/>
                </a:solidFill>
              </a:rPr>
              <a:t> = '</a:t>
            </a:r>
            <a:r>
              <a:rPr lang="en-US" dirty="0" err="1">
                <a:solidFill>
                  <a:schemeClr val="accent1"/>
                </a:solidFill>
              </a:rPr>
              <a:t>Arada</a:t>
            </a:r>
            <a:r>
              <a:rPr lang="en-US" dirty="0">
                <a:solidFill>
                  <a:schemeClr val="accent1"/>
                </a:solidFill>
              </a:rPr>
              <a:t>'</a:t>
            </a:r>
          </a:p>
          <a:p>
            <a:pPr marL="641350" lvl="2" indent="0">
              <a:buFont typeface="Wingdings" panose="05000000000000000000" pitchFamily="2" charset="2"/>
              <a:buNone/>
              <a:defRPr/>
            </a:pPr>
            <a:r>
              <a:rPr lang="en-US" dirty="0">
                <a:solidFill>
                  <a:schemeClr val="accent1"/>
                </a:solidFill>
              </a:rPr>
              <a:t>WHERE </a:t>
            </a:r>
            <a:r>
              <a:rPr lang="en-US" dirty="0" err="1">
                <a:solidFill>
                  <a:schemeClr val="accent1"/>
                </a:solidFill>
              </a:rPr>
              <a:t>BranchNo</a:t>
            </a:r>
            <a:r>
              <a:rPr lang="en-US" dirty="0">
                <a:solidFill>
                  <a:schemeClr val="accent1"/>
                </a:solidFill>
              </a:rPr>
              <a:t> = 5;</a:t>
            </a:r>
          </a:p>
          <a:p>
            <a:pPr>
              <a:defRPr/>
            </a:pPr>
            <a:endParaRPr lang="en-US" dirty="0"/>
          </a:p>
        </p:txBody>
      </p:sp>
      <p:sp>
        <p:nvSpPr>
          <p:cNvPr id="4" name="Footer Placeholder 3"/>
          <p:cNvSpPr>
            <a:spLocks noGrp="1"/>
          </p:cNvSpPr>
          <p:nvPr>
            <p:ph type="ftr" sz="quarter" idx="11"/>
          </p:nvPr>
        </p:nvSpPr>
        <p:spPr>
          <a:xfrm>
            <a:off x="762000" y="6270523"/>
            <a:ext cx="4419600" cy="457200"/>
          </a:xfrm>
        </p:spPr>
        <p:txBody>
          <a:bodyPr/>
          <a:lstStyle/>
          <a:p>
            <a:r>
              <a:rPr lang="en-US" dirty="0" smtClean="0"/>
              <a:t>Distributed Database System</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dirty="0"/>
          </a:p>
        </p:txBody>
      </p:sp>
    </p:spTree>
    <p:extLst>
      <p:ext uri="{BB962C8B-B14F-4D97-AF65-F5344CB8AC3E}">
        <p14:creationId xmlns:p14="http://schemas.microsoft.com/office/powerpoint/2010/main" val="1603134181"/>
      </p:ext>
    </p:extLst>
  </p:cSld>
  <p:clrMapOvr>
    <a:masterClrMapping/>
  </p:clrMapOvr>
  <p:transition spd="slow">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34400" cy="1066800"/>
          </a:xfrm>
        </p:spPr>
        <p:txBody>
          <a:bodyPr/>
          <a:lstStyle/>
          <a:p>
            <a:pPr>
              <a:defRPr/>
            </a:pPr>
            <a:r>
              <a:rPr lang="en-US" dirty="0" smtClean="0"/>
              <a:t>…CON’T</a:t>
            </a:r>
            <a:endParaRPr lang="en-US" dirty="0"/>
          </a:p>
        </p:txBody>
      </p:sp>
      <p:sp>
        <p:nvSpPr>
          <p:cNvPr id="3" name="Content Placeholder 2"/>
          <p:cNvSpPr>
            <a:spLocks noGrp="1"/>
          </p:cNvSpPr>
          <p:nvPr>
            <p:ph sz="quarter" idx="1"/>
          </p:nvPr>
        </p:nvSpPr>
        <p:spPr>
          <a:xfrm>
            <a:off x="457200" y="1143000"/>
            <a:ext cx="8458200" cy="5486400"/>
          </a:xfrm>
        </p:spPr>
        <p:txBody>
          <a:bodyPr>
            <a:normAutofit/>
          </a:bodyPr>
          <a:lstStyle/>
          <a:p>
            <a:pPr marL="0" indent="0">
              <a:buFont typeface="Wingdings" panose="05000000000000000000" pitchFamily="2" charset="2"/>
              <a:buNone/>
              <a:defRPr/>
            </a:pPr>
            <a:r>
              <a:rPr lang="en-US" sz="2000" b="1" dirty="0" smtClean="0">
                <a:solidFill>
                  <a:schemeClr val="accent1">
                    <a:lumMod val="75000"/>
                  </a:schemeClr>
                </a:solidFill>
              </a:rPr>
              <a:t>2. </a:t>
            </a:r>
            <a:r>
              <a:rPr lang="en-US" sz="2000" b="1" dirty="0" smtClean="0"/>
              <a:t>Distributed </a:t>
            </a:r>
            <a:r>
              <a:rPr lang="en-US" sz="2000" b="1" dirty="0"/>
              <a:t>Transaction:</a:t>
            </a:r>
            <a:r>
              <a:rPr lang="en-US" sz="2000" dirty="0"/>
              <a:t> contains statements that access </a:t>
            </a:r>
            <a:r>
              <a:rPr lang="en-US" dirty="0"/>
              <a:t>more than one node</a:t>
            </a:r>
            <a:r>
              <a:rPr lang="en-US" sz="2800" dirty="0"/>
              <a:t>.</a:t>
            </a:r>
          </a:p>
          <a:p>
            <a:pPr lvl="1">
              <a:defRPr/>
            </a:pPr>
            <a:r>
              <a:rPr lang="en-US" sz="2000" dirty="0"/>
              <a:t>A distributed query statement retrieves information from two or more nodes. </a:t>
            </a:r>
          </a:p>
          <a:p>
            <a:pPr lvl="1">
              <a:defRPr/>
            </a:pPr>
            <a:r>
              <a:rPr lang="en-US" sz="2000" dirty="0"/>
              <a:t>If all statements of a transaction reference only a single remote node, the </a:t>
            </a:r>
            <a:r>
              <a:rPr lang="en-US" sz="2000" b="1" dirty="0"/>
              <a:t>transaction is remote, not distributed</a:t>
            </a:r>
            <a:r>
              <a:rPr lang="en-US" sz="2000" dirty="0"/>
              <a:t>.</a:t>
            </a:r>
          </a:p>
          <a:p>
            <a:pPr lvl="1">
              <a:defRPr/>
            </a:pPr>
            <a:r>
              <a:rPr lang="en-US" sz="2000" dirty="0"/>
              <a:t>A database must guarantee that all statements in a transaction, distributed or non-distributed, either commit or roll back as a unit. </a:t>
            </a:r>
            <a:endParaRPr lang="en-US" sz="2000" dirty="0" smtClean="0"/>
          </a:p>
          <a:p>
            <a:pPr lvl="1">
              <a:defRPr/>
            </a:pPr>
            <a:r>
              <a:rPr lang="en-US" sz="2000" b="1" dirty="0" smtClean="0"/>
              <a:t>For </a:t>
            </a:r>
            <a:r>
              <a:rPr lang="en-US" sz="2000" b="1" dirty="0"/>
              <a:t>example</a:t>
            </a:r>
            <a:r>
              <a:rPr lang="en-US" sz="2000" dirty="0"/>
              <a:t>, the following query accesses data from the local database as well as the remote sales database:</a:t>
            </a:r>
          </a:p>
          <a:p>
            <a:pPr marL="641350" lvl="2" indent="0">
              <a:buFont typeface="Wingdings" panose="05000000000000000000" pitchFamily="2" charset="2"/>
              <a:buNone/>
              <a:defRPr/>
            </a:pPr>
            <a:r>
              <a:rPr lang="en-US" dirty="0">
                <a:solidFill>
                  <a:schemeClr val="accent1">
                    <a:lumMod val="75000"/>
                  </a:schemeClr>
                </a:solidFill>
              </a:rPr>
              <a:t>SELECT </a:t>
            </a:r>
            <a:r>
              <a:rPr lang="en-US" dirty="0" err="1">
                <a:solidFill>
                  <a:schemeClr val="accent1">
                    <a:lumMod val="75000"/>
                  </a:schemeClr>
                </a:solidFill>
              </a:rPr>
              <a:t>ename</a:t>
            </a:r>
            <a:r>
              <a:rPr lang="en-US" dirty="0">
                <a:solidFill>
                  <a:schemeClr val="accent1">
                    <a:lumMod val="75000"/>
                  </a:schemeClr>
                </a:solidFill>
              </a:rPr>
              <a:t>, </a:t>
            </a:r>
            <a:r>
              <a:rPr lang="en-US" dirty="0" err="1">
                <a:solidFill>
                  <a:schemeClr val="accent1">
                    <a:lumMod val="75000"/>
                  </a:schemeClr>
                </a:solidFill>
              </a:rPr>
              <a:t>dname</a:t>
            </a:r>
            <a:endParaRPr lang="en-US" dirty="0">
              <a:solidFill>
                <a:schemeClr val="accent1">
                  <a:lumMod val="75000"/>
                </a:schemeClr>
              </a:solidFill>
            </a:endParaRPr>
          </a:p>
          <a:p>
            <a:pPr marL="641350" lvl="2" indent="0">
              <a:buFont typeface="Wingdings" panose="05000000000000000000" pitchFamily="2" charset="2"/>
              <a:buNone/>
              <a:defRPr/>
            </a:pPr>
            <a:r>
              <a:rPr lang="en-US" dirty="0">
                <a:solidFill>
                  <a:schemeClr val="accent1">
                    <a:lumMod val="75000"/>
                  </a:schemeClr>
                </a:solidFill>
              </a:rPr>
              <a:t>FROM </a:t>
            </a:r>
            <a:r>
              <a:rPr lang="en-US" dirty="0" err="1">
                <a:solidFill>
                  <a:schemeClr val="accent1">
                    <a:lumMod val="75000"/>
                  </a:schemeClr>
                </a:solidFill>
              </a:rPr>
              <a:t>Awassa.emp</a:t>
            </a:r>
            <a:r>
              <a:rPr lang="en-US" dirty="0">
                <a:solidFill>
                  <a:schemeClr val="accent1">
                    <a:lumMod val="75000"/>
                  </a:schemeClr>
                </a:solidFill>
              </a:rPr>
              <a:t> AW, </a:t>
            </a:r>
            <a:r>
              <a:rPr lang="en-US" dirty="0" err="1">
                <a:solidFill>
                  <a:schemeClr val="accent1">
                    <a:lumMod val="75000"/>
                  </a:schemeClr>
                </a:solidFill>
              </a:rPr>
              <a:t>Addis.dept</a:t>
            </a:r>
            <a:r>
              <a:rPr lang="en-US" dirty="0">
                <a:solidFill>
                  <a:schemeClr val="accent1">
                    <a:lumMod val="75000"/>
                  </a:schemeClr>
                </a:solidFill>
              </a:rPr>
              <a:t>@ sales.midroc.telecom.et AD</a:t>
            </a:r>
          </a:p>
          <a:p>
            <a:pPr marL="641350" lvl="2" indent="0">
              <a:buFont typeface="Wingdings" panose="05000000000000000000" pitchFamily="2" charset="2"/>
              <a:buNone/>
              <a:defRPr/>
            </a:pPr>
            <a:r>
              <a:rPr lang="en-US" dirty="0">
                <a:solidFill>
                  <a:schemeClr val="accent1">
                    <a:lumMod val="75000"/>
                  </a:schemeClr>
                </a:solidFill>
              </a:rPr>
              <a:t>WHERE </a:t>
            </a:r>
            <a:r>
              <a:rPr lang="en-US" dirty="0" err="1">
                <a:solidFill>
                  <a:schemeClr val="accent1">
                    <a:lumMod val="75000"/>
                  </a:schemeClr>
                </a:solidFill>
              </a:rPr>
              <a:t>AW.deptno</a:t>
            </a:r>
            <a:r>
              <a:rPr lang="en-US" dirty="0">
                <a:solidFill>
                  <a:schemeClr val="accent1">
                    <a:lumMod val="75000"/>
                  </a:schemeClr>
                </a:solidFill>
              </a:rPr>
              <a:t> = </a:t>
            </a:r>
            <a:r>
              <a:rPr lang="en-US" dirty="0" err="1">
                <a:solidFill>
                  <a:schemeClr val="accent1">
                    <a:lumMod val="75000"/>
                  </a:schemeClr>
                </a:solidFill>
              </a:rPr>
              <a:t>AD.deptno</a:t>
            </a:r>
            <a:r>
              <a:rPr lang="en-US" dirty="0">
                <a:solidFill>
                  <a:schemeClr val="accent1">
                    <a:lumMod val="75000"/>
                  </a:schemeClr>
                </a:solidFill>
              </a:rPr>
              <a:t>;</a:t>
            </a:r>
          </a:p>
          <a:p>
            <a:pPr marL="641350" lvl="2" indent="0">
              <a:buFont typeface="Wingdings" panose="05000000000000000000" pitchFamily="2" charset="2"/>
              <a:buNone/>
              <a:defRPr/>
            </a:pPr>
            <a:r>
              <a:rPr lang="en-US" dirty="0">
                <a:solidFill>
                  <a:schemeClr val="accent1">
                    <a:lumMod val="75000"/>
                  </a:schemeClr>
                </a:solidFill>
              </a:rPr>
              <a:t>{Employee data is stored in </a:t>
            </a:r>
            <a:r>
              <a:rPr lang="en-US" dirty="0" err="1">
                <a:solidFill>
                  <a:schemeClr val="accent1">
                    <a:lumMod val="75000"/>
                  </a:schemeClr>
                </a:solidFill>
              </a:rPr>
              <a:t>Awassa</a:t>
            </a:r>
            <a:r>
              <a:rPr lang="en-US" dirty="0">
                <a:solidFill>
                  <a:schemeClr val="accent1">
                    <a:lumMod val="75000"/>
                  </a:schemeClr>
                </a:solidFill>
              </a:rPr>
              <a:t> and Sales data is stored in Addis, there is an employee responsible for each </a:t>
            </a:r>
            <a:r>
              <a:rPr lang="en-US" dirty="0" smtClean="0">
                <a:solidFill>
                  <a:schemeClr val="accent1">
                    <a:lumMod val="75000"/>
                  </a:schemeClr>
                </a:solidFill>
              </a:rPr>
              <a:t>sale }</a:t>
            </a:r>
            <a:endParaRPr lang="en-US" dirty="0">
              <a:solidFill>
                <a:schemeClr val="accent1">
                  <a:lumMod val="75000"/>
                </a:schemeClr>
              </a:solidFill>
            </a:endParaRPr>
          </a:p>
          <a:p>
            <a:pPr>
              <a:defRPr/>
            </a:pPr>
            <a:endParaRPr lang="en-US" sz="2000" dirty="0"/>
          </a:p>
        </p:txBody>
      </p:sp>
      <p:sp>
        <p:nvSpPr>
          <p:cNvPr id="4" name="Footer Placeholder 3"/>
          <p:cNvSpPr>
            <a:spLocks noGrp="1"/>
          </p:cNvSpPr>
          <p:nvPr>
            <p:ph type="ftr" sz="quarter" idx="11"/>
          </p:nvPr>
        </p:nvSpPr>
        <p:spPr>
          <a:xfrm>
            <a:off x="381000" y="6400800"/>
            <a:ext cx="4419600" cy="457200"/>
          </a:xfrm>
        </p:spPr>
        <p:txBody>
          <a:bodyPr/>
          <a:lstStyle/>
          <a:p>
            <a:r>
              <a:rPr lang="en-US" dirty="0" smtClean="0"/>
              <a:t>Distributed Database System</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dirty="0"/>
          </a:p>
        </p:txBody>
      </p:sp>
    </p:spTree>
    <p:extLst>
      <p:ext uri="{BB962C8B-B14F-4D97-AF65-F5344CB8AC3E}">
        <p14:creationId xmlns:p14="http://schemas.microsoft.com/office/powerpoint/2010/main" val="2563702750"/>
      </p:ext>
    </p:extLst>
  </p:cSld>
  <p:clrMapOvr>
    <a:masterClrMapping/>
  </p:clrMapOvr>
  <p:transition spd="slow">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34400" cy="1143000"/>
          </a:xfrm>
        </p:spPr>
        <p:txBody>
          <a:bodyPr/>
          <a:lstStyle/>
          <a:p>
            <a:pPr>
              <a:defRPr/>
            </a:pPr>
            <a:r>
              <a:rPr lang="en-US" dirty="0" smtClean="0"/>
              <a:t>…CON’T</a:t>
            </a:r>
            <a:endParaRPr lang="en-US" dirty="0"/>
          </a:p>
        </p:txBody>
      </p:sp>
      <p:sp>
        <p:nvSpPr>
          <p:cNvPr id="3" name="Content Placeholder 2"/>
          <p:cNvSpPr>
            <a:spLocks noGrp="1"/>
          </p:cNvSpPr>
          <p:nvPr>
            <p:ph sz="quarter" idx="1"/>
          </p:nvPr>
        </p:nvSpPr>
        <p:spPr>
          <a:xfrm>
            <a:off x="457200" y="1417638"/>
            <a:ext cx="4343400" cy="4906962"/>
          </a:xfrm>
        </p:spPr>
        <p:txBody>
          <a:bodyPr/>
          <a:lstStyle/>
          <a:p>
            <a:pPr>
              <a:defRPr/>
            </a:pPr>
            <a:r>
              <a:rPr lang="en-US" sz="1800" b="1" dirty="0" smtClean="0"/>
              <a:t>Remote query </a:t>
            </a:r>
          </a:p>
          <a:p>
            <a:pPr marL="0" indent="0">
              <a:buFont typeface="Wingdings" panose="05000000000000000000" pitchFamily="2" charset="2"/>
              <a:buNone/>
              <a:defRPr/>
            </a:pPr>
            <a:r>
              <a:rPr lang="en-US" sz="1800" dirty="0" smtClean="0"/>
              <a:t>select </a:t>
            </a:r>
          </a:p>
          <a:p>
            <a:pPr marL="0" indent="0">
              <a:buFont typeface="Wingdings" panose="05000000000000000000" pitchFamily="2" charset="2"/>
              <a:buNone/>
              <a:defRPr/>
            </a:pPr>
            <a:r>
              <a:rPr lang="en-US" sz="1800" dirty="0" err="1" smtClean="0"/>
              <a:t>client_nm</a:t>
            </a:r>
            <a:endParaRPr lang="en-US" sz="1800" dirty="0" smtClean="0"/>
          </a:p>
          <a:p>
            <a:pPr marL="0" indent="0">
              <a:buFont typeface="Wingdings" panose="05000000000000000000" pitchFamily="2" charset="2"/>
              <a:buNone/>
              <a:defRPr/>
            </a:pPr>
            <a:r>
              <a:rPr lang="en-US" sz="1800" dirty="0" smtClean="0"/>
              <a:t>from</a:t>
            </a:r>
          </a:p>
          <a:p>
            <a:pPr marL="0" indent="0">
              <a:buFont typeface="Wingdings" panose="05000000000000000000" pitchFamily="2" charset="2"/>
              <a:buNone/>
              <a:defRPr/>
            </a:pPr>
            <a:r>
              <a:rPr lang="en-US" sz="1800" dirty="0" smtClean="0"/>
              <a:t>  clients@accounts.motorola.com;</a:t>
            </a:r>
          </a:p>
          <a:p>
            <a:pPr>
              <a:defRPr/>
            </a:pPr>
            <a:r>
              <a:rPr lang="en-US" sz="1800" b="1" dirty="0" smtClean="0"/>
              <a:t>Distributed query </a:t>
            </a:r>
          </a:p>
          <a:p>
            <a:pPr marL="0" indent="0">
              <a:buFont typeface="Wingdings" panose="05000000000000000000" pitchFamily="2" charset="2"/>
              <a:buNone/>
              <a:defRPr/>
            </a:pPr>
            <a:r>
              <a:rPr lang="en-US" sz="1800" dirty="0" smtClean="0"/>
              <a:t>select</a:t>
            </a:r>
          </a:p>
          <a:p>
            <a:pPr marL="0" indent="0">
              <a:buFont typeface="Wingdings" panose="05000000000000000000" pitchFamily="2" charset="2"/>
              <a:buNone/>
              <a:defRPr/>
            </a:pPr>
            <a:r>
              <a:rPr lang="en-US" sz="1800" dirty="0" smtClean="0"/>
              <a:t>  </a:t>
            </a:r>
            <a:r>
              <a:rPr lang="en-US" sz="1800" dirty="0" err="1" smtClean="0"/>
              <a:t>project_name</a:t>
            </a:r>
            <a:r>
              <a:rPr lang="en-US" sz="1800" dirty="0" smtClean="0"/>
              <a:t>, </a:t>
            </a:r>
            <a:r>
              <a:rPr lang="en-US" sz="1800" dirty="0" err="1" smtClean="0"/>
              <a:t>student_nm</a:t>
            </a:r>
            <a:endParaRPr lang="en-US" sz="1800" dirty="0" smtClean="0"/>
          </a:p>
          <a:p>
            <a:pPr marL="0" indent="0">
              <a:buFont typeface="Wingdings" panose="05000000000000000000" pitchFamily="2" charset="2"/>
              <a:buNone/>
              <a:defRPr/>
            </a:pPr>
            <a:r>
              <a:rPr lang="en-US" sz="1800" dirty="0" smtClean="0"/>
              <a:t>from</a:t>
            </a:r>
          </a:p>
          <a:p>
            <a:pPr marL="0" indent="0">
              <a:buFont typeface="Wingdings" panose="05000000000000000000" pitchFamily="2" charset="2"/>
              <a:buNone/>
              <a:defRPr/>
            </a:pPr>
            <a:r>
              <a:rPr lang="en-US" sz="1800" dirty="0" smtClean="0"/>
              <a:t>  intership@accounts.motorola.com </a:t>
            </a:r>
            <a:r>
              <a:rPr lang="en-US" sz="1800" dirty="0" err="1" smtClean="0"/>
              <a:t>i</a:t>
            </a:r>
            <a:r>
              <a:rPr lang="en-US" sz="1800" dirty="0" smtClean="0"/>
              <a:t>, student s</a:t>
            </a:r>
          </a:p>
          <a:p>
            <a:pPr marL="0" indent="0">
              <a:buFont typeface="Wingdings" panose="05000000000000000000" pitchFamily="2" charset="2"/>
              <a:buNone/>
              <a:defRPr/>
            </a:pPr>
            <a:r>
              <a:rPr lang="en-US" sz="1800" dirty="0" smtClean="0"/>
              <a:t>where </a:t>
            </a:r>
          </a:p>
          <a:p>
            <a:pPr marL="0" indent="0">
              <a:buFont typeface="Wingdings" panose="05000000000000000000" pitchFamily="2" charset="2"/>
              <a:buNone/>
              <a:defRPr/>
            </a:pPr>
            <a:r>
              <a:rPr lang="en-US" sz="1800" dirty="0" err="1" smtClean="0"/>
              <a:t>s.stu_id</a:t>
            </a:r>
            <a:r>
              <a:rPr lang="en-US" sz="1800" dirty="0" smtClean="0"/>
              <a:t> = </a:t>
            </a:r>
            <a:r>
              <a:rPr lang="en-US" sz="1800" dirty="0" err="1" smtClean="0"/>
              <a:t>i.stu_id</a:t>
            </a:r>
            <a:endParaRPr lang="en-US" sz="1800" dirty="0" smtClean="0"/>
          </a:p>
          <a:p>
            <a:pPr marL="0" indent="0">
              <a:buFont typeface="Wingdings" panose="05000000000000000000" pitchFamily="2" charset="2"/>
              <a:buNone/>
              <a:defRPr/>
            </a:pPr>
            <a:endParaRPr lang="en-US" sz="1800" dirty="0"/>
          </a:p>
        </p:txBody>
      </p:sp>
      <p:sp>
        <p:nvSpPr>
          <p:cNvPr id="6" name="Content Placeholder 2"/>
          <p:cNvSpPr txBox="1">
            <a:spLocks/>
          </p:cNvSpPr>
          <p:nvPr/>
        </p:nvSpPr>
        <p:spPr bwMode="auto">
          <a:xfrm>
            <a:off x="4572000" y="1417638"/>
            <a:ext cx="4167188" cy="490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defRPr/>
            </a:pPr>
            <a:r>
              <a:rPr lang="en-US" sz="1800" b="1" dirty="0" smtClean="0"/>
              <a:t>Remote Update </a:t>
            </a:r>
          </a:p>
          <a:p>
            <a:pPr marL="0" indent="0">
              <a:buFont typeface="Wingdings" panose="05000000000000000000" pitchFamily="2" charset="2"/>
              <a:buNone/>
              <a:defRPr/>
            </a:pPr>
            <a:r>
              <a:rPr lang="en-US" sz="1800" dirty="0" smtClean="0"/>
              <a:t>update </a:t>
            </a:r>
            <a:r>
              <a:rPr lang="en-US" sz="1800" dirty="0" smtClean="0">
                <a:hlinkClick r:id="rId2"/>
              </a:rPr>
              <a:t>intership@accounts.motorola.com</a:t>
            </a:r>
            <a:endParaRPr lang="en-US" sz="1800" dirty="0" smtClean="0"/>
          </a:p>
          <a:p>
            <a:pPr marL="0" indent="0">
              <a:buFont typeface="Wingdings" panose="05000000000000000000" pitchFamily="2" charset="2"/>
              <a:buNone/>
              <a:defRPr/>
            </a:pPr>
            <a:r>
              <a:rPr lang="en-US" sz="1800" dirty="0" smtClean="0"/>
              <a:t> set</a:t>
            </a:r>
          </a:p>
          <a:p>
            <a:pPr marL="0" indent="0">
              <a:buFont typeface="Wingdings" panose="05000000000000000000" pitchFamily="2" charset="2"/>
              <a:buNone/>
              <a:defRPr/>
            </a:pPr>
            <a:r>
              <a:rPr lang="en-US" sz="1800" dirty="0" smtClean="0"/>
              <a:t>  </a:t>
            </a:r>
            <a:r>
              <a:rPr lang="en-US" sz="1800" dirty="0" err="1" smtClean="0"/>
              <a:t>stu_id</a:t>
            </a:r>
            <a:r>
              <a:rPr lang="en-US" sz="1800" dirty="0" smtClean="0"/>
              <a:t> = '242'</a:t>
            </a:r>
          </a:p>
          <a:p>
            <a:pPr marL="0" indent="0">
              <a:buFont typeface="Wingdings" panose="05000000000000000000" pitchFamily="2" charset="2"/>
              <a:buNone/>
              <a:defRPr/>
            </a:pPr>
            <a:r>
              <a:rPr lang="en-US" sz="1800" dirty="0" smtClean="0"/>
              <a:t>  where </a:t>
            </a:r>
            <a:r>
              <a:rPr lang="en-US" sz="1800" dirty="0" err="1" smtClean="0"/>
              <a:t>stu_id</a:t>
            </a:r>
            <a:r>
              <a:rPr lang="en-US" sz="1800" dirty="0" smtClean="0"/>
              <a:t> = '200'</a:t>
            </a:r>
          </a:p>
          <a:p>
            <a:pPr>
              <a:defRPr/>
            </a:pPr>
            <a:r>
              <a:rPr lang="en-US" sz="1800" b="1" dirty="0" smtClean="0"/>
              <a:t>Distributed Update </a:t>
            </a:r>
          </a:p>
          <a:p>
            <a:pPr marL="0" indent="0">
              <a:buFont typeface="Wingdings" panose="05000000000000000000" pitchFamily="2" charset="2"/>
              <a:buNone/>
              <a:defRPr/>
            </a:pPr>
            <a:r>
              <a:rPr lang="en-US" sz="1800" dirty="0" smtClean="0"/>
              <a:t>update intership@accounts.motorola.com set</a:t>
            </a:r>
          </a:p>
          <a:p>
            <a:pPr marL="0" indent="0">
              <a:buFont typeface="Wingdings" panose="05000000000000000000" pitchFamily="2" charset="2"/>
              <a:buNone/>
              <a:defRPr/>
            </a:pPr>
            <a:r>
              <a:rPr lang="en-US" sz="1800" dirty="0" smtClean="0"/>
              <a:t>  </a:t>
            </a:r>
            <a:r>
              <a:rPr lang="en-US" sz="1800" dirty="0" err="1" smtClean="0"/>
              <a:t>stu_id</a:t>
            </a:r>
            <a:r>
              <a:rPr lang="en-US" sz="1800" dirty="0" smtClean="0"/>
              <a:t> = '242'</a:t>
            </a:r>
          </a:p>
          <a:p>
            <a:pPr marL="0" indent="0">
              <a:buFont typeface="Wingdings" panose="05000000000000000000" pitchFamily="2" charset="2"/>
              <a:buNone/>
              <a:defRPr/>
            </a:pPr>
            <a:r>
              <a:rPr lang="en-US" sz="1800" dirty="0" smtClean="0"/>
              <a:t>Where </a:t>
            </a:r>
            <a:r>
              <a:rPr lang="en-US" sz="1800" dirty="0" err="1" smtClean="0"/>
              <a:t>stu_id</a:t>
            </a:r>
            <a:r>
              <a:rPr lang="en-US" sz="1800" dirty="0" smtClean="0"/>
              <a:t> = '200'</a:t>
            </a:r>
          </a:p>
          <a:p>
            <a:pPr marL="0" indent="0">
              <a:buFont typeface="Wingdings" panose="05000000000000000000" pitchFamily="2" charset="2"/>
              <a:buNone/>
              <a:defRPr/>
            </a:pPr>
            <a:r>
              <a:rPr lang="en-US" sz="1800" dirty="0" smtClean="0"/>
              <a:t>  update student </a:t>
            </a:r>
          </a:p>
          <a:p>
            <a:pPr marL="0" indent="0">
              <a:buFont typeface="Wingdings" panose="05000000000000000000" pitchFamily="2" charset="2"/>
              <a:buNone/>
              <a:defRPr/>
            </a:pPr>
            <a:r>
              <a:rPr lang="en-US" sz="1800" dirty="0" smtClean="0"/>
              <a:t>Set  </a:t>
            </a:r>
            <a:r>
              <a:rPr lang="en-US" sz="1800" dirty="0" err="1" smtClean="0"/>
              <a:t>stu_id</a:t>
            </a:r>
            <a:r>
              <a:rPr lang="en-US" sz="1800" dirty="0" smtClean="0"/>
              <a:t> = '242‘ where  </a:t>
            </a:r>
            <a:r>
              <a:rPr lang="en-US" sz="1800" dirty="0" err="1" smtClean="0"/>
              <a:t>stu_id</a:t>
            </a:r>
            <a:r>
              <a:rPr lang="en-US" sz="1800" dirty="0" smtClean="0"/>
              <a:t> = '200‘</a:t>
            </a:r>
          </a:p>
          <a:p>
            <a:pPr marL="0" indent="0">
              <a:buFont typeface="Wingdings" panose="05000000000000000000" pitchFamily="2" charset="2"/>
              <a:buNone/>
              <a:defRPr/>
            </a:pPr>
            <a:r>
              <a:rPr lang="en-US" sz="1800" dirty="0" smtClean="0"/>
              <a:t>commit</a:t>
            </a:r>
          </a:p>
          <a:p>
            <a:pPr marL="0" indent="0">
              <a:buFont typeface="Wingdings" panose="05000000000000000000" pitchFamily="2" charset="2"/>
              <a:buNone/>
              <a:defRPr/>
            </a:pPr>
            <a:endParaRPr lang="en-US" sz="1800" dirty="0"/>
          </a:p>
        </p:txBody>
      </p:sp>
      <p:sp>
        <p:nvSpPr>
          <p:cNvPr id="4" name="Footer Placeholder 3"/>
          <p:cNvSpPr>
            <a:spLocks noGrp="1"/>
          </p:cNvSpPr>
          <p:nvPr>
            <p:ph type="ftr" sz="quarter" idx="11"/>
          </p:nvPr>
        </p:nvSpPr>
        <p:spPr/>
        <p:txBody>
          <a:bodyPr/>
          <a:lstStyle/>
          <a:p>
            <a:r>
              <a:rPr lang="en-US" smtClean="0"/>
              <a:t>Distributed Database System</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dirty="0"/>
          </a:p>
        </p:txBody>
      </p:sp>
    </p:spTree>
    <p:extLst>
      <p:ext uri="{BB962C8B-B14F-4D97-AF65-F5344CB8AC3E}">
        <p14:creationId xmlns:p14="http://schemas.microsoft.com/office/powerpoint/2010/main" val="1981485314"/>
      </p:ext>
    </p:extLst>
  </p:cSld>
  <p:clrMapOvr>
    <a:masterClrMapping/>
  </p:clrMapOvr>
  <p:transition spd="slow">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34400" cy="1143000"/>
          </a:xfrm>
        </p:spPr>
        <p:txBody>
          <a:bodyPr/>
          <a:lstStyle/>
          <a:p>
            <a:pPr>
              <a:defRPr/>
            </a:pPr>
            <a:r>
              <a:rPr lang="en-US" b="1" dirty="0"/>
              <a:t>Concurrency Control</a:t>
            </a:r>
            <a:endParaRPr lang="en-US" dirty="0"/>
          </a:p>
        </p:txBody>
      </p:sp>
      <p:sp>
        <p:nvSpPr>
          <p:cNvPr id="45059" name="Content Placeholder 2"/>
          <p:cNvSpPr>
            <a:spLocks noGrp="1"/>
          </p:cNvSpPr>
          <p:nvPr>
            <p:ph sz="quarter" idx="1"/>
          </p:nvPr>
        </p:nvSpPr>
        <p:spPr>
          <a:xfrm>
            <a:off x="533400" y="1371600"/>
            <a:ext cx="8229600" cy="5102225"/>
          </a:xfrm>
        </p:spPr>
        <p:txBody>
          <a:bodyPr/>
          <a:lstStyle/>
          <a:p>
            <a:r>
              <a:rPr lang="en-US" dirty="0" smtClean="0"/>
              <a:t>There are various techniques used for concurrency control in centralized database systems.  </a:t>
            </a:r>
          </a:p>
          <a:p>
            <a:r>
              <a:rPr lang="en-US" dirty="0" smtClean="0"/>
              <a:t>The techniques in </a:t>
            </a:r>
            <a:r>
              <a:rPr lang="en-US" i="1" dirty="0" smtClean="0"/>
              <a:t>distributed database system</a:t>
            </a:r>
            <a:r>
              <a:rPr lang="en-US" dirty="0" smtClean="0"/>
              <a:t> are similar with the </a:t>
            </a:r>
            <a:r>
              <a:rPr lang="en-US" i="1" dirty="0" smtClean="0"/>
              <a:t>centralized approach</a:t>
            </a:r>
            <a:r>
              <a:rPr lang="en-US" dirty="0" smtClean="0"/>
              <a:t> with additional implementation requirements or modifications.</a:t>
            </a:r>
          </a:p>
          <a:p>
            <a:r>
              <a:rPr lang="en-US" dirty="0" smtClean="0"/>
              <a:t>The main difference or the change that should be incorporated is the way the </a:t>
            </a:r>
            <a:r>
              <a:rPr lang="en-US" dirty="0" smtClean="0">
                <a:solidFill>
                  <a:srgbClr val="FF0000"/>
                </a:solidFill>
              </a:rPr>
              <a:t>lock manager </a:t>
            </a:r>
            <a:r>
              <a:rPr lang="en-US" dirty="0" smtClean="0"/>
              <a:t>is implemented and how it functions. </a:t>
            </a:r>
          </a:p>
          <a:p>
            <a:r>
              <a:rPr lang="en-US" dirty="0" smtClean="0"/>
              <a:t>There are different schemes for concurrency control in DDBS</a:t>
            </a:r>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dirty="0"/>
          </a:p>
        </p:txBody>
      </p:sp>
    </p:spTree>
    <p:extLst>
      <p:ext uri="{BB962C8B-B14F-4D97-AF65-F5344CB8AC3E}">
        <p14:creationId xmlns:p14="http://schemas.microsoft.com/office/powerpoint/2010/main" val="1933225441"/>
      </p:ext>
    </p:extLst>
  </p:cSld>
  <p:clrMapOvr>
    <a:masterClrMapping/>
  </p:clrMapOvr>
  <p:transition spd="slow">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34400" cy="1143000"/>
          </a:xfrm>
        </p:spPr>
        <p:txBody>
          <a:bodyPr/>
          <a:lstStyle/>
          <a:p>
            <a:pPr>
              <a:defRPr/>
            </a:pPr>
            <a:r>
              <a:rPr lang="en-US" dirty="0" smtClean="0"/>
              <a:t>…CON’T</a:t>
            </a:r>
            <a:endParaRPr lang="en-US" dirty="0"/>
          </a:p>
        </p:txBody>
      </p:sp>
      <p:sp>
        <p:nvSpPr>
          <p:cNvPr id="46083" name="Content Placeholder 2"/>
          <p:cNvSpPr>
            <a:spLocks noGrp="1"/>
          </p:cNvSpPr>
          <p:nvPr>
            <p:ph sz="quarter" idx="1"/>
          </p:nvPr>
        </p:nvSpPr>
        <p:spPr>
          <a:xfrm>
            <a:off x="381000" y="1295400"/>
            <a:ext cx="8534400" cy="5333999"/>
          </a:xfrm>
        </p:spPr>
        <p:txBody>
          <a:bodyPr>
            <a:normAutofit lnSpcReduction="10000"/>
          </a:bodyPr>
          <a:lstStyle/>
          <a:p>
            <a:pPr marL="0" indent="0">
              <a:buNone/>
            </a:pPr>
            <a:r>
              <a:rPr lang="en-US" b="1" dirty="0" smtClean="0"/>
              <a:t>1) Non-Replicated Scheme</a:t>
            </a:r>
            <a:endParaRPr lang="en-US" sz="2000" dirty="0" smtClean="0"/>
          </a:p>
          <a:p>
            <a:pPr lvl="1"/>
            <a:r>
              <a:rPr lang="en-US" dirty="0" smtClean="0"/>
              <a:t>No data is replicated in the system</a:t>
            </a:r>
            <a:endParaRPr lang="en-US" sz="1800" dirty="0" smtClean="0"/>
          </a:p>
          <a:p>
            <a:pPr lvl="1"/>
            <a:r>
              <a:rPr lang="en-US" dirty="0" smtClean="0"/>
              <a:t>All sites will maintain a local lock manager (local lock and unlock)</a:t>
            </a:r>
            <a:endParaRPr lang="en-US" sz="1800" dirty="0" smtClean="0"/>
          </a:p>
          <a:p>
            <a:pPr lvl="1"/>
            <a:r>
              <a:rPr lang="en-US" dirty="0" smtClean="0"/>
              <a:t>If site Si needs a lock on data in site </a:t>
            </a:r>
            <a:r>
              <a:rPr lang="en-US" dirty="0" err="1" smtClean="0"/>
              <a:t>Sj</a:t>
            </a:r>
            <a:r>
              <a:rPr lang="en-US" dirty="0" smtClean="0"/>
              <a:t> it send message to lock manager of site </a:t>
            </a:r>
            <a:r>
              <a:rPr lang="en-US" dirty="0" err="1" smtClean="0"/>
              <a:t>Sj</a:t>
            </a:r>
            <a:r>
              <a:rPr lang="en-US" dirty="0" smtClean="0"/>
              <a:t> and the locking will be handled by site </a:t>
            </a:r>
            <a:r>
              <a:rPr lang="en-US" dirty="0" err="1" smtClean="0"/>
              <a:t>Sj</a:t>
            </a:r>
            <a:endParaRPr lang="en-US" sz="1800" dirty="0" smtClean="0"/>
          </a:p>
          <a:p>
            <a:pPr lvl="1"/>
            <a:r>
              <a:rPr lang="en-US" dirty="0" smtClean="0"/>
              <a:t>All the locking and unlocking principles are handled by the local lock manager in which the data object resides.</a:t>
            </a:r>
            <a:endParaRPr lang="en-US" sz="1800" dirty="0" smtClean="0"/>
          </a:p>
          <a:p>
            <a:pPr lvl="1"/>
            <a:r>
              <a:rPr lang="en-US" dirty="0" smtClean="0"/>
              <a:t>Is simple to implement</a:t>
            </a:r>
            <a:endParaRPr lang="en-US" sz="1800" dirty="0" smtClean="0"/>
          </a:p>
          <a:p>
            <a:pPr lvl="1"/>
            <a:r>
              <a:rPr lang="en-US" dirty="0" smtClean="0"/>
              <a:t>Need three message transfers</a:t>
            </a:r>
            <a:endParaRPr lang="en-US" sz="1800" dirty="0" smtClean="0"/>
          </a:p>
          <a:p>
            <a:pPr lvl="2"/>
            <a:r>
              <a:rPr lang="en-US" sz="2400" dirty="0" smtClean="0"/>
              <a:t>To request a lock</a:t>
            </a:r>
          </a:p>
          <a:p>
            <a:pPr lvl="2"/>
            <a:r>
              <a:rPr lang="en-US" sz="2400" dirty="0" smtClean="0"/>
              <a:t>To notify grant of lock</a:t>
            </a:r>
          </a:p>
          <a:p>
            <a:pPr lvl="2"/>
            <a:r>
              <a:rPr lang="en-US" sz="2400" dirty="0" smtClean="0"/>
              <a:t>To request unlock</a:t>
            </a:r>
          </a:p>
          <a:p>
            <a:endParaRPr lang="en-US" dirty="0" smtClean="0"/>
          </a:p>
        </p:txBody>
      </p:sp>
      <p:sp>
        <p:nvSpPr>
          <p:cNvPr id="3" name="Footer Placeholder 2"/>
          <p:cNvSpPr>
            <a:spLocks noGrp="1"/>
          </p:cNvSpPr>
          <p:nvPr>
            <p:ph type="ftr" sz="quarter" idx="11"/>
          </p:nvPr>
        </p:nvSpPr>
        <p:spPr>
          <a:xfrm>
            <a:off x="914400" y="6217673"/>
            <a:ext cx="4419600" cy="457200"/>
          </a:xfrm>
        </p:spPr>
        <p:txBody>
          <a:bodyPr/>
          <a:lstStyle/>
          <a:p>
            <a:r>
              <a:rPr lang="en-US" dirty="0" smtClean="0"/>
              <a:t>Distributed Database System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dirty="0"/>
          </a:p>
        </p:txBody>
      </p:sp>
    </p:spTree>
    <p:extLst>
      <p:ext uri="{BB962C8B-B14F-4D97-AF65-F5344CB8AC3E}">
        <p14:creationId xmlns:p14="http://schemas.microsoft.com/office/powerpoint/2010/main" val="1203352459"/>
      </p:ext>
    </p:extLst>
  </p:cSld>
  <p:clrMapOvr>
    <a:masterClrMapping/>
  </p:clrMapOvr>
  <p:transition spd="slow">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34400" cy="1143000"/>
          </a:xfrm>
        </p:spPr>
        <p:txBody>
          <a:bodyPr/>
          <a:lstStyle/>
          <a:p>
            <a:pPr>
              <a:defRPr/>
            </a:pPr>
            <a:r>
              <a:rPr lang="en-US" dirty="0" smtClean="0"/>
              <a:t>…CON’T</a:t>
            </a:r>
            <a:endParaRPr lang="en-US" dirty="0"/>
          </a:p>
        </p:txBody>
      </p:sp>
      <p:sp>
        <p:nvSpPr>
          <p:cNvPr id="47107" name="Content Placeholder 2"/>
          <p:cNvSpPr>
            <a:spLocks noGrp="1"/>
          </p:cNvSpPr>
          <p:nvPr>
            <p:ph sz="quarter" idx="1"/>
          </p:nvPr>
        </p:nvSpPr>
        <p:spPr>
          <a:xfrm>
            <a:off x="457200" y="1371600"/>
            <a:ext cx="8305800" cy="5056187"/>
          </a:xfrm>
        </p:spPr>
        <p:txBody>
          <a:bodyPr>
            <a:normAutofit lnSpcReduction="10000"/>
          </a:bodyPr>
          <a:lstStyle/>
          <a:p>
            <a:pPr marL="0" indent="0">
              <a:buNone/>
            </a:pPr>
            <a:r>
              <a:rPr lang="en-US" b="1" dirty="0" smtClean="0"/>
              <a:t>2) Single Coordinate Approach</a:t>
            </a:r>
            <a:endParaRPr lang="en-US" sz="2000" dirty="0" smtClean="0"/>
          </a:p>
          <a:p>
            <a:pPr lvl="1"/>
            <a:r>
              <a:rPr lang="en-US" dirty="0" smtClean="0"/>
              <a:t>The system choose one single lock manager that resides in one of the sites (S</a:t>
            </a:r>
            <a:r>
              <a:rPr lang="en-US" baseline="-25000" dirty="0" smtClean="0"/>
              <a:t>i</a:t>
            </a:r>
            <a:r>
              <a:rPr lang="en-US" dirty="0" smtClean="0"/>
              <a:t>)</a:t>
            </a:r>
            <a:endParaRPr lang="en-US" sz="1700" dirty="0" smtClean="0"/>
          </a:p>
          <a:p>
            <a:pPr lvl="1"/>
            <a:r>
              <a:rPr lang="en-US" dirty="0" smtClean="0"/>
              <a:t>All locks and unlocks requests are made at site Si where the lock manager resides(S</a:t>
            </a:r>
            <a:r>
              <a:rPr lang="en-US" baseline="-25000" dirty="0" smtClean="0"/>
              <a:t>i</a:t>
            </a:r>
            <a:r>
              <a:rPr lang="en-US" dirty="0" smtClean="0"/>
              <a:t>)</a:t>
            </a:r>
            <a:endParaRPr lang="en-US" sz="1700" dirty="0" smtClean="0"/>
          </a:p>
          <a:p>
            <a:pPr lvl="1"/>
            <a:r>
              <a:rPr lang="en-US" dirty="0" smtClean="0"/>
              <a:t>Is simple to implement</a:t>
            </a:r>
            <a:endParaRPr lang="en-US" sz="1700" dirty="0" smtClean="0"/>
          </a:p>
          <a:p>
            <a:pPr lvl="1"/>
            <a:r>
              <a:rPr lang="en-US" dirty="0" smtClean="0"/>
              <a:t>Needs two message transfers</a:t>
            </a:r>
            <a:endParaRPr lang="en-US" sz="1700" dirty="0" smtClean="0"/>
          </a:p>
          <a:p>
            <a:pPr lvl="2"/>
            <a:r>
              <a:rPr lang="en-US" dirty="0" smtClean="0"/>
              <a:t>To request a lock</a:t>
            </a:r>
            <a:endParaRPr lang="en-US" sz="1700" dirty="0" smtClean="0"/>
          </a:p>
          <a:p>
            <a:pPr lvl="2"/>
            <a:r>
              <a:rPr lang="en-US" dirty="0" smtClean="0"/>
              <a:t>To request unlock</a:t>
            </a:r>
            <a:endParaRPr lang="en-US" sz="1700" dirty="0" smtClean="0"/>
          </a:p>
          <a:p>
            <a:pPr lvl="1"/>
            <a:r>
              <a:rPr lang="en-US" dirty="0" smtClean="0"/>
              <a:t>Simple deadlock handling</a:t>
            </a:r>
            <a:endParaRPr lang="en-US" sz="1700" dirty="0" smtClean="0"/>
          </a:p>
          <a:p>
            <a:pPr lvl="1"/>
            <a:r>
              <a:rPr lang="en-US" dirty="0" smtClean="0"/>
              <a:t>Could be a bottleneck since all processes are handled at one site</a:t>
            </a:r>
            <a:endParaRPr lang="en-US" sz="1700" dirty="0" smtClean="0"/>
          </a:p>
          <a:p>
            <a:pPr lvl="1"/>
            <a:r>
              <a:rPr lang="en-US" dirty="0" smtClean="0"/>
              <a:t>Is vulnerable/at risk if the site with the lock manager fails</a:t>
            </a:r>
            <a:endParaRPr lang="en-US" sz="1700" dirty="0" smtClean="0"/>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dirty="0"/>
          </a:p>
        </p:txBody>
      </p:sp>
    </p:spTree>
    <p:extLst>
      <p:ext uri="{BB962C8B-B14F-4D97-AF65-F5344CB8AC3E}">
        <p14:creationId xmlns:p14="http://schemas.microsoft.com/office/powerpoint/2010/main" val="1894802767"/>
      </p:ext>
    </p:extLst>
  </p:cSld>
  <p:clrMapOvr>
    <a:masterClrMapping/>
  </p:clrMapOvr>
  <p:transition spd="slow">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48131" name="Content Placeholder 2"/>
          <p:cNvSpPr>
            <a:spLocks noGrp="1"/>
          </p:cNvSpPr>
          <p:nvPr>
            <p:ph sz="quarter" idx="1"/>
          </p:nvPr>
        </p:nvSpPr>
        <p:spPr>
          <a:xfrm>
            <a:off x="457200" y="1417638"/>
            <a:ext cx="8305800" cy="5056187"/>
          </a:xfrm>
        </p:spPr>
        <p:txBody>
          <a:bodyPr/>
          <a:lstStyle/>
          <a:p>
            <a:r>
              <a:rPr lang="en-US" dirty="0" smtClean="0"/>
              <a:t>There are three varieties of the 2PL (Two phase locking) protocol in the DDBMS environment.</a:t>
            </a:r>
          </a:p>
          <a:p>
            <a:r>
              <a:rPr lang="en-US" dirty="0" smtClean="0"/>
              <a:t>Implementing the basic 2PL in distributed systems assumes that data is distributed across multiple machines.</a:t>
            </a:r>
          </a:p>
          <a:p>
            <a:r>
              <a:rPr lang="en-US" i="1" dirty="0" smtClean="0"/>
              <a:t>Centralized 2PL: </a:t>
            </a:r>
            <a:endParaRPr lang="en-US" dirty="0" smtClean="0"/>
          </a:p>
          <a:p>
            <a:pPr lvl="1"/>
            <a:r>
              <a:rPr lang="en-US" dirty="0" smtClean="0"/>
              <a:t>A single site responsible for granting and releasing locks</a:t>
            </a:r>
          </a:p>
          <a:p>
            <a:pPr lvl="1"/>
            <a:r>
              <a:rPr lang="en-US" dirty="0" smtClean="0"/>
              <a:t>Each site’s transaction manager communicates  with this centralized lock manager and with its own local data manager</a:t>
            </a:r>
          </a:p>
          <a:p>
            <a:pPr lvl="1"/>
            <a:r>
              <a:rPr lang="en-US" dirty="0" smtClean="0"/>
              <a:t>Has </a:t>
            </a:r>
            <a:r>
              <a:rPr lang="en-US" b="1" dirty="0" smtClean="0"/>
              <a:t>only one</a:t>
            </a:r>
            <a:r>
              <a:rPr lang="en-US" dirty="0" smtClean="0"/>
              <a:t> lock manager for the entire site.</a:t>
            </a:r>
          </a:p>
          <a:p>
            <a:endParaRPr lang="en-US"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dirty="0"/>
          </a:p>
        </p:txBody>
      </p:sp>
    </p:spTree>
    <p:extLst>
      <p:ext uri="{BB962C8B-B14F-4D97-AF65-F5344CB8AC3E}">
        <p14:creationId xmlns:p14="http://schemas.microsoft.com/office/powerpoint/2010/main" val="3770507508"/>
      </p:ext>
    </p:extLst>
  </p:cSld>
  <p:clrMapOvr>
    <a:masterClrMapping/>
  </p:clrMapOvr>
  <p:transition spd="slow">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a:t>
            </a:r>
            <a:endParaRPr lang="en-US" dirty="0"/>
          </a:p>
        </p:txBody>
      </p:sp>
      <p:sp>
        <p:nvSpPr>
          <p:cNvPr id="49155" name="Content Placeholder 2"/>
          <p:cNvSpPr>
            <a:spLocks noGrp="1"/>
          </p:cNvSpPr>
          <p:nvPr>
            <p:ph sz="quarter" idx="1"/>
          </p:nvPr>
        </p:nvSpPr>
        <p:spPr>
          <a:xfrm>
            <a:off x="457200" y="1417638"/>
            <a:ext cx="8305800" cy="5056187"/>
          </a:xfrm>
        </p:spPr>
        <p:txBody>
          <a:bodyPr/>
          <a:lstStyle/>
          <a:p>
            <a:r>
              <a:rPr lang="en-US" sz="2800" i="1" dirty="0" smtClean="0"/>
              <a:t>Primary 2PL:</a:t>
            </a:r>
            <a:endParaRPr lang="en-US" sz="2800" dirty="0" smtClean="0"/>
          </a:p>
          <a:p>
            <a:pPr lvl="1"/>
            <a:r>
              <a:rPr lang="en-US" sz="2000" dirty="0" smtClean="0"/>
              <a:t>Each replicated data item is assigned a </a:t>
            </a:r>
            <a:r>
              <a:rPr lang="en-US" sz="2000" b="1" i="1" dirty="0" smtClean="0"/>
              <a:t>primary copy</a:t>
            </a:r>
            <a:r>
              <a:rPr lang="en-US" sz="2000" b="1" dirty="0" smtClean="0"/>
              <a:t>; </a:t>
            </a:r>
          </a:p>
          <a:p>
            <a:pPr lvl="2"/>
            <a:r>
              <a:rPr lang="en-US" sz="1700" dirty="0" smtClean="0"/>
              <a:t>the lock manager on that primary copy is responsible for granting and releasing locks(distributed locking) and updates are propagated as soon as possible to the </a:t>
            </a:r>
            <a:r>
              <a:rPr lang="en-US" sz="1700" b="1" dirty="0" smtClean="0"/>
              <a:t>slave copies</a:t>
            </a:r>
            <a:endParaRPr lang="en-US" sz="1700" dirty="0" smtClean="0"/>
          </a:p>
          <a:p>
            <a:pPr lvl="1"/>
            <a:r>
              <a:rPr lang="en-US" sz="2000" dirty="0" smtClean="0"/>
              <a:t>Distributes the lock manager to </a:t>
            </a:r>
            <a:r>
              <a:rPr lang="en-US" sz="2000" b="1" i="1" dirty="0" smtClean="0"/>
              <a:t>a number of sites</a:t>
            </a:r>
            <a:endParaRPr lang="en-US" sz="2000" dirty="0" smtClean="0"/>
          </a:p>
          <a:p>
            <a:r>
              <a:rPr lang="en-US" sz="2800" i="1" dirty="0" smtClean="0"/>
              <a:t>Distributed 2PL:</a:t>
            </a:r>
            <a:endParaRPr lang="en-US" sz="2800" dirty="0" smtClean="0"/>
          </a:p>
          <a:p>
            <a:pPr lvl="1"/>
            <a:r>
              <a:rPr lang="en-US" sz="2000" dirty="0" smtClean="0"/>
              <a:t>Assumes data is completely </a:t>
            </a:r>
            <a:r>
              <a:rPr lang="en-US" sz="2000" b="1" dirty="0" smtClean="0"/>
              <a:t>replicated</a:t>
            </a:r>
            <a:endParaRPr lang="en-US" sz="2000" dirty="0" smtClean="0"/>
          </a:p>
          <a:p>
            <a:pPr lvl="1"/>
            <a:r>
              <a:rPr lang="en-US" sz="2000" dirty="0" smtClean="0"/>
              <a:t>The schedulers (Lock managers) at each site are responsible in granting and releasing locks as well as forwarding operations to the local data manager.</a:t>
            </a:r>
          </a:p>
          <a:p>
            <a:pPr lvl="1"/>
            <a:r>
              <a:rPr lang="en-US" sz="2000" dirty="0" smtClean="0"/>
              <a:t>Distributes the lock manager to </a:t>
            </a:r>
            <a:r>
              <a:rPr lang="en-US" sz="2000" b="1" dirty="0" smtClean="0"/>
              <a:t>every site</a:t>
            </a:r>
            <a:r>
              <a:rPr lang="en-US" sz="2000" dirty="0" smtClean="0"/>
              <a:t> in the DDBS.</a:t>
            </a:r>
          </a:p>
          <a:p>
            <a:pPr lvl="1"/>
            <a:r>
              <a:rPr lang="en-US" sz="2000" dirty="0" smtClean="0"/>
              <a:t>Has </a:t>
            </a:r>
            <a:r>
              <a:rPr lang="en-US" sz="2000" b="1" i="1" dirty="0" smtClean="0"/>
              <a:t>communication overhead</a:t>
            </a:r>
            <a:r>
              <a:rPr lang="en-US" sz="2000" dirty="0" smtClean="0"/>
              <a:t> than the others.</a:t>
            </a:r>
          </a:p>
          <a:p>
            <a:endParaRPr lang="en-US" sz="2000" dirty="0" smtClean="0"/>
          </a:p>
        </p:txBody>
      </p:sp>
      <p:sp>
        <p:nvSpPr>
          <p:cNvPr id="3" name="Footer Placeholder 2"/>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dirty="0"/>
          </a:p>
        </p:txBody>
      </p:sp>
    </p:spTree>
    <p:extLst>
      <p:ext uri="{BB962C8B-B14F-4D97-AF65-F5344CB8AC3E}">
        <p14:creationId xmlns:p14="http://schemas.microsoft.com/office/powerpoint/2010/main" val="4267012941"/>
      </p:ext>
    </p:extLst>
  </p:cSld>
  <p:clrMapOvr>
    <a:masterClrMapping/>
  </p:clrMapOvr>
  <p:transition spd="slow">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
          </p:nvPr>
        </p:nvSpPr>
        <p:spPr/>
        <p:txBody>
          <a:bodyPr>
            <a:normAutofit/>
          </a:bodyPr>
          <a:lstStyle/>
          <a:p>
            <a:pPr marL="0" indent="0" algn="ctr">
              <a:buNone/>
            </a:pPr>
            <a:r>
              <a:rPr lang="en-US" sz="19900" b="1" dirty="0" smtClean="0">
                <a:solidFill>
                  <a:schemeClr val="accent1"/>
                </a:solidFill>
              </a:rPr>
              <a:t>END</a:t>
            </a:r>
            <a:endParaRPr lang="en-US" sz="19900" b="1" dirty="0">
              <a:solidFill>
                <a:schemeClr val="accent1"/>
              </a:solidFill>
            </a:endParaRPr>
          </a:p>
        </p:txBody>
      </p:sp>
      <p:sp>
        <p:nvSpPr>
          <p:cNvPr id="2" name="Footer Placeholder 1"/>
          <p:cNvSpPr>
            <a:spLocks noGrp="1"/>
          </p:cNvSpPr>
          <p:nvPr>
            <p:ph type="ftr" sz="quarter" idx="11"/>
          </p:nvPr>
        </p:nvSpPr>
        <p:spPr/>
        <p:txBody>
          <a:bodyPr/>
          <a:lstStyle/>
          <a:p>
            <a:r>
              <a:rPr lang="en-US" smtClean="0"/>
              <a:t>Distributed Database System</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dirty="0"/>
          </a:p>
        </p:txBody>
      </p:sp>
    </p:spTree>
    <p:extLst>
      <p:ext uri="{BB962C8B-B14F-4D97-AF65-F5344CB8AC3E}">
        <p14:creationId xmlns:p14="http://schemas.microsoft.com/office/powerpoint/2010/main" val="1070054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3356</TotalTime>
  <Words>3120</Words>
  <Application>Microsoft Office PowerPoint</Application>
  <PresentationFormat>On-screen Show (4:3)</PresentationFormat>
  <Paragraphs>382</Paragraphs>
  <Slides>40</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2" baseType="lpstr">
      <vt:lpstr>Book Antiqua</vt:lpstr>
      <vt:lpstr>Calibri</vt:lpstr>
      <vt:lpstr>Century Schoolbook</vt:lpstr>
      <vt:lpstr>Corbel</vt:lpstr>
      <vt:lpstr>Courier New</vt:lpstr>
      <vt:lpstr>Georgia</vt:lpstr>
      <vt:lpstr>Tahoma</vt:lpstr>
      <vt:lpstr>Times New Roman</vt:lpstr>
      <vt:lpstr>Wingdings</vt:lpstr>
      <vt:lpstr>Wingdings 2</vt:lpstr>
      <vt:lpstr>Equity</vt:lpstr>
      <vt:lpstr>Visio</vt:lpstr>
      <vt:lpstr>Chapter 6 </vt:lpstr>
      <vt:lpstr>Outline</vt:lpstr>
      <vt:lpstr>Distributed Database Concepts</vt:lpstr>
      <vt:lpstr>…CON’T</vt:lpstr>
      <vt:lpstr>…CON’T</vt:lpstr>
      <vt:lpstr>Data allocation</vt:lpstr>
      <vt:lpstr>…CON’T</vt:lpstr>
      <vt:lpstr>…CON’T</vt:lpstr>
      <vt:lpstr>…CON’T</vt:lpstr>
      <vt:lpstr>…CON’T</vt:lpstr>
      <vt:lpstr>…CON’T</vt:lpstr>
      <vt:lpstr>…CON’T</vt:lpstr>
      <vt:lpstr>Functions of a DDBMS</vt:lpstr>
      <vt:lpstr>Issues in DDBMS</vt:lpstr>
      <vt:lpstr>…CON’T</vt:lpstr>
      <vt:lpstr>…CON’T</vt:lpstr>
      <vt:lpstr>…CON’T</vt:lpstr>
      <vt:lpstr>…CON’T</vt:lpstr>
      <vt:lpstr>…CON’T</vt:lpstr>
      <vt:lpstr>…CON’T</vt:lpstr>
      <vt:lpstr>…CON’T</vt:lpstr>
      <vt:lpstr>Data transparency:</vt:lpstr>
      <vt:lpstr>…CON’T</vt:lpstr>
      <vt:lpstr>Homogeneous and Heterogeneous Distributed Databases</vt:lpstr>
      <vt:lpstr>…CON’T</vt:lpstr>
      <vt:lpstr>Why DDBMS/Advantages</vt:lpstr>
      <vt:lpstr>Disadvantages of DDBMS</vt:lpstr>
      <vt:lpstr>Query Processing and Transaction Management in DDBMS</vt:lpstr>
      <vt:lpstr>…CON’T</vt:lpstr>
      <vt:lpstr>…CON’T</vt:lpstr>
      <vt:lpstr>Transaction Management</vt:lpstr>
      <vt:lpstr>…CON’T</vt:lpstr>
      <vt:lpstr>…CON’T</vt:lpstr>
      <vt:lpstr>…CON’T</vt:lpstr>
      <vt:lpstr>Concurrency Control</vt:lpstr>
      <vt:lpstr>…CON’T</vt:lpstr>
      <vt:lpstr>…CON’T</vt:lpstr>
      <vt:lpstr>…CON’T</vt:lpstr>
      <vt:lpstr>…CON’T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WHO</dc:creator>
  <cp:lastModifiedBy>Sirage Ahmed</cp:lastModifiedBy>
  <cp:revision>135</cp:revision>
  <dcterms:created xsi:type="dcterms:W3CDTF">2006-08-16T00:00:00Z</dcterms:created>
  <dcterms:modified xsi:type="dcterms:W3CDTF">2022-04-15T14:19:11Z</dcterms:modified>
</cp:coreProperties>
</file>